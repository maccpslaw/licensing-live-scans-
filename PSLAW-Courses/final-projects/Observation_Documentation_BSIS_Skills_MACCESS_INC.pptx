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10515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457200" cy="41148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Security LA Worldwide  |  PPO #122729  |  BSIS-Authorized Training Provider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&amp; Documentation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Skills Training — BSIS Required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4 Hours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3520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Authority: BPC §7583.6(b) | Title 16 CCR §643(b)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2793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42793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70348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63040"/>
            <a:ext cx="1371600" cy="1371600"/>
          </a:xfrm>
          <a:prstGeom prst="ellipse">
            <a:avLst/>
          </a:prstGeom>
          <a:solidFill>
            <a:srgbClr val="1B2B5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10512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Writing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§7583.6(b) | Title 16 CCR §643(b)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Writing — Standards &amp; Legal Requirements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OD | BPC §7583.6(b)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Standards of a BSIS-Compliant Report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— Only what you personally saw, heard, or did. No speculation.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— Correct times, dates, names, descriptions. Verify before submitting.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— All relevant persons, actions, outcomes, and witnesses included.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— Plain English, logical order, no undefined abbreviations.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— Written as close to the incident as possible, ideally within 1 hour.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8B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Integrity Rules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 first person: 'I observed...', 'I heard...', 'I did...'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speculate: 'Subject appeared nervous' ✓  |  'Subject was guilty' ✗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errors by single line through, initials, date — never erase or white-out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are legal documents — may be used in civil or criminal proceedings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alter a submitted report without supervisor authorization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Falsifying a report is a crime and grounds for BSIS revocation
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Include in an Incident Report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OD | BPC §7583.6(b)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859536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859536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8375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Elements — Every Security Incident Report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841248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time, exact location of the incident (address, floor, area)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of events in chronological order — what happened first, second, third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Parties involved: full descriptions (sex, race, approximate age, height, weight, hair, clothing, distinctive marks)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Witnesses: names and contact information if available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taken by the guard: verbal commands given, physical actions, calls made, persons notified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observed or secured: describe in detail, do not move unless necessary for safety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subject detained, released, turned over to police, medical response, etc.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name, guard card number, and MACCESS INC. PPO #122729 on every report
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70348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63040"/>
            <a:ext cx="1371600" cy="1371600"/>
          </a:xfrm>
          <a:prstGeom prst="ellipse">
            <a:avLst/>
          </a:prstGeom>
          <a:solidFill>
            <a:srgbClr val="1B2B5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10512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Language Documentation Requirements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§7583.6(b) | Title 16 CCR §643(b)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Language &amp; Witness Communication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OD | BPC §7583.6(b)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English-Language Documentation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official BSIS reports must be written in English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primary language is not English, you are still required to document in English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assistance from a bilingual supervisor if needed — do not omit information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apps may be used to assist communication — document their use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from non-English speakers: document in English, note original language used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audit may review reports — non-English documentation may be rejected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Communicating with Non-English Speakers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simple, clear language — avoid jargon and complex commands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Non-verbal communication: slow gestures, pointing, written notes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apps (Google Translate, etc.) — useful but imperfect, note their use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assume non-English speakers are suspicious or uncooperative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 a bilingual colleague or professional interpreter for critical communications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method used and the best understanding of what was communicated
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70348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63040"/>
            <a:ext cx="1371600" cy="1371600"/>
          </a:xfrm>
          <a:prstGeom prst="ellipse">
            <a:avLst/>
          </a:prstGeom>
          <a:solidFill>
            <a:srgbClr val="1B2B5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10512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&amp; Patrol Techniques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§7583.6(b) | Title 16 CCR §643(b)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 Techniques — Effectiveness &amp; Documentation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OD | BPC §7583.6(b)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Patrol Strategies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 patrol route and timing — predictable patrols are easily exploited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baseline: what is normal at your post so anomalies stand out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all senses: sight, sound, smell (smoke, gas, chemicals)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patrol rounds: log start/end time, route, and all observations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checkpoints: all access points, parking areas, critical assets, blind spots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anomalies immediately — propped doors, unfamiliar vehicles, broken locks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Best Practices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systematically — do not focus on a single point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observation before approach — assess before committing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the '6 Ps': People, Positions, Patterns, Problems, Property, Processes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observation: use peripheral vision, not direct stare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available technology: CCTV, monitors — document camera IDs and timestamps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feels wrong, trust your training — investigate and document
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70348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63040"/>
            <a:ext cx="1371600" cy="1371600"/>
          </a:xfrm>
          <a:prstGeom prst="ellipse">
            <a:avLst/>
          </a:prstGeom>
          <a:solidFill>
            <a:srgbClr val="1B2B5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10512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Appropriate Questions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§7583.6(b) | Title 16 CCR §643(b)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Questioning Techniques for Security Guards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OD | BPC §7583.6(b)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vs. Closed Questions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Open-ended: 'What brings you here today?' — encourages narrative, gathers more information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Closed: 'Were you here yesterday?' — confirms specific facts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open questions first, then closed to confirm details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leading questions: 'You were trying to steal, weren't you?' — inadmissible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framing: 'Can you help me understand what happened?' — non-accusatory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Document: record exact quotes in your report — 'He said: I was just looking around'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8B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Limits on Questioning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guards CANNOT compel anyone to answer questions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 to answer is NOT reasonable suspicion for detention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threaten consequences for refusing to answer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Miranda rights do NOT apply to private security — but coercive tactics create liability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information with law enforcement when acting in official capacity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questioning of suspects should be documented in the incident report
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70348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63040"/>
            <a:ext cx="1371600" cy="1371600"/>
          </a:xfrm>
          <a:prstGeom prst="ellipse">
            <a:avLst/>
          </a:prstGeom>
          <a:solidFill>
            <a:srgbClr val="1B2B5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10512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Observing Suspects &amp; Suspicious Activity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§7583.6(b) | Title 16 CCR §643(b)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Documenting Suspicious Persons &amp; Activity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OD | BPC §7583.6(b)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 Description — Standard Format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 — Male, Female, Non-binary (as apparent)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Race/ethnicity — as observed, non-judgmentally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age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and weight (estimate if not known)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Hair: color, length, style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Eyes: color if observed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Clothing: colors, brands, distinctive items, footwear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Distinctive features: tattoos, scars, piercings, glasses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of travel or last known location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Counts as Suspicious Activity?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Photographing or mapping security equipment, cameras, or access points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locked doors or probing entry points repeatedly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Loitering without apparent purpose near sensitive areas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circling the property multiple times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Persons who do not belong and cannot explain their presence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Unattended bags or packages left in unusual locations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watching guard patrol patterns closely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behavior only — never document race as the reason for suspicion
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6400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0" y="1920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Complete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&amp; Documentation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30632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to the online assessment. A score of 100% is required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receive your BSIS Certificate of Completion per BPC §7583.6(b) | Title 16 CCR §643(b).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4114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Private Security LA Worldwide  |  PPO #122729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BSIS-Authorized Training Provider  |  4-Hour Course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Observation &amp; Documentation — BSIS Mandatory Course | MACCESS INC.</dc:title>
  <dc:subject>PptxGenJS Presentation</dc:subject>
  <dc:creator>MACCESS INC.</dc:creator>
  <cp:lastModifiedBy>MACCESS INC.</cp:lastModifiedBy>
  <cp:revision>1</cp:revision>
  <dcterms:created xsi:type="dcterms:W3CDTF">2026-06-28T16:08:28Z</dcterms:created>
  <dcterms:modified xsi:type="dcterms:W3CDTF">2026-06-28T16:08:28Z</dcterms:modified>
</cp:coreProperties>
</file>