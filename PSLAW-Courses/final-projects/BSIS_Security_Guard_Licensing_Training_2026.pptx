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CE Hours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1A1A"/>
              </a:solidFill>
              <a:effectLst/>
            </c:spPr>
          </c:dPt>
          <c:dPt>
            <c:idx val="1"/>
            <c:bubble3D val="0"/>
            <c:spPr>
              <a:solidFill>
                <a:srgbClr val="1B2B5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AUF Review (minimum)</c:v>
                </c:pt>
                <c:pt idx="1">
                  <c:v>Mandatory/Elective Courses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</c:v>
                </c:pt>
                <c:pt idx="1">
                  <c:v>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PSLAW/Maccess and establish the purpose of this BSIS-compliant training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the full course structure. Emphasize the 40-hour initial requirement and annual CE obligations under BPC §7583.6.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eligibility before starting training. Guards cannot be registered until Live Scan results are cleared by DOJ and FBI.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 must be completed before the guard card application is submitted. This is the foundational legal framework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Sections 2, 5, 6, and 9 are mandated in-person. Coordinate with approved facility for in-person delivery. Cannot be delivered 100% online as of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compliance slide. As of 2026, 100% online guard card training is no longer permitted for the initial 8-hour course. Emphasize single-provider rule to PPOs.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PPOs must track which mandatory courses have been completed and on what dates. Maintain certificates per Title 16 CCR §643(b).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PSLAW-recommended electives for armed residential security: Firearms Training, Officer Safety, Handling Difficult People, Intro to Executive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a compliance checklist during onboarding. PPOs are legally responsible for tracking all guard training timelines.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Maccess Inc./PSLAW must retain all training records for every officer on payroll. Title 16 CCR §643(b) governs certificate appearance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PSLAW officers deployed on armed residential assignments require the Exposed Firearms Permit. Ensure all armed officers maintain current annual requalification certificates.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calendar reminders for each officer's guard card expiration date and plan annual CE training at least 60 days in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guard onboarding checklist. PSLAW HR should use this as a hiring workflow. Paper application: bsis.ca.gov/forms_pubs/gappnew.pdf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for interactive review before the final assessment. Encourage discussion on each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Remind guards to retain this training record and bookmark bsis.ca.gov for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SECURITY GUARD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TRAINING PROGRAM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of Security &amp; Investigative Services (BSIS)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Compliance Course — 2026 Edition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Security LA Worldwide  |  Maccess Inc.  |  PPO Lic. #122729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822960" cy="749808"/>
          </a:xfrm>
          <a:prstGeom prst="roundRect">
            <a:avLst>
              <a:gd name="adj" fmla="val 8537"/>
            </a:avLst>
          </a:prstGeom>
          <a:solidFill>
            <a:srgbClr val="1B2B5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887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to Arrest (3 hrs)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03120"/>
            <a:ext cx="822960" cy="749808"/>
          </a:xfrm>
          <a:prstGeom prst="roundRect">
            <a:avLst>
              <a:gd name="adj" fmla="val 8537"/>
            </a:avLst>
          </a:prstGeom>
          <a:solidFill>
            <a:srgbClr val="0D6E8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1031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1031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 of Force (5 hrs)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017520"/>
            <a:ext cx="822960" cy="749808"/>
          </a:xfrm>
          <a:prstGeom prst="roundRect">
            <a:avLst>
              <a:gd name="adj" fmla="val 8537"/>
            </a:avLst>
          </a:prstGeom>
          <a:solidFill>
            <a:srgbClr val="1A6B3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0175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30175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Relations &amp; Community (4 hrs)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931920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931920"/>
            <a:ext cx="822960" cy="749808"/>
          </a:xfrm>
          <a:prstGeom prst="roundRect">
            <a:avLst>
              <a:gd name="adj" fmla="val 8537"/>
            </a:avLst>
          </a:prstGeom>
          <a:solidFill>
            <a:srgbClr val="7B3F0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9319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39319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Documentation (4 hrs)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88720"/>
            <a:ext cx="822960" cy="749808"/>
          </a:xfrm>
          <a:prstGeom prst="roundRect">
            <a:avLst>
              <a:gd name="adj" fmla="val 8537"/>
            </a:avLst>
          </a:prstGeom>
          <a:solidFill>
            <a:srgbClr val="4A1A8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1887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11887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Significance (4 hrs)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103120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03120"/>
            <a:ext cx="822960" cy="749808"/>
          </a:xfrm>
          <a:prstGeom prst="roundRect">
            <a:avLst>
              <a:gd name="adj" fmla="val 8537"/>
            </a:avLst>
          </a:prstGeom>
          <a:solidFill>
            <a:srgbClr val="8B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1031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21031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&amp; Legal Aspects (4 hrs)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017520"/>
            <a:ext cx="822960" cy="749808"/>
          </a:xfrm>
          <a:prstGeom prst="roundRect">
            <a:avLst>
              <a:gd name="adj" fmla="val 8537"/>
            </a:avLst>
          </a:prstGeom>
          <a:solidFill>
            <a:srgbClr val="2C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0175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30175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Elective Courses Overview (8 hrs)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931920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931920"/>
            <a:ext cx="822960" cy="749808"/>
          </a:xfrm>
          <a:prstGeom prst="roundRect">
            <a:avLst>
              <a:gd name="adj" fmla="val 8537"/>
            </a:avLst>
          </a:prstGeom>
          <a:solidFill>
            <a:srgbClr val="5C4A00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9319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0" y="39319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Continuing Education (8 hrs/yr)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Initial Training: 40 Hours  |  Annual CE: 8 Hours  |  Source: BSIS Official Syllabus (2026)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18+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at least 18 years old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(BPC Section 7582.8)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Check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 + FBI criminal history check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Live Scan fingerprinting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(BPC §§7581, 7583.9)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0632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200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to Arrest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39319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8-hr PTA + Appropriate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Force training BEFORE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registration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200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🚫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Disqualifying Crimes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9319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convictions constituting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for denial under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Section 480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POWER TO ARREST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554480" cy="64008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BPC §7583.7  |  DCA Power to Arrest &amp; Appropriate Use of Force Training Manual (July 2023)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8138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Power to Arrest manual and subject matter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&amp; ethics in citizen arrest and types of encounters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security personnel and peace officers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on security personnel's power to arrest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on private security industry &amp; contractual obligations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Restrictions on searches and seizures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and civil liabilities — personal &amp; employer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Trespass law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and communications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situation response, including medical emergencies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officer safety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Exam required — must score 100% to pass (BPC §7583.7)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APPROPRIATE USE OF FORCE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0" y="182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HOURS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standards for use of force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(Statutes, contracts, civil/criminal liability)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Objectively reasonable force ★ IN-PERSON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(Standard, restraint techniques, force options, scenarios)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to intercede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Supervisory responsibilities &amp; incident reporting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(BPC §§7583.2, 7583.4, 7574.37)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force review &amp; analysis ★ IN-PERSON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8872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 &amp; interpersonal communication ★ IN-PERSON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(Time, distance, cover, 4 concepts, real scenarios)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Implicit/explicit bias &amp; cultural competency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(Strategies for diverse communities)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Interacting with persons with disabilities/behavioral health issues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force scenario training ★ IN-PERSON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(Shoot/don't-shoot, real-time force decisions)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&amp; policing — bias and stigma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shooter situations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(Recognition, roles, responsibilities)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In-person instruction required per BPC §7583.7  |  100% exam score required to complete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BSIS UPDATE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TRAINING NOW REQUIRED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562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652 (Effective Jan 1, 2026)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46120" y="185623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to Arrest training must be completed within 6 months BEFORE applying. All training certified by a single provider.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78608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651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Hrs In-Person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26517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8-hour PTA + AUF course is now HYBRID: at least 4 hours must be instructor-led in person.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74136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4472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Provider Rule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34472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initial training must be delivered and certified by one approved BSIS provider. Split-provider training no longer compliant.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69664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2428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Increases (Oct 1, 2025)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424281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renewal, PPO, and certification fees have been increased under Title 16 CCR.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BSIS PTA &amp; FQ Training Changes Notification | guardtraining.net (Apr 2026)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COURSES — 16 HOURS TOTAL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57400" cy="385876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1A6B3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0574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Community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920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&amp; Racial Harassment Recognition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Stereotyping &amp; Attitude Awareness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Skills / Crisis Intervention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Diversity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 Abuse &amp; Mental Illness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Professionalism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097280"/>
            <a:ext cx="2057400" cy="385876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109728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7B3F00"/>
          </a:solidFill>
          <a:ln/>
        </p:spPr>
      </p:sp>
      <p:sp>
        <p:nvSpPr>
          <p:cNvPr id="10" name="Text 8"/>
          <p:cNvSpPr/>
          <p:nvPr/>
        </p:nvSpPr>
        <p:spPr>
          <a:xfrm>
            <a:off x="2450592" y="1097280"/>
            <a:ext cx="20574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42032" y="2011680"/>
            <a:ext cx="1920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as a Second Language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Patrol Techniques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Appropriate Questions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Suspects / Suspicious Activity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097280"/>
            <a:ext cx="2057400" cy="385876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109728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4A1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1097280"/>
            <a:ext cx="20574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Its Significance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18304" y="2011680"/>
            <a:ext cx="1920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Internal: Protocols, Radio/Monitors, Tech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Emergency/First Responders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Personnel coordination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Police/Sheriff/Enforcement contacts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&amp; Government Services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03136" y="1097280"/>
            <a:ext cx="2057400" cy="385876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109728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8B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803136" y="1097280"/>
            <a:ext cx="20574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Aspects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94576" y="2011680"/>
            <a:ext cx="1920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/ Contractor / Employer Liability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Criminal, Civil, Administrative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Code &amp; Regulations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 Security Guard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courses: within 30 days of guard card issuance  |  Remaining 2 courses: within 6 months  (BPC §7583.6b)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ELECTIVE COURSES — SELECT 8 HOURS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834640" cy="3886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70432"/>
            <a:ext cx="2697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Orders &amp; Assignments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Policies / Orientation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 Procedures  (2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Safety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Arrests, Search &amp; Seizure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 (2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Trespass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Laws, Codes &amp; Regulations  (2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/ CPR  (4 hrs max)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27832" y="1097280"/>
            <a:ext cx="2834640" cy="3886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19272" y="1170432"/>
            <a:ext cx="2697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Difficult People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Violence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Agents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Preserving the Incident Scene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Control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Courtroom Demeanor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/ Traffic Control  (2 hrs max)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81344" y="1097280"/>
            <a:ext cx="2834640" cy="3886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72784" y="1170432"/>
            <a:ext cx="2697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Procedures  (2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Firearms Training (BSIS Cert)  (8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Training (BSIS Cert)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Security Guard Training  (8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Executive Protection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Firearms Requalification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Course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 Gun / Air Taser Course  (4 hrs max)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WMD &amp; Terrorism Awareness  (4 hrs max)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elective hours required: 8 hrs within first 30 days + 8 hrs within 6 months  |  BPC §7583.6(b)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8503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1554480" cy="694944"/>
          </a:xfrm>
          <a:prstGeom prst="roundRect">
            <a:avLst>
              <a:gd name="adj" fmla="val 10526"/>
            </a:avLst>
          </a:prstGeom>
          <a:solidFill>
            <a:srgbClr val="8B1A1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155448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Application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920240" y="11795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Hours — PTA + AUF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920240" y="14813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Power to Arrest (3 hrs) + Appropriate Use of Force (5 hrs) with BSIS-approved single provider. Minimum 4 hrs must be in-person. Pass 100% exam. Receive certificate.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911096"/>
            <a:ext cx="8503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11096"/>
            <a:ext cx="1554480" cy="694944"/>
          </a:xfrm>
          <a:prstGeom prst="roundRect">
            <a:avLst>
              <a:gd name="adj" fmla="val 10526"/>
            </a:avLst>
          </a:prstGeom>
          <a:solidFill>
            <a:srgbClr val="1B2B5E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911096"/>
            <a:ext cx="155448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 — Guard Card Issued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20240" y="1947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+ Live Scan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20240" y="224942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BSIS application + $50 fee. Fingerprints via Live Scan to DOJ + FBI. Allow 4–6 weeks processing. Guard card issued once DOJ/FBI clears.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679192"/>
            <a:ext cx="8503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79192"/>
            <a:ext cx="1554480" cy="694944"/>
          </a:xfrm>
          <a:prstGeom prst="roundRect">
            <a:avLst>
              <a:gd name="adj" fmla="val 10526"/>
            </a:avLst>
          </a:prstGeom>
          <a:solidFill>
            <a:srgbClr val="1A6B3C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679192"/>
            <a:ext cx="155448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Days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20240" y="2715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Hours Required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20240" y="3017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mandatory courses (8 hrs) + 8 hrs elective = 16 hrs. Begin working as a guard while completing remaining hours.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447288"/>
            <a:ext cx="8503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447288"/>
            <a:ext cx="1554480" cy="694944"/>
          </a:xfrm>
          <a:prstGeom prst="roundRect">
            <a:avLst>
              <a:gd name="adj" fmla="val 10526"/>
            </a:avLst>
          </a:prstGeom>
          <a:solidFill>
            <a:srgbClr val="0D6E8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447288"/>
            <a:ext cx="155448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6 Months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20240" y="34838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Hours Total Complete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920240" y="378561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2 mandatory courses (8 hrs) + 8 hrs elective = additional 16 hrs. Total 32 hrs of skills training done.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215384"/>
            <a:ext cx="8503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215384"/>
            <a:ext cx="1554480" cy="694944"/>
          </a:xfrm>
          <a:prstGeom prst="roundRect">
            <a:avLst>
              <a:gd name="adj" fmla="val 10526"/>
            </a:avLst>
          </a:prstGeom>
          <a:solidFill>
            <a:srgbClr val="5C4A00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215384"/>
            <a:ext cx="155448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Thereafter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2024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Hours CE Required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920240" y="455371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 hrs Appropriate Use of Force review + 6 hrs mandatory/elective. Records maintained by PPO and guard. Required per BPC §7583.6(e).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RECORD KEEPING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RESPONSIBILITIES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certificates of completion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until registration expires or is canceled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both digital and paper copies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serial numbers and provider info for each certificate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pass 100% exam for PTA/AUF — keep exam record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copy of current guard card on person while on duty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/ EMPLOYER RESPONSIBILITIES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training records for ALL officers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copy of certificate to each officer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records available to BSIS upon request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records for duration of employment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30-day and 6-month compliance windows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PPOs AND training facilities are liable for inadequate training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trainer must be licensed by BSIS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1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PERMITS &amp; ADD-ONS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816352" cy="385876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816352" cy="914400"/>
          </a:xfrm>
          <a:prstGeom prst="roundRect">
            <a:avLst>
              <a:gd name="adj" fmla="val 10000"/>
            </a:avLst>
          </a:prstGeom>
          <a:solidFill>
            <a:srgbClr val="8B1A1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281635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Firearms Permit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§7583.35 / Firearms Permit Fact Sheet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26334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Certified Firearms Training (8 hrs max)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Requalification (4 hrs max)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registered security guard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via BSIS Verify a License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4408" y="1097280"/>
            <a:ext cx="2816352" cy="385876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097280"/>
            <a:ext cx="2816352" cy="914400"/>
          </a:xfrm>
          <a:prstGeom prst="roundRect">
            <a:avLst>
              <a:gd name="adj" fmla="val 10000"/>
            </a:avLst>
          </a:prstGeom>
          <a:solidFill>
            <a:srgbClr val="4A1A8A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097280"/>
            <a:ext cx="281635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Permit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64408" y="160020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§7583.33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55848" y="2057400"/>
            <a:ext cx="26334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a registered security guard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BSIS-approved Baton Training (4 hrs max)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facility must be Bureau-approved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facility via BSIS Verify a License page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8776" y="1097280"/>
            <a:ext cx="2816352" cy="385876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097280"/>
            <a:ext cx="2816352" cy="914400"/>
          </a:xfrm>
          <a:prstGeom prst="roundRect">
            <a:avLst>
              <a:gd name="adj" fmla="val 10000"/>
            </a:avLst>
          </a:prstGeom>
          <a:solidFill>
            <a:srgbClr val="2C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6208776" y="1097280"/>
            <a:ext cx="281635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Gas Permit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08776" y="160020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§7583.35 / PC §22835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00216" y="2057400"/>
            <a:ext cx="26334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approved tear gas training course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provided by Bureau-approved facility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facility offers tear gas training before arrival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other chemical agent training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4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CONTINUING EDUCATION — 8 HRS/YEAR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COMPOSITION OF 8 ANNUAL HOURS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24028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41732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</a:rPr>
              <a:t>Minimum 2 hrs: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Review of Appropriate Use of Force topics (§I.B. Appendix of PTA manual)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B5E"/>
                </a:solidFill>
              </a:rPr>
              <a:t>Remaining 6 hrs: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Any mandatory or elective courses applicable to private security work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6B3C"/>
                </a:solidFill>
              </a:rPr>
              <a:t>Who can deliver: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Independent training entity OR the employer (employer must evaluate guard skills)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B3F00"/>
                </a:solidFill>
              </a:rPr>
              <a:t>Certificate: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Certificate of Completion issued per Title 16 CCR §643(b) for each course completed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§§7583.6(e), 7574.18  |  Annual training may repeat previous courses or add new applicable topics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PROCESS —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8163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252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PTA + AUF Training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 with BSIS-approved provider within 6 months of applying. Get certificate.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1143000"/>
            <a:ext cx="28163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58768" y="1252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 Fingerprinting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01568" y="17647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fingerprints to DOJ + FBI electronically. Pay Live Scan operator fee.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08776" y="1143000"/>
            <a:ext cx="28163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0216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03136" y="1252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BSIS Application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45936" y="17647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via BreEZe online portal or mail paper application to BSIS (West Sacramento, CA 95798-9002) with fee.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8163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3172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Period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8503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4–6 weeks. BSIS reviews DOJ/FBI responses. Processing may be longer during high volume.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3063240"/>
            <a:ext cx="28163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55848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58768" y="3172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Card Issued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01568" y="368503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appears on BSIS Verify a License page. Begin work as registered guard.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08776" y="3063240"/>
            <a:ext cx="28163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0216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03136" y="3172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32-Hr Skills Training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45936" y="368503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hrs within 30 days, remaining 16 hrs within 6 months of registration. Maintain all certificates.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612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16128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hours of initial training are required BEFORE applying for a guard card?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8 hours (PTA + AUF) — completed within 6 months of application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75688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396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13969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how many days of guard card issuance must the first 16 hours be completed?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53288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Within 30 days of registration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181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1810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score is required to pass the Power to Arrest exam?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51129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100% — no partial credit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3250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096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09651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annual continuing education hours are required?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48970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8 hours, including at least 2 hours of AUF review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prepared to meet California's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security guard licensing requirements.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certificates. Know your timeline. Stay compliant.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Security LA Worldwide  |  gopslaw.com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Lic. #122729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5665 W Wilshire Blvd Ste 1129, Los Angeles CA 90036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BSIS Security Guard Licensing Training</dc:title>
  <dc:subject>PptxGenJS Presentation</dc:subject>
  <dc:creator>Jordan McMichael / PSLAW</dc:creator>
  <cp:lastModifiedBy>Jordan McMichael / PSLAW</cp:lastModifiedBy>
  <cp:revision>1</cp:revision>
  <dcterms:created xsi:type="dcterms:W3CDTF">2026-06-27T18:41:01Z</dcterms:created>
  <dcterms:modified xsi:type="dcterms:W3CDTF">2026-06-27T18:41:01Z</dcterms:modified>
</cp:coreProperties>
</file>