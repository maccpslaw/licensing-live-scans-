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INSTRUCTOR USE ONLY — DO NOT DISTRIBUTE TO STUDENTS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4251960"/>
            <a:ext cx="9144000" cy="9144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20700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Baton Certification — BSIS Written Examination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20848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Copy — Retain Securely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542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Questions (24 Official BSIS Exam + 9 Supplemental)  |  Pass: 20/24 + All 7 Vital Areas  |  BPC §§7583.33 | 7585.9 | 7585.13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43159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66360" y="43159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28,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 AREAS — REQUIRED ANSWERS (All 7 Must Be Identified)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502920"/>
          </a:xfrm>
          <a:prstGeom prst="roundRect">
            <a:avLst>
              <a:gd name="adj" fmla="val 14545"/>
            </a:avLst>
          </a:prstGeom>
          <a:solidFill>
            <a:srgbClr val="FFF3CD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8686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must correctly identify ALL 7 areas. Failure to identify any one area = exam failure, regardless of written score.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481328"/>
            <a:ext cx="8595360" cy="438912"/>
          </a:xfrm>
          <a:prstGeom prst="roundRect">
            <a:avLst>
              <a:gd name="adj" fmla="val 12500"/>
            </a:avLst>
          </a:prstGeom>
          <a:solidFill>
            <a:srgbClr val="FFF0F0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1554480"/>
            <a:ext cx="310896" cy="310896"/>
          </a:xfrm>
          <a:prstGeom prst="ellipse">
            <a:avLst/>
          </a:prstGeom>
          <a:solidFill>
            <a:srgbClr val="8B1A1A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58952" y="148132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(temple, skull, jaw)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0" y="1481328"/>
            <a:ext cx="4919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Strikes can cause brain injury, skull fracture, or death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975104"/>
            <a:ext cx="85953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347472" y="2048256"/>
            <a:ext cx="310896" cy="310896"/>
          </a:xfrm>
          <a:prstGeom prst="ellipse">
            <a:avLst/>
          </a:prstGeom>
          <a:solidFill>
            <a:srgbClr val="8B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" y="2048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58952" y="1975104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Throat / Neck (carotid, trachea)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40480" y="1975104"/>
            <a:ext cx="4919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Strikes can cause asphyxiation, cardiac arrest, or death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468880"/>
            <a:ext cx="8595360" cy="438912"/>
          </a:xfrm>
          <a:prstGeom prst="roundRect">
            <a:avLst>
              <a:gd name="adj" fmla="val 12500"/>
            </a:avLst>
          </a:prstGeom>
          <a:solidFill>
            <a:srgbClr val="FFF0F0"/>
          </a:solidFill>
          <a:ln/>
        </p:spPr>
      </p:sp>
      <p:sp>
        <p:nvSpPr>
          <p:cNvPr id="17" name="Shape 15"/>
          <p:cNvSpPr/>
          <p:nvPr/>
        </p:nvSpPr>
        <p:spPr>
          <a:xfrm>
            <a:off x="347472" y="2542032"/>
            <a:ext cx="310896" cy="310896"/>
          </a:xfrm>
          <a:prstGeom prst="ellipse">
            <a:avLst/>
          </a:prstGeom>
          <a:solidFill>
            <a:srgbClr val="8B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" y="2542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58952" y="246888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Spine (cervical, thoracic, lumbar)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840480" y="2468880"/>
            <a:ext cx="4919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Strikes can cause permanent paralysis or death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962656"/>
            <a:ext cx="85953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347472" y="3035808"/>
            <a:ext cx="310896" cy="310896"/>
          </a:xfrm>
          <a:prstGeom prst="ellipse">
            <a:avLst/>
          </a:prstGeom>
          <a:solidFill>
            <a:srgbClr val="8B1A1A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" y="3035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58952" y="2962656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Kidneys (posterior lower back)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840480" y="2962656"/>
            <a:ext cx="4919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 rupture, internal bleeding, shock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456432"/>
            <a:ext cx="8595360" cy="438912"/>
          </a:xfrm>
          <a:prstGeom prst="roundRect">
            <a:avLst>
              <a:gd name="adj" fmla="val 12500"/>
            </a:avLst>
          </a:prstGeom>
          <a:solidFill>
            <a:srgbClr val="FFF0F0"/>
          </a:solidFill>
          <a:ln/>
        </p:spPr>
      </p:sp>
      <p:sp>
        <p:nvSpPr>
          <p:cNvPr id="27" name="Shape 25"/>
          <p:cNvSpPr/>
          <p:nvPr/>
        </p:nvSpPr>
        <p:spPr>
          <a:xfrm>
            <a:off x="347472" y="3529584"/>
            <a:ext cx="310896" cy="310896"/>
          </a:xfrm>
          <a:prstGeom prst="ellipse">
            <a:avLst/>
          </a:prstGeom>
          <a:solidFill>
            <a:srgbClr val="8B1A1A"/>
          </a:solidFill>
          <a:ln/>
        </p:spPr>
      </p:sp>
      <p:sp>
        <p:nvSpPr>
          <p:cNvPr id="28" name="Text 26"/>
          <p:cNvSpPr/>
          <p:nvPr/>
        </p:nvSpPr>
        <p:spPr>
          <a:xfrm>
            <a:off x="347472" y="3529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58952" y="345643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Groin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840480" y="3456432"/>
            <a:ext cx="4919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injury, nerve damage, shock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3950208"/>
            <a:ext cx="85953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347472" y="4023360"/>
            <a:ext cx="310896" cy="310896"/>
          </a:xfrm>
          <a:prstGeom prst="ellipse">
            <a:avLst/>
          </a:prstGeom>
          <a:solidFill>
            <a:srgbClr val="8B1A1A"/>
          </a:solidFill>
          <a:ln/>
        </p:spPr>
      </p:sp>
      <p:sp>
        <p:nvSpPr>
          <p:cNvPr id="33" name="Text 31"/>
          <p:cNvSpPr/>
          <p:nvPr/>
        </p:nvSpPr>
        <p:spPr>
          <a:xfrm>
            <a:off x="347472" y="4023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58952" y="395020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Sternum / Solar Plexus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840480" y="3950208"/>
            <a:ext cx="4919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 arrhythmia, respiratory arrest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4443984"/>
            <a:ext cx="8595360" cy="438912"/>
          </a:xfrm>
          <a:prstGeom prst="roundRect">
            <a:avLst>
              <a:gd name="adj" fmla="val 12500"/>
            </a:avLst>
          </a:prstGeom>
          <a:solidFill>
            <a:srgbClr val="FFF0F0"/>
          </a:solidFill>
          <a:ln/>
        </p:spPr>
      </p:sp>
      <p:sp>
        <p:nvSpPr>
          <p:cNvPr id="37" name="Shape 35"/>
          <p:cNvSpPr/>
          <p:nvPr/>
        </p:nvSpPr>
        <p:spPr>
          <a:xfrm>
            <a:off x="347472" y="4517136"/>
            <a:ext cx="310896" cy="310896"/>
          </a:xfrm>
          <a:prstGeom prst="ellipse">
            <a:avLst/>
          </a:prstGeom>
          <a:solidFill>
            <a:srgbClr val="8B1A1A"/>
          </a:solidFill>
          <a:ln/>
        </p:spPr>
      </p:sp>
      <p:sp>
        <p:nvSpPr>
          <p:cNvPr id="38" name="Text 36"/>
          <p:cNvSpPr/>
          <p:nvPr/>
        </p:nvSpPr>
        <p:spPr>
          <a:xfrm>
            <a:off x="347472" y="4517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58952" y="4443984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Knees (joint area)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840480" y="4443984"/>
            <a:ext cx="4919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structural damage, disability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BSIS EXAM — 24 QUESTIONS — QUICK ANSWER REFERENCE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Pass: 20/24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6032" y="914400"/>
            <a:ext cx="135331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14400"/>
            <a:ext cx="1353312" cy="384048"/>
          </a:xfrm>
          <a:prstGeom prst="roundRect">
            <a:avLst>
              <a:gd name="adj" fmla="val 19048"/>
            </a:avLst>
          </a:prstGeom>
          <a:solidFill>
            <a:srgbClr val="8B1A1A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" y="91440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6032" y="1316736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700784" y="914400"/>
            <a:ext cx="135331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700784" y="914400"/>
            <a:ext cx="1353312" cy="384048"/>
          </a:xfrm>
          <a:prstGeom prst="roundRect">
            <a:avLst>
              <a:gd name="adj" fmla="val 19048"/>
            </a:avLst>
          </a:prstGeom>
          <a:solidFill>
            <a:srgbClr val="1B2B5E"/>
          </a:solidFill>
          <a:ln/>
        </p:spPr>
      </p:sp>
      <p:sp>
        <p:nvSpPr>
          <p:cNvPr id="11" name="Text 9"/>
          <p:cNvSpPr/>
          <p:nvPr/>
        </p:nvSpPr>
        <p:spPr>
          <a:xfrm>
            <a:off x="1700784" y="91440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700784" y="1316736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3145536" y="914400"/>
            <a:ext cx="135331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45536" y="914400"/>
            <a:ext cx="1353312" cy="384048"/>
          </a:xfrm>
          <a:prstGeom prst="roundRect">
            <a:avLst>
              <a:gd name="adj" fmla="val 19048"/>
            </a:avLst>
          </a:prstGeom>
          <a:solidFill>
            <a:srgbClr val="8B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3145536" y="91440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145536" y="1316736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4590288" y="914400"/>
            <a:ext cx="135331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90288" y="914400"/>
            <a:ext cx="1353312" cy="384048"/>
          </a:xfrm>
          <a:prstGeom prst="roundRect">
            <a:avLst>
              <a:gd name="adj" fmla="val 19048"/>
            </a:avLst>
          </a:prstGeom>
          <a:solidFill>
            <a:srgbClr val="1A5C3A"/>
          </a:solidFill>
          <a:ln/>
        </p:spPr>
      </p:sp>
      <p:sp>
        <p:nvSpPr>
          <p:cNvPr id="19" name="Text 17"/>
          <p:cNvSpPr/>
          <p:nvPr/>
        </p:nvSpPr>
        <p:spPr>
          <a:xfrm>
            <a:off x="4590288" y="91440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90288" y="1316736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6035040" y="914400"/>
            <a:ext cx="135331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5040" y="914400"/>
            <a:ext cx="1353312" cy="384048"/>
          </a:xfrm>
          <a:prstGeom prst="roundRect">
            <a:avLst>
              <a:gd name="adj" fmla="val 19048"/>
            </a:avLst>
          </a:prstGeom>
          <a:solidFill>
            <a:srgbClr val="1B2B5E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91440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035040" y="1316736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7479792" y="914400"/>
            <a:ext cx="135331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79792" y="914400"/>
            <a:ext cx="1353312" cy="384048"/>
          </a:xfrm>
          <a:prstGeom prst="roundRect">
            <a:avLst>
              <a:gd name="adj" fmla="val 19048"/>
            </a:avLst>
          </a:prstGeom>
          <a:solidFill>
            <a:srgbClr val="7B3F00"/>
          </a:solidFill>
          <a:ln/>
        </p:spPr>
      </p:sp>
      <p:sp>
        <p:nvSpPr>
          <p:cNvPr id="27" name="Text 25"/>
          <p:cNvSpPr/>
          <p:nvPr/>
        </p:nvSpPr>
        <p:spPr>
          <a:xfrm>
            <a:off x="7479792" y="91440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79792" y="1316736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256032" y="1920240"/>
            <a:ext cx="135331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56032" y="1920240"/>
            <a:ext cx="1353312" cy="384048"/>
          </a:xfrm>
          <a:prstGeom prst="roundRect">
            <a:avLst>
              <a:gd name="adj" fmla="val 19048"/>
            </a:avLst>
          </a:prstGeom>
          <a:solidFill>
            <a:srgbClr val="7B3F00"/>
          </a:solidFill>
          <a:ln/>
        </p:spPr>
      </p:sp>
      <p:sp>
        <p:nvSpPr>
          <p:cNvPr id="31" name="Text 29"/>
          <p:cNvSpPr/>
          <p:nvPr/>
        </p:nvSpPr>
        <p:spPr>
          <a:xfrm>
            <a:off x="256032" y="192024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56032" y="2322576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1700784" y="1920240"/>
            <a:ext cx="135331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700784" y="1920240"/>
            <a:ext cx="1353312" cy="384048"/>
          </a:xfrm>
          <a:prstGeom prst="roundRect">
            <a:avLst>
              <a:gd name="adj" fmla="val 19048"/>
            </a:avLst>
          </a:prstGeom>
          <a:solidFill>
            <a:srgbClr val="1B2B5E"/>
          </a:solidFill>
          <a:ln/>
        </p:spPr>
      </p:sp>
      <p:sp>
        <p:nvSpPr>
          <p:cNvPr id="35" name="Text 33"/>
          <p:cNvSpPr/>
          <p:nvPr/>
        </p:nvSpPr>
        <p:spPr>
          <a:xfrm>
            <a:off x="1700784" y="192024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700784" y="2322576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400" dirty="0"/>
          </a:p>
        </p:txBody>
      </p:sp>
      <p:sp>
        <p:nvSpPr>
          <p:cNvPr id="37" name="Shape 35"/>
          <p:cNvSpPr/>
          <p:nvPr/>
        </p:nvSpPr>
        <p:spPr>
          <a:xfrm>
            <a:off x="3145536" y="1920240"/>
            <a:ext cx="135331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145536" y="1920240"/>
            <a:ext cx="1353312" cy="384048"/>
          </a:xfrm>
          <a:prstGeom prst="roundRect">
            <a:avLst>
              <a:gd name="adj" fmla="val 19048"/>
            </a:avLst>
          </a:prstGeom>
          <a:solidFill>
            <a:srgbClr val="7B3F00"/>
          </a:solidFill>
          <a:ln/>
        </p:spPr>
      </p:sp>
      <p:sp>
        <p:nvSpPr>
          <p:cNvPr id="39" name="Text 37"/>
          <p:cNvSpPr/>
          <p:nvPr/>
        </p:nvSpPr>
        <p:spPr>
          <a:xfrm>
            <a:off x="3145536" y="192024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145536" y="2322576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400" dirty="0"/>
          </a:p>
        </p:txBody>
      </p:sp>
      <p:sp>
        <p:nvSpPr>
          <p:cNvPr id="41" name="Shape 39"/>
          <p:cNvSpPr/>
          <p:nvPr/>
        </p:nvSpPr>
        <p:spPr>
          <a:xfrm>
            <a:off x="4590288" y="1920240"/>
            <a:ext cx="135331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590288" y="1920240"/>
            <a:ext cx="1353312" cy="384048"/>
          </a:xfrm>
          <a:prstGeom prst="roundRect">
            <a:avLst>
              <a:gd name="adj" fmla="val 19048"/>
            </a:avLst>
          </a:prstGeom>
          <a:solidFill>
            <a:srgbClr val="8B1A1A"/>
          </a:solidFill>
          <a:ln/>
        </p:spPr>
      </p:sp>
      <p:sp>
        <p:nvSpPr>
          <p:cNvPr id="43" name="Text 41"/>
          <p:cNvSpPr/>
          <p:nvPr/>
        </p:nvSpPr>
        <p:spPr>
          <a:xfrm>
            <a:off x="4590288" y="192024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590288" y="2322576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400" dirty="0"/>
          </a:p>
        </p:txBody>
      </p:sp>
      <p:sp>
        <p:nvSpPr>
          <p:cNvPr id="45" name="Shape 43"/>
          <p:cNvSpPr/>
          <p:nvPr/>
        </p:nvSpPr>
        <p:spPr>
          <a:xfrm>
            <a:off x="6035040" y="1920240"/>
            <a:ext cx="135331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035040" y="1920240"/>
            <a:ext cx="1353312" cy="384048"/>
          </a:xfrm>
          <a:prstGeom prst="roundRect">
            <a:avLst>
              <a:gd name="adj" fmla="val 19048"/>
            </a:avLst>
          </a:prstGeom>
          <a:solidFill>
            <a:srgbClr val="8B1A1A"/>
          </a:solidFill>
          <a:ln/>
        </p:spPr>
      </p:sp>
      <p:sp>
        <p:nvSpPr>
          <p:cNvPr id="47" name="Text 45"/>
          <p:cNvSpPr/>
          <p:nvPr/>
        </p:nvSpPr>
        <p:spPr>
          <a:xfrm>
            <a:off x="6035040" y="192024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035040" y="2322576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400" dirty="0"/>
          </a:p>
        </p:txBody>
      </p:sp>
      <p:sp>
        <p:nvSpPr>
          <p:cNvPr id="49" name="Shape 47"/>
          <p:cNvSpPr/>
          <p:nvPr/>
        </p:nvSpPr>
        <p:spPr>
          <a:xfrm>
            <a:off x="7479792" y="1920240"/>
            <a:ext cx="135331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7479792" y="1920240"/>
            <a:ext cx="1353312" cy="384048"/>
          </a:xfrm>
          <a:prstGeom prst="roundRect">
            <a:avLst>
              <a:gd name="adj" fmla="val 19048"/>
            </a:avLst>
          </a:prstGeom>
          <a:solidFill>
            <a:srgbClr val="1A5C3A"/>
          </a:solidFill>
          <a:ln/>
        </p:spPr>
      </p:sp>
      <p:sp>
        <p:nvSpPr>
          <p:cNvPr id="51" name="Text 49"/>
          <p:cNvSpPr/>
          <p:nvPr/>
        </p:nvSpPr>
        <p:spPr>
          <a:xfrm>
            <a:off x="7479792" y="192024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7479792" y="2322576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400" dirty="0"/>
          </a:p>
        </p:txBody>
      </p:sp>
      <p:sp>
        <p:nvSpPr>
          <p:cNvPr id="53" name="Shape 51"/>
          <p:cNvSpPr/>
          <p:nvPr/>
        </p:nvSpPr>
        <p:spPr>
          <a:xfrm>
            <a:off x="256032" y="2926080"/>
            <a:ext cx="135331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256032" y="2926080"/>
            <a:ext cx="1353312" cy="384048"/>
          </a:xfrm>
          <a:prstGeom prst="roundRect">
            <a:avLst>
              <a:gd name="adj" fmla="val 19048"/>
            </a:avLst>
          </a:prstGeom>
          <a:solidFill>
            <a:srgbClr val="8B1A1A"/>
          </a:solidFill>
          <a:ln/>
        </p:spPr>
      </p:sp>
      <p:sp>
        <p:nvSpPr>
          <p:cNvPr id="55" name="Text 53"/>
          <p:cNvSpPr/>
          <p:nvPr/>
        </p:nvSpPr>
        <p:spPr>
          <a:xfrm>
            <a:off x="256032" y="292608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Q13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256032" y="3328416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400" dirty="0"/>
          </a:p>
        </p:txBody>
      </p:sp>
      <p:sp>
        <p:nvSpPr>
          <p:cNvPr id="57" name="Shape 55"/>
          <p:cNvSpPr/>
          <p:nvPr/>
        </p:nvSpPr>
        <p:spPr>
          <a:xfrm>
            <a:off x="1700784" y="2926080"/>
            <a:ext cx="135331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1700784" y="2926080"/>
            <a:ext cx="1353312" cy="384048"/>
          </a:xfrm>
          <a:prstGeom prst="roundRect">
            <a:avLst>
              <a:gd name="adj" fmla="val 19048"/>
            </a:avLst>
          </a:prstGeom>
          <a:solidFill>
            <a:srgbClr val="1A5C3A"/>
          </a:solidFill>
          <a:ln/>
        </p:spPr>
      </p:sp>
      <p:sp>
        <p:nvSpPr>
          <p:cNvPr id="59" name="Text 57"/>
          <p:cNvSpPr/>
          <p:nvPr/>
        </p:nvSpPr>
        <p:spPr>
          <a:xfrm>
            <a:off x="1700784" y="292608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Q14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1700784" y="3328416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400" dirty="0"/>
          </a:p>
        </p:txBody>
      </p:sp>
      <p:sp>
        <p:nvSpPr>
          <p:cNvPr id="61" name="Shape 59"/>
          <p:cNvSpPr/>
          <p:nvPr/>
        </p:nvSpPr>
        <p:spPr>
          <a:xfrm>
            <a:off x="3145536" y="2926080"/>
            <a:ext cx="135331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3145536" y="2926080"/>
            <a:ext cx="1353312" cy="384048"/>
          </a:xfrm>
          <a:prstGeom prst="roundRect">
            <a:avLst>
              <a:gd name="adj" fmla="val 19048"/>
            </a:avLst>
          </a:prstGeom>
          <a:solidFill>
            <a:srgbClr val="8B1A1A"/>
          </a:solidFill>
          <a:ln/>
        </p:spPr>
      </p:sp>
      <p:sp>
        <p:nvSpPr>
          <p:cNvPr id="63" name="Text 61"/>
          <p:cNvSpPr/>
          <p:nvPr/>
        </p:nvSpPr>
        <p:spPr>
          <a:xfrm>
            <a:off x="3145536" y="292608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Q15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3145536" y="3328416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400" dirty="0"/>
          </a:p>
        </p:txBody>
      </p:sp>
      <p:sp>
        <p:nvSpPr>
          <p:cNvPr id="65" name="Shape 63"/>
          <p:cNvSpPr/>
          <p:nvPr/>
        </p:nvSpPr>
        <p:spPr>
          <a:xfrm>
            <a:off x="4590288" y="2926080"/>
            <a:ext cx="135331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4590288" y="2926080"/>
            <a:ext cx="1353312" cy="384048"/>
          </a:xfrm>
          <a:prstGeom prst="roundRect">
            <a:avLst>
              <a:gd name="adj" fmla="val 19048"/>
            </a:avLst>
          </a:prstGeom>
          <a:solidFill>
            <a:srgbClr val="8B1A1A"/>
          </a:solidFill>
          <a:ln/>
        </p:spPr>
      </p:sp>
      <p:sp>
        <p:nvSpPr>
          <p:cNvPr id="67" name="Text 65"/>
          <p:cNvSpPr/>
          <p:nvPr/>
        </p:nvSpPr>
        <p:spPr>
          <a:xfrm>
            <a:off x="4590288" y="292608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Q16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4590288" y="3328416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400" dirty="0"/>
          </a:p>
        </p:txBody>
      </p:sp>
      <p:sp>
        <p:nvSpPr>
          <p:cNvPr id="69" name="Shape 67"/>
          <p:cNvSpPr/>
          <p:nvPr/>
        </p:nvSpPr>
        <p:spPr>
          <a:xfrm>
            <a:off x="6035040" y="2926080"/>
            <a:ext cx="135331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6035040" y="2926080"/>
            <a:ext cx="1353312" cy="384048"/>
          </a:xfrm>
          <a:prstGeom prst="roundRect">
            <a:avLst>
              <a:gd name="adj" fmla="val 19048"/>
            </a:avLst>
          </a:prstGeom>
          <a:solidFill>
            <a:srgbClr val="1A5C3A"/>
          </a:solidFill>
          <a:ln/>
        </p:spPr>
      </p:sp>
      <p:sp>
        <p:nvSpPr>
          <p:cNvPr id="71" name="Text 69"/>
          <p:cNvSpPr/>
          <p:nvPr/>
        </p:nvSpPr>
        <p:spPr>
          <a:xfrm>
            <a:off x="6035040" y="292608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Q17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6035040" y="3328416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400" dirty="0"/>
          </a:p>
        </p:txBody>
      </p:sp>
      <p:sp>
        <p:nvSpPr>
          <p:cNvPr id="73" name="Shape 71"/>
          <p:cNvSpPr/>
          <p:nvPr/>
        </p:nvSpPr>
        <p:spPr>
          <a:xfrm>
            <a:off x="7479792" y="2926080"/>
            <a:ext cx="135331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7479792" y="2926080"/>
            <a:ext cx="1353312" cy="384048"/>
          </a:xfrm>
          <a:prstGeom prst="roundRect">
            <a:avLst>
              <a:gd name="adj" fmla="val 19048"/>
            </a:avLst>
          </a:prstGeom>
          <a:solidFill>
            <a:srgbClr val="1A5C3A"/>
          </a:solidFill>
          <a:ln/>
        </p:spPr>
      </p:sp>
      <p:sp>
        <p:nvSpPr>
          <p:cNvPr id="75" name="Text 73"/>
          <p:cNvSpPr/>
          <p:nvPr/>
        </p:nvSpPr>
        <p:spPr>
          <a:xfrm>
            <a:off x="7479792" y="292608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Q18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7479792" y="3328416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400" dirty="0"/>
          </a:p>
        </p:txBody>
      </p:sp>
      <p:sp>
        <p:nvSpPr>
          <p:cNvPr id="77" name="Shape 75"/>
          <p:cNvSpPr/>
          <p:nvPr/>
        </p:nvSpPr>
        <p:spPr>
          <a:xfrm>
            <a:off x="256032" y="3931920"/>
            <a:ext cx="135331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256032" y="3931920"/>
            <a:ext cx="1353312" cy="384048"/>
          </a:xfrm>
          <a:prstGeom prst="roundRect">
            <a:avLst>
              <a:gd name="adj" fmla="val 19048"/>
            </a:avLst>
          </a:prstGeom>
          <a:solidFill>
            <a:srgbClr val="8B1A1A"/>
          </a:solidFill>
          <a:ln/>
        </p:spPr>
      </p:sp>
      <p:sp>
        <p:nvSpPr>
          <p:cNvPr id="79" name="Text 77"/>
          <p:cNvSpPr/>
          <p:nvPr/>
        </p:nvSpPr>
        <p:spPr>
          <a:xfrm>
            <a:off x="256032" y="393192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Q19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256032" y="4334256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400" dirty="0"/>
          </a:p>
        </p:txBody>
      </p:sp>
      <p:sp>
        <p:nvSpPr>
          <p:cNvPr id="81" name="Shape 79"/>
          <p:cNvSpPr/>
          <p:nvPr/>
        </p:nvSpPr>
        <p:spPr>
          <a:xfrm>
            <a:off x="1700784" y="3931920"/>
            <a:ext cx="135331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1700784" y="3931920"/>
            <a:ext cx="1353312" cy="384048"/>
          </a:xfrm>
          <a:prstGeom prst="roundRect">
            <a:avLst>
              <a:gd name="adj" fmla="val 19048"/>
            </a:avLst>
          </a:prstGeom>
          <a:solidFill>
            <a:srgbClr val="1A5C3A"/>
          </a:solidFill>
          <a:ln/>
        </p:spPr>
      </p:sp>
      <p:sp>
        <p:nvSpPr>
          <p:cNvPr id="83" name="Text 81"/>
          <p:cNvSpPr/>
          <p:nvPr/>
        </p:nvSpPr>
        <p:spPr>
          <a:xfrm>
            <a:off x="1700784" y="393192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Q20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1700784" y="4334256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400" dirty="0"/>
          </a:p>
        </p:txBody>
      </p:sp>
      <p:sp>
        <p:nvSpPr>
          <p:cNvPr id="85" name="Shape 83"/>
          <p:cNvSpPr/>
          <p:nvPr/>
        </p:nvSpPr>
        <p:spPr>
          <a:xfrm>
            <a:off x="3145536" y="3931920"/>
            <a:ext cx="135331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3145536" y="3931920"/>
            <a:ext cx="1353312" cy="384048"/>
          </a:xfrm>
          <a:prstGeom prst="roundRect">
            <a:avLst>
              <a:gd name="adj" fmla="val 19048"/>
            </a:avLst>
          </a:prstGeom>
          <a:solidFill>
            <a:srgbClr val="1A5C3A"/>
          </a:solidFill>
          <a:ln/>
        </p:spPr>
      </p:sp>
      <p:sp>
        <p:nvSpPr>
          <p:cNvPr id="87" name="Text 85"/>
          <p:cNvSpPr/>
          <p:nvPr/>
        </p:nvSpPr>
        <p:spPr>
          <a:xfrm>
            <a:off x="3145536" y="393192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Q21</a:t>
            </a:r>
            <a:endParaRPr lang="en-US" sz="1200" dirty="0"/>
          </a:p>
        </p:txBody>
      </p:sp>
      <p:sp>
        <p:nvSpPr>
          <p:cNvPr id="88" name="Text 86"/>
          <p:cNvSpPr/>
          <p:nvPr/>
        </p:nvSpPr>
        <p:spPr>
          <a:xfrm>
            <a:off x="3145536" y="4334256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400" dirty="0"/>
          </a:p>
        </p:txBody>
      </p:sp>
      <p:sp>
        <p:nvSpPr>
          <p:cNvPr id="89" name="Shape 87"/>
          <p:cNvSpPr/>
          <p:nvPr/>
        </p:nvSpPr>
        <p:spPr>
          <a:xfrm>
            <a:off x="4590288" y="3931920"/>
            <a:ext cx="135331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0" name="Shape 88"/>
          <p:cNvSpPr/>
          <p:nvPr/>
        </p:nvSpPr>
        <p:spPr>
          <a:xfrm>
            <a:off x="4590288" y="3931920"/>
            <a:ext cx="1353312" cy="384048"/>
          </a:xfrm>
          <a:prstGeom prst="roundRect">
            <a:avLst>
              <a:gd name="adj" fmla="val 19048"/>
            </a:avLst>
          </a:prstGeom>
          <a:solidFill>
            <a:srgbClr val="8B1A1A"/>
          </a:solidFill>
          <a:ln/>
        </p:spPr>
      </p:sp>
      <p:sp>
        <p:nvSpPr>
          <p:cNvPr id="91" name="Text 89"/>
          <p:cNvSpPr/>
          <p:nvPr/>
        </p:nvSpPr>
        <p:spPr>
          <a:xfrm>
            <a:off x="4590288" y="393192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Q22</a:t>
            </a:r>
            <a:endParaRPr lang="en-US" sz="1200" dirty="0"/>
          </a:p>
        </p:txBody>
      </p:sp>
      <p:sp>
        <p:nvSpPr>
          <p:cNvPr id="92" name="Text 90"/>
          <p:cNvSpPr/>
          <p:nvPr/>
        </p:nvSpPr>
        <p:spPr>
          <a:xfrm>
            <a:off x="4590288" y="4334256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400" dirty="0"/>
          </a:p>
        </p:txBody>
      </p:sp>
      <p:sp>
        <p:nvSpPr>
          <p:cNvPr id="93" name="Shape 91"/>
          <p:cNvSpPr/>
          <p:nvPr/>
        </p:nvSpPr>
        <p:spPr>
          <a:xfrm>
            <a:off x="6035040" y="3931920"/>
            <a:ext cx="135331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4" name="Shape 92"/>
          <p:cNvSpPr/>
          <p:nvPr/>
        </p:nvSpPr>
        <p:spPr>
          <a:xfrm>
            <a:off x="6035040" y="3931920"/>
            <a:ext cx="1353312" cy="384048"/>
          </a:xfrm>
          <a:prstGeom prst="roundRect">
            <a:avLst>
              <a:gd name="adj" fmla="val 19048"/>
            </a:avLst>
          </a:prstGeom>
          <a:solidFill>
            <a:srgbClr val="1A5C3A"/>
          </a:solidFill>
          <a:ln/>
        </p:spPr>
      </p:sp>
      <p:sp>
        <p:nvSpPr>
          <p:cNvPr id="95" name="Text 93"/>
          <p:cNvSpPr/>
          <p:nvPr/>
        </p:nvSpPr>
        <p:spPr>
          <a:xfrm>
            <a:off x="6035040" y="393192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Q23</a:t>
            </a:r>
            <a:endParaRPr lang="en-US" sz="1200" dirty="0"/>
          </a:p>
        </p:txBody>
      </p:sp>
      <p:sp>
        <p:nvSpPr>
          <p:cNvPr id="96" name="Text 94"/>
          <p:cNvSpPr/>
          <p:nvPr/>
        </p:nvSpPr>
        <p:spPr>
          <a:xfrm>
            <a:off x="6035040" y="4334256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400" dirty="0"/>
          </a:p>
        </p:txBody>
      </p:sp>
      <p:sp>
        <p:nvSpPr>
          <p:cNvPr id="97" name="Shape 95"/>
          <p:cNvSpPr/>
          <p:nvPr/>
        </p:nvSpPr>
        <p:spPr>
          <a:xfrm>
            <a:off x="7479792" y="3931920"/>
            <a:ext cx="135331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8" name="Shape 96"/>
          <p:cNvSpPr/>
          <p:nvPr/>
        </p:nvSpPr>
        <p:spPr>
          <a:xfrm>
            <a:off x="7479792" y="3931920"/>
            <a:ext cx="1353312" cy="384048"/>
          </a:xfrm>
          <a:prstGeom prst="roundRect">
            <a:avLst>
              <a:gd name="adj" fmla="val 19048"/>
            </a:avLst>
          </a:prstGeom>
          <a:solidFill>
            <a:srgbClr val="1A5C3A"/>
          </a:solidFill>
          <a:ln/>
        </p:spPr>
      </p:sp>
      <p:sp>
        <p:nvSpPr>
          <p:cNvPr id="99" name="Text 97"/>
          <p:cNvSpPr/>
          <p:nvPr/>
        </p:nvSpPr>
        <p:spPr>
          <a:xfrm>
            <a:off x="7479792" y="393192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Q24</a:t>
            </a:r>
            <a:endParaRPr lang="en-US" sz="1200" dirty="0"/>
          </a:p>
        </p:txBody>
      </p:sp>
      <p:sp>
        <p:nvSpPr>
          <p:cNvPr id="100" name="Text 98"/>
          <p:cNvSpPr/>
          <p:nvPr/>
        </p:nvSpPr>
        <p:spPr>
          <a:xfrm>
            <a:off x="7479792" y="4334256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400" dirty="0"/>
          </a:p>
        </p:txBody>
      </p:sp>
      <p:sp>
        <p:nvSpPr>
          <p:cNvPr id="101" name="Text 99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  |  INSTRUCTOR COPY —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BSIS EXAM — INSTRUCTOR ANSWER KEY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512064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40080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★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Responsibility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§7583.33 | PC §22001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use your baton, you should remember that you might be required to justify your actions in: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6245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Criminal court only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36245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Civil court only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160934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To your employer only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60934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D. All of the above — criminal court, civil court, and to your employer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316736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8B1A1A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3167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28600" y="2048256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176272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★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6868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 Areas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89320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Baton Manual Ch. 5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68680" y="237744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baton strike to the head, throat, or spine: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28986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Is usually fatal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8986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Could be fatal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314553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Always causes paralysis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14553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Is always fatal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38160" y="2852928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B2B5E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285292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28600" y="3584448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2608" y="3712464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292608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★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68680" y="36667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 Requirements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989320" y="3666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§7583.33 | PC §22001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68680" y="391363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guard who carries a baton without a baton permit may be: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8680" y="44348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Fined $100 by the Bureau for the first offense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4348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Fined $200 by the Bureau for the second and all future offenses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8680" y="46817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Charged with a criminal violation of Penal Code §22001 (formerly §12020(a)), which is a felony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46817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D. All of the above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38160" y="4389120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8B1A1A"/>
          </a:solidFill>
          <a:ln/>
        </p:spPr>
      </p:sp>
      <p:sp>
        <p:nvSpPr>
          <p:cNvPr id="40" name="Text 38"/>
          <p:cNvSpPr/>
          <p:nvPr/>
        </p:nvSpPr>
        <p:spPr>
          <a:xfrm>
            <a:off x="8138160" y="438912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BSIS EXAM — INSTRUCTOR ANSWER KEY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512064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40080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★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Continuing Education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Baton Policy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Bureau encourages continuous baton training so that you may carry the baton with confidence to effectively and legally defend yourself.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6245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T. True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069080" y="136245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F. False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138160" y="1316736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0" y="13167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228600" y="2048256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92608" y="2176272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7" name="Text 15"/>
          <p:cNvSpPr/>
          <p:nvPr/>
        </p:nvSpPr>
        <p:spPr>
          <a:xfrm>
            <a:off x="29260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★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6868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Force — Target Areas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989320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Baton Manual Ch. 5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8680" y="237744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a non-life-threatening situation, the baton should not be used to strike above the: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68680" y="28986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Waist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46320" y="28986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Shoulders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68680" y="314553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Groin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314553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Knees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138160" y="2852928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B2B5E"/>
          </a:solidFill>
          <a:ln/>
        </p:spPr>
      </p:sp>
      <p:sp>
        <p:nvSpPr>
          <p:cNvPr id="26" name="Text 24"/>
          <p:cNvSpPr/>
          <p:nvPr/>
        </p:nvSpPr>
        <p:spPr>
          <a:xfrm>
            <a:off x="8138160" y="285292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228600" y="3584448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92608" y="3712464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29" name="Text 27"/>
          <p:cNvSpPr/>
          <p:nvPr/>
        </p:nvSpPr>
        <p:spPr>
          <a:xfrm>
            <a:off x="292608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★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68680" y="36667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Liability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989320" y="3666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§7585.19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868680" y="391363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private patrol operator allows you to carry a baton before you complete baton training and receive a baton permit, the company may be fined by the Bureau in the amount of: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68680" y="44348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$100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46320" y="44348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$300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68680" y="46817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$2,500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6817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Nothing — the PPO's license is automatically revoked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138160" y="4389120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7B3F00"/>
          </a:solidFill>
          <a:ln/>
        </p:spPr>
      </p:sp>
      <p:sp>
        <p:nvSpPr>
          <p:cNvPr id="38" name="Text 36"/>
          <p:cNvSpPr/>
          <p:nvPr/>
        </p:nvSpPr>
        <p:spPr>
          <a:xfrm>
            <a:off x="8138160" y="438912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BSIS EXAM — INSTRUCTOR ANSWER KEY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512064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40080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★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De-escalation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Baton Manual Ch. 2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are first confronted with a situation that could escalate, you should first consider: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6245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Arresting the suspect without getting hurt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36245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Looking for a telephone to call for help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160934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Remaining calm and attempting to control the situation by talking to the person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60934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Finding a witness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316736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7B3F00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3167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28600" y="2048256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176272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★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6868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Tactical Response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89320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Baton Manual Ch. 2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68680" y="237744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 somewhat smaller than you is having an argument with your client and it looks like the situation is escalating. You should first: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28986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Tell the man he has 10 seconds to leave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8986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Make your presence known and be prepared to act defensively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314553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Call the police and tell them you have a suspect under surveillance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14553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Draw your baton out of the ring and tap it in the palm of your hand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38160" y="2852928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B2B5E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285292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28600" y="3584448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2608" y="3712464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292608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★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68680" y="36667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Force Decision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989320" y="3666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Baton Manual Ch. 2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68680" y="391363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factor would you NOT consider when deciding whether to use your baton?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8680" y="44348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Size of the subject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4348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Whether the subject may be under the influence of drugs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8680" y="46817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Whether you will have to make a report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46817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Whether the subject is armed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38160" y="4389120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7B3F00"/>
          </a:solidFill>
          <a:ln/>
        </p:spPr>
      </p:sp>
      <p:sp>
        <p:nvSpPr>
          <p:cNvPr id="40" name="Text 38"/>
          <p:cNvSpPr/>
          <p:nvPr/>
        </p:nvSpPr>
        <p:spPr>
          <a:xfrm>
            <a:off x="8138160" y="438912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BSIS EXAM — INSTRUCTOR ANSWER KEY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512064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40080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★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Off-Duty Carry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§7583.33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are not on duty, you may wear your baton as long as you have your baton permit in your possession.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6245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T. True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069080" y="136245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F. False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138160" y="1316736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8B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0" y="13167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228600" y="2048256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92608" y="2176272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7" name="Text 15"/>
          <p:cNvSpPr/>
          <p:nvPr/>
        </p:nvSpPr>
        <p:spPr>
          <a:xfrm>
            <a:off x="29260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★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6868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 Types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989320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§7583.33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8680" y="237744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may carry a baton on duty as long as you have a firearms permit in your possession.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68680" y="28986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T. True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069080" y="28986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F. False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138160" y="2852928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8B1A1A"/>
          </a:solidFill>
          <a:ln/>
        </p:spPr>
      </p:sp>
      <p:sp>
        <p:nvSpPr>
          <p:cNvPr id="24" name="Text 22"/>
          <p:cNvSpPr/>
          <p:nvPr/>
        </p:nvSpPr>
        <p:spPr>
          <a:xfrm>
            <a:off x="8138160" y="285292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228600" y="3584448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92608" y="3712464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27" name="Text 25"/>
          <p:cNvSpPr/>
          <p:nvPr/>
        </p:nvSpPr>
        <p:spPr>
          <a:xfrm>
            <a:off x="292608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★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68680" y="36667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Definitions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989320" y="3666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§242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868680" y="391363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is any willful and unlawful use of force or violence upon another person.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68680" y="443484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T. True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069080" y="443484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F. False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138160" y="4389120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34" name="Text 32"/>
          <p:cNvSpPr/>
          <p:nvPr/>
        </p:nvSpPr>
        <p:spPr>
          <a:xfrm>
            <a:off x="8138160" y="438912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BSIS EXAM — INSTRUCTOR ANSWER KEY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512064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40080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★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Baton Purpose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Baton Manual Preface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baton is an offensive weapon.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6245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T. True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069080" y="136245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F. False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138160" y="1316736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8B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0" y="13167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228600" y="2048256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92608" y="2176272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7" name="Text 15"/>
          <p:cNvSpPr/>
          <p:nvPr/>
        </p:nvSpPr>
        <p:spPr>
          <a:xfrm>
            <a:off x="29260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★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6868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 Areas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989320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Baton Manual Ch. 5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8680" y="237744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head, spine, and kidneys are vital areas to be avoided when using a baton, unless there is a deadly attack on you or another person.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68680" y="28986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T. True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069080" y="28986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F. False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138160" y="2852928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24" name="Text 22"/>
          <p:cNvSpPr/>
          <p:nvPr/>
        </p:nvSpPr>
        <p:spPr>
          <a:xfrm>
            <a:off x="8138160" y="285292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228600" y="3584448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92608" y="3712464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27" name="Text 25"/>
          <p:cNvSpPr/>
          <p:nvPr/>
        </p:nvSpPr>
        <p:spPr>
          <a:xfrm>
            <a:off x="292608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★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68680" y="36667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Requirement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989320" y="3666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§7583.33 | BPC §7585.14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868680" y="391363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may carry a baton on duty without a security guard registration in your possession.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68680" y="443484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T. True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069080" y="443484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F. False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138160" y="4389120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8B1A1A"/>
          </a:solidFill>
          <a:ln/>
        </p:spPr>
      </p:sp>
      <p:sp>
        <p:nvSpPr>
          <p:cNvPr id="34" name="Text 32"/>
          <p:cNvSpPr/>
          <p:nvPr/>
        </p:nvSpPr>
        <p:spPr>
          <a:xfrm>
            <a:off x="8138160" y="438912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BSIS EXAM — INSTRUCTOR ANSWER KEY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512064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40080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★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 for Force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Baton Manual Ch. 2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escorting an unruly rock concert patron to the exit. He screams and insults you, using profanity. You would be justified in jabbing him with your baton.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6245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T. True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069080" y="136245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F. False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138160" y="1316736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8B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0" y="13167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228600" y="2048256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92608" y="2176272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7" name="Text 15"/>
          <p:cNvSpPr/>
          <p:nvPr/>
        </p:nvSpPr>
        <p:spPr>
          <a:xfrm>
            <a:off x="29260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★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6868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Force — Proportionality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989320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§7583.7 | Objectively Reasonable Standard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8680" y="237744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meet physical force with only that amount of force reasonable to defend yourself and control the situation.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68680" y="28986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T. True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069080" y="28986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F. False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138160" y="2852928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24" name="Text 22"/>
          <p:cNvSpPr/>
          <p:nvPr/>
        </p:nvSpPr>
        <p:spPr>
          <a:xfrm>
            <a:off x="8138160" y="285292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228600" y="3584448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92608" y="3712464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27" name="Text 25"/>
          <p:cNvSpPr/>
          <p:nvPr/>
        </p:nvSpPr>
        <p:spPr>
          <a:xfrm>
            <a:off x="292608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★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68680" y="36667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Suspension Procedures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989320" y="3666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§7583.15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868680" y="391363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use too much force with your baton and the Director of the Department of Consumer Affairs determines that you are a hazard to public safety, your permit may be suspended and your employer will be notified of the suspension.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68680" y="443484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T. True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069080" y="443484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F. False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138160" y="4389120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34" name="Text 32"/>
          <p:cNvSpPr/>
          <p:nvPr/>
        </p:nvSpPr>
        <p:spPr>
          <a:xfrm>
            <a:off x="8138160" y="438912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BSIS EXAM — INSTRUCTOR ANSWER KEY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512064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40080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★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Definitions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Tort Law | Civil Liability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Criminal liability means you have to pay damages after being sued.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6245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T. True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069080" y="136245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F. False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138160" y="1316736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8B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0" y="13167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228600" y="2048256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92608" y="2176272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7" name="Text 15"/>
          <p:cNvSpPr/>
          <p:nvPr/>
        </p:nvSpPr>
        <p:spPr>
          <a:xfrm>
            <a:off x="29260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★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6868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Reporting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989320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§7583.2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8680" y="237744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are arrested after using your baton in a physical altercation, your employer must report the incident to the Bureau within seven days.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68680" y="28986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T. True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069080" y="28986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F. False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138160" y="2852928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24" name="Text 22"/>
          <p:cNvSpPr/>
          <p:nvPr/>
        </p:nvSpPr>
        <p:spPr>
          <a:xfrm>
            <a:off x="8138160" y="285292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228600" y="3584448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92608" y="3712464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27" name="Text 25"/>
          <p:cNvSpPr/>
          <p:nvPr/>
        </p:nvSpPr>
        <p:spPr>
          <a:xfrm>
            <a:off x="292608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★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68680" y="36667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 Guard Requirements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989320" y="3666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§7585.14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868680" y="391363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 or proprietary guards are required to have both a guard card and baton permit if they carry a baton on duty.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68680" y="443484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T. True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069080" y="443484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F. False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138160" y="4389120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34" name="Text 32"/>
          <p:cNvSpPr/>
          <p:nvPr/>
        </p:nvSpPr>
        <p:spPr>
          <a:xfrm>
            <a:off x="8138160" y="438912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BSIS EXAM — INSTRUCTOR ANSWER KEY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512064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40080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★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Deadly Force Limits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Baton Manual Ch. 2 | PC §22001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someone trespasses onto property that you are protecting, you would be justified in using deadly force.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6245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T. True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069080" y="136245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F. False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138160" y="1316736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8B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0" y="13167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228600" y="2048256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92608" y="2176272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7" name="Text 15"/>
          <p:cNvSpPr/>
          <p:nvPr/>
        </p:nvSpPr>
        <p:spPr>
          <a:xfrm>
            <a:off x="29260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★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6868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Practices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989320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Baton Manual Ch. 5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8680" y="237744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Practicing baton techniques in front of a mirror is a good idea.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68680" y="28986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T. True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069080" y="28986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F. False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138160" y="2852928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24" name="Text 22"/>
          <p:cNvSpPr/>
          <p:nvPr/>
        </p:nvSpPr>
        <p:spPr>
          <a:xfrm>
            <a:off x="8138160" y="285292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228600" y="3584448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92608" y="3712464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27" name="Text 25"/>
          <p:cNvSpPr/>
          <p:nvPr/>
        </p:nvSpPr>
        <p:spPr>
          <a:xfrm>
            <a:off x="292608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★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68680" y="36667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Baton Carry Side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989320" y="3666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Baton Manual Ch. 5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868680" y="391363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baton may be carried on your weak or your strong side.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68680" y="443484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T. True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069080" y="443484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F. False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138160" y="4389120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34" name="Text 32"/>
          <p:cNvSpPr/>
          <p:nvPr/>
        </p:nvSpPr>
        <p:spPr>
          <a:xfrm>
            <a:off x="8138160" y="438912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2E3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SUPPLEMENTAL — INSTRUCTOR ANSWER KEY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512064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40080"/>
            <a:ext cx="475488" cy="475488"/>
          </a:xfrm>
          <a:prstGeom prst="ellipse">
            <a:avLst/>
          </a:prstGeom>
          <a:solidFill>
            <a:srgbClr val="2E3A4A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 Validity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Baton Fact Sheet 2024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is a BSIS Baton Permit valid before renewal is required?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6245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1 year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36245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2 years — permit now expires and requires renewal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160934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Baton permits do not expire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60934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5 years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316736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B2B5E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3167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28600" y="2048256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176272"/>
            <a:ext cx="475488" cy="475488"/>
          </a:xfrm>
          <a:prstGeom prst="ellipse">
            <a:avLst/>
          </a:prstGeom>
          <a:solidFill>
            <a:srgbClr val="2E3A4A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6868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 Issuance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89320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§7585.14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68680" y="237744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BSIS Baton Permit may be issued by: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28986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Any BSIS-licensed Private Patrol Operator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8986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The BSIS Bureau directly to the guard via mail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314553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A BSIS-certified Baton Training Facility with a certified instructor on site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14553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Any BSIS-approved security guard instructor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38160" y="2852928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7B3F00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285292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28600" y="3584448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2608" y="3712464"/>
            <a:ext cx="475488" cy="475488"/>
          </a:xfrm>
          <a:prstGeom prst="ellipse">
            <a:avLst/>
          </a:prstGeom>
          <a:solidFill>
            <a:srgbClr val="2E3A4A"/>
          </a:solidFill>
          <a:ln/>
        </p:spPr>
      </p:sp>
      <p:sp>
        <p:nvSpPr>
          <p:cNvPr id="31" name="Text 29"/>
          <p:cNvSpPr/>
          <p:nvPr/>
        </p:nvSpPr>
        <p:spPr>
          <a:xfrm>
            <a:off x="292608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68680" y="36667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 Requirements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989320" y="3666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§7585.14(c)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68680" y="391363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completing a baton training class, a baton training facility must submit a roster of students to BSIS within: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8680" y="44348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24 hours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4348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3 working days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8680" y="46817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5 working days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46817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30 days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38160" y="4389120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7B3F00"/>
          </a:solidFill>
          <a:ln/>
        </p:spPr>
      </p:sp>
      <p:sp>
        <p:nvSpPr>
          <p:cNvPr id="40" name="Text 38"/>
          <p:cNvSpPr/>
          <p:nvPr/>
        </p:nvSpPr>
        <p:spPr>
          <a:xfrm>
            <a:off x="8138160" y="438912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2E3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SUPPLEMENTAL — INSTRUCTOR ANSWER KEY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512064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40080"/>
            <a:ext cx="475488" cy="475488"/>
          </a:xfrm>
          <a:prstGeom prst="ellipse">
            <a:avLst/>
          </a:prstGeom>
          <a:solidFill>
            <a:srgbClr val="2E3A4A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Requirements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Baton Manual Admin. Procedures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pass the BSIS baton written examination, a student must: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6245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Score 100% on all 24 questions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36245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Score at least 20 out of 24 AND correctly identify all vital areas of the body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160934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Score at least 20 out of 24 — vital areas are optional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60934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Score at least 18 out of 24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316736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B2B5E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3167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28600" y="2048256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176272"/>
            <a:ext cx="475488" cy="475488"/>
          </a:xfrm>
          <a:prstGeom prst="ellipse">
            <a:avLst/>
          </a:prstGeom>
          <a:solidFill>
            <a:srgbClr val="2E3A4A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6868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Facility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89320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§7585.3 | BPC §7585.11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68680" y="237744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legally teach and certify the full BSIS baton permit course, a business entity must hold: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28986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Only a standard PPO license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8986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A BSIS Baton Training Facility (TFB) certificate and employ a certified baton instructor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314553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Any BSIS security training approval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14553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A firearms training facility certificate (TFF) which includes baton authorization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38160" y="2852928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B2B5E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285292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28600" y="3584448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2608" y="3712464"/>
            <a:ext cx="475488" cy="475488"/>
          </a:xfrm>
          <a:prstGeom prst="ellipse">
            <a:avLst/>
          </a:prstGeom>
          <a:solidFill>
            <a:srgbClr val="2E3A4A"/>
          </a:solidFill>
          <a:ln/>
        </p:spPr>
      </p:sp>
      <p:sp>
        <p:nvSpPr>
          <p:cNvPr id="31" name="Text 29"/>
          <p:cNvSpPr/>
          <p:nvPr/>
        </p:nvSpPr>
        <p:spPr>
          <a:xfrm>
            <a:off x="292608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68680" y="36667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Justification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989320" y="3666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Baton Manual Ch. 2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68680" y="391363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Baton use is justified against a subject who is: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8680" y="44348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Verbally abusive but not physically threatening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4348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Passively refusing to leave private property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8680" y="46817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Actively physically aggressive and posing an imminent threat of serious bodily injury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46817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Trespassing and refusing to answer questions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38160" y="4389120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7B3F00"/>
          </a:solidFill>
          <a:ln/>
        </p:spPr>
      </p:sp>
      <p:sp>
        <p:nvSpPr>
          <p:cNvPr id="40" name="Text 38"/>
          <p:cNvSpPr/>
          <p:nvPr/>
        </p:nvSpPr>
        <p:spPr>
          <a:xfrm>
            <a:off x="8138160" y="438912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2E3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SUPPLEMENTAL — INSTRUCTOR ANSWER KEY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512064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40080"/>
            <a:ext cx="475488" cy="475488"/>
          </a:xfrm>
          <a:prstGeom prst="ellipse">
            <a:avLst/>
          </a:prstGeom>
          <a:solidFill>
            <a:srgbClr val="2E3A4A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 Areas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Baton Manual Ch. 5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Strikes to vital areas of the body may ONLY be justified when: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6245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The subject is larger than the guard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36245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The guard is in any physical confrontation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160934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The subject is actively resisting arrest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60934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D. The guard or another person faces imminent death or serious bodily injury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316736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8B1A1A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3167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28600" y="2048256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176272"/>
            <a:ext cx="475488" cy="475488"/>
          </a:xfrm>
          <a:prstGeom prst="ellipse">
            <a:avLst/>
          </a:prstGeom>
          <a:solidFill>
            <a:srgbClr val="2E3A4A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6868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Retention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89320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§7585.15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68680" y="237744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BPC §7585.15, baton training answer sheets must be retained by the training facility for at least: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28986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6 months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8986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1 year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314553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2 years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14553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5 years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38160" y="2852928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7B3F00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285292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28600" y="3584448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2608" y="3712464"/>
            <a:ext cx="475488" cy="475488"/>
          </a:xfrm>
          <a:prstGeom prst="ellipse">
            <a:avLst/>
          </a:prstGeom>
          <a:solidFill>
            <a:srgbClr val="2E3A4A"/>
          </a:solidFill>
          <a:ln/>
        </p:spPr>
      </p:sp>
      <p:sp>
        <p:nvSpPr>
          <p:cNvPr id="31" name="Text 29"/>
          <p:cNvSpPr/>
          <p:nvPr/>
        </p:nvSpPr>
        <p:spPr>
          <a:xfrm>
            <a:off x="292608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68680" y="36667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PPO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989320" y="3666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License #122729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68680" y="391363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INC.'s California Private Patrol Operator license number, which must appear on all BSIS Certificates of Completion, is: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8680" y="44348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#112233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4348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#100001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8680" y="46817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#133445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46817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D. #122729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38160" y="4389120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8B1A1A"/>
          </a:solidFill>
          <a:ln/>
        </p:spPr>
      </p:sp>
      <p:sp>
        <p:nvSpPr>
          <p:cNvPr id="40" name="Text 38"/>
          <p:cNvSpPr/>
          <p:nvPr/>
        </p:nvSpPr>
        <p:spPr>
          <a:xfrm>
            <a:off x="8138160" y="438912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GUIDE &amp; INSTRUCTOR OBLIGATIONS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0"/>
            <a:ext cx="201168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Pass Score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468880" y="914400"/>
            <a:ext cx="63093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out of 24 official questions — partial credit not awarded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4320" y="1444752"/>
            <a:ext cx="8595360" cy="475488"/>
          </a:xfrm>
          <a:prstGeom prst="roundRect">
            <a:avLst>
              <a:gd name="adj" fmla="val 13462"/>
            </a:avLst>
          </a:prstGeom>
          <a:solidFill>
            <a:srgbClr val="F4F6FB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444752"/>
            <a:ext cx="201168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 Areas Pass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68880" y="1444752"/>
            <a:ext cx="63093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vital areas correctly identified — failure to name any one = exam failure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975104"/>
            <a:ext cx="859536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975104"/>
            <a:ext cx="201168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Required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68880" y="1975104"/>
            <a:ext cx="63093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must pass BOTH components simultaneously. Passing one does not hold.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505456"/>
            <a:ext cx="8595360" cy="475488"/>
          </a:xfrm>
          <a:prstGeom prst="roundRect">
            <a:avLst>
              <a:gd name="adj" fmla="val 13462"/>
            </a:avLst>
          </a:prstGeom>
          <a:solidFill>
            <a:srgbClr val="F4F6FB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505456"/>
            <a:ext cx="201168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Re-Test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68880" y="2505456"/>
            <a:ext cx="63093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at instructor's discretion. Failing score must be recorded before re-test.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035808"/>
            <a:ext cx="859536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035808"/>
            <a:ext cx="201168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Sheets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468880" y="3035808"/>
            <a:ext cx="63093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for minimum 2 years per BPC §7585.15 — available to BSIS on request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566160"/>
            <a:ext cx="8595360" cy="475488"/>
          </a:xfrm>
          <a:prstGeom prst="roundRect">
            <a:avLst>
              <a:gd name="adj" fmla="val 13462"/>
            </a:avLst>
          </a:prstGeom>
          <a:solidFill>
            <a:srgbClr val="F4F6FB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566160"/>
            <a:ext cx="201168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= Official BSIS Q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468880" y="3566160"/>
            <a:ext cx="63093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marked ★ are from the official BSIS Baton Training Written Examination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4096512"/>
            <a:ext cx="859536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096512"/>
            <a:ext cx="201168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 Issuance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468880" y="4096512"/>
            <a:ext cx="63093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Baton Permit issued by certified instructor at BSIS-certified TFB only (not PPO alone)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4626864"/>
            <a:ext cx="8595360" cy="475488"/>
          </a:xfrm>
          <a:prstGeom prst="roundRect">
            <a:avLst>
              <a:gd name="adj" fmla="val 13462"/>
            </a:avLst>
          </a:prstGeom>
          <a:solidFill>
            <a:srgbClr val="F4F6FB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626864"/>
            <a:ext cx="201168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468880" y="4626864"/>
            <a:ext cx="63093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roster to BSIS within 5 working days of class completion (BPC §7585.14)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Baton Certification — INSTRUCTOR ANSWER KEY</dc:title>
  <dc:subject>PptxGenJS Presentation</dc:subject>
  <dc:creator>MACCESS INC. — CONFIDENTIAL</dc:creator>
  <cp:lastModifiedBy>MACCESS INC. — CONFIDENTIAL</cp:lastModifiedBy>
  <cp:revision>1</cp:revision>
  <dcterms:created xsi:type="dcterms:W3CDTF">2026-06-28T16:50:58Z</dcterms:created>
  <dcterms:modified xsi:type="dcterms:W3CDTF">2026-06-28T16:50:58Z</dcterms:modified>
</cp:coreProperties>
</file>