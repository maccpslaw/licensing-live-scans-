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participants. This course satisfies the BSIS 3-hour Power to Arrest requirement under BPC §7583.7. Delivered by MACCESS INC., PPO #122729.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module. Total course: 3 hours. All content sourced from official BSIS syllabus and California Penal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learning objectives with class. Participants must pass a 100% exam to receive BSIS certificate of completion.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Reinforce: the badge and uniform grant zero extra legal authority. This is the most misunderstood aspect of security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misdemeanor arrest requires personal observation. Felony arrests under condition 3 carry the most risk. Wrong call = false imprisonment liability.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 role-play exercise here. One student plays guard, one plays subject. Practice each encounter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extra time here. These are the most common liability triggers in security work. Consider real case examples for each prohibition.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the legal distinction protects the guard AND the company. Overstepping triggers personal liability that BSIS training is designed to prevent.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vicarious liability is a real business risk. MACCESS INC. is protected when guards are properly trained and operate within their authority.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Shopkeeper's Privilege under PC §490.5 is a common-use authority in retail security. Requires direct observation — not accusation.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Documentation is the guard's best legal protection. If it isn't written, it didn't happen in court.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guard safety comes first. A guard who is injured or killed cannot protect anyone. Run-Hide-Fight is industry standard and endorsed by DHS.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question aloud. Give participants 30 seconds to answer before revealing. Reinforce wrong instincts with the legal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 §847 is critical — it legally defines the guard as the arresting party. The officer does not arrest — they accept transfer. This distinction affects liability.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Administer exam now. Collect all answer sheets. Issue Certificate of Completion only to students scoring 100%. File records per BSIS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" cy="420624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Security Guard Certification Course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321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BSIS-compliant training program covering the legal authority, limitations, liabilities, and professional responsibilities of California-licensed security officers in the exercise of citizen arrest powers.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4297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License #122729  |  BSIS-Compliant  |  BPC §7583.7  |  3 CEUs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 and how this course is structured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Lic. #122729  |  BPC §7583.7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76148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2761488" cy="384048"/>
          </a:xfrm>
          <a:prstGeom prst="roundRect">
            <a:avLst>
              <a:gd name="adj" fmla="val 19048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170432"/>
            <a:ext cx="26334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—  Introduction &amp; Legal Framework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591056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PTA Manual overview · BSIS authority · BPC §7583.7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170432"/>
            <a:ext cx="276148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70432"/>
            <a:ext cx="2761488" cy="384048"/>
          </a:xfrm>
          <a:prstGeom prst="roundRect">
            <a:avLst>
              <a:gd name="adj" fmla="val 19048"/>
            </a:avLst>
          </a:prstGeom>
          <a:solidFill>
            <a:srgbClr val="2E4A7A"/>
          </a:solidFill>
          <a:ln/>
        </p:spPr>
      </p:sp>
      <p:sp>
        <p:nvSpPr>
          <p:cNvPr id="12" name="Text 10"/>
          <p:cNvSpPr/>
          <p:nvPr/>
        </p:nvSpPr>
        <p:spPr>
          <a:xfrm>
            <a:off x="3227832" y="1170432"/>
            <a:ext cx="26334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—  Citizen Arrest Authority (PC §837)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46120" y="1591056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conditions · Misdemeanor vs. felony · What triggers authority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170432"/>
            <a:ext cx="276148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70432"/>
            <a:ext cx="2761488" cy="384048"/>
          </a:xfrm>
          <a:prstGeom prst="roundRect">
            <a:avLst>
              <a:gd name="adj" fmla="val 19048"/>
            </a:avLst>
          </a:prstGeom>
          <a:solidFill>
            <a:srgbClr val="2C5F7A"/>
          </a:solidFill>
          <a:ln/>
        </p:spPr>
      </p:sp>
      <p:sp>
        <p:nvSpPr>
          <p:cNvPr id="16" name="Text 14"/>
          <p:cNvSpPr/>
          <p:nvPr/>
        </p:nvSpPr>
        <p:spPr>
          <a:xfrm>
            <a:off x="6108192" y="1170432"/>
            <a:ext cx="26334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—  Limitations &amp; Prohibited Actions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0" y="1591056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guards CANNOT do · Impersonation · Unlawful search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386584"/>
            <a:ext cx="276148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86584"/>
            <a:ext cx="2761488" cy="384048"/>
          </a:xfrm>
          <a:prstGeom prst="roundRect">
            <a:avLst>
              <a:gd name="adj" fmla="val 19048"/>
            </a:avLst>
          </a:prstGeom>
          <a:solidFill>
            <a:srgbClr val="1A5C3A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2386584"/>
            <a:ext cx="26334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—  Security vs. Law Enforcement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28072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Peace officer vs. private person · Jurisdiction limits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54680" y="2386584"/>
            <a:ext cx="276148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386584"/>
            <a:ext cx="2761488" cy="384048"/>
          </a:xfrm>
          <a:prstGeom prst="roundRect">
            <a:avLst>
              <a:gd name="adj" fmla="val 19048"/>
            </a:avLst>
          </a:prstGeom>
          <a:solidFill>
            <a:srgbClr val="8B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3227832" y="2386584"/>
            <a:ext cx="26334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—  Liability — Personal &amp; Employer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46120" y="28072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arrest · False imprisonment · Civil &amp; criminal exposure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2386584"/>
            <a:ext cx="276148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386584"/>
            <a:ext cx="2761488" cy="384048"/>
          </a:xfrm>
          <a:prstGeom prst="roundRect">
            <a:avLst>
              <a:gd name="adj" fmla="val 19048"/>
            </a:avLst>
          </a:prstGeom>
          <a:solidFill>
            <a:srgbClr val="6B3A00"/>
          </a:solidFill>
          <a:ln/>
        </p:spPr>
      </p:sp>
      <p:sp>
        <p:nvSpPr>
          <p:cNvPr id="28" name="Text 26"/>
          <p:cNvSpPr/>
          <p:nvPr/>
        </p:nvSpPr>
        <p:spPr>
          <a:xfrm>
            <a:off x="6108192" y="2386584"/>
            <a:ext cx="26334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 —  Trespass &amp; Property Law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0" y="28072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property rights · Ejection authority · PC §602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602736"/>
            <a:ext cx="276148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602736"/>
            <a:ext cx="2761488" cy="384048"/>
          </a:xfrm>
          <a:prstGeom prst="roundRect">
            <a:avLst>
              <a:gd name="adj" fmla="val 19048"/>
            </a:avLst>
          </a:prstGeom>
          <a:solidFill>
            <a:srgbClr val="4A1A8A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" y="3602736"/>
            <a:ext cx="26334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 —  Ethics, Communication &amp; Documentation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0233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conduct · Use of force · Incident reporting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54680" y="3602736"/>
            <a:ext cx="276148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54680" y="3602736"/>
            <a:ext cx="2761488" cy="384048"/>
          </a:xfrm>
          <a:prstGeom prst="roundRect">
            <a:avLst>
              <a:gd name="adj" fmla="val 19048"/>
            </a:avLst>
          </a:prstGeom>
          <a:solidFill>
            <a:srgbClr val="005C5C"/>
          </a:solidFill>
          <a:ln/>
        </p:spPr>
      </p:sp>
      <p:sp>
        <p:nvSpPr>
          <p:cNvPr id="36" name="Text 34"/>
          <p:cNvSpPr/>
          <p:nvPr/>
        </p:nvSpPr>
        <p:spPr>
          <a:xfrm>
            <a:off x="3227832" y="3602736"/>
            <a:ext cx="26334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 —  Emergency Response &amp; Officer Safety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46120" y="40233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emergencies · Situational awareness · Self-protection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35040" y="3602736"/>
            <a:ext cx="276148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35040" y="3602736"/>
            <a:ext cx="2761488" cy="384048"/>
          </a:xfrm>
          <a:prstGeom prst="roundRect">
            <a:avLst>
              <a:gd name="adj" fmla="val 19048"/>
            </a:avLst>
          </a:prstGeom>
          <a:solidFill>
            <a:srgbClr val="12193A"/>
          </a:solidFill>
          <a:ln/>
        </p:spPr>
      </p:sp>
      <p:sp>
        <p:nvSpPr>
          <p:cNvPr id="40" name="Text 38"/>
          <p:cNvSpPr/>
          <p:nvPr/>
        </p:nvSpPr>
        <p:spPr>
          <a:xfrm>
            <a:off x="6108192" y="3602736"/>
            <a:ext cx="26334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 —  Knowledge Check &amp; Exam Prep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26480" y="40233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· 100% pass requirement · Certificate of Completion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Upon completion, participants will be able to: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Lic. #122729  |  BPC §7583.7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43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11430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lawful conditions under PC §837 that authorize a citizen's arrest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773936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773936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2E4A7A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77393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177393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security guard authority and peace officer authority under California law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404872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404872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1B2B5E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40487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0200" y="240487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 requirements for transferring custody to law enforcement under PC §847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035808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035808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2E4A7A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0358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0200" y="303580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and employer liability exposure from false arrest and unlawful detention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666744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666744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1B2B5E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66674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00200" y="366674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professional standards to real-world arrest, detention, and trespass scenarios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297680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29768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2E4A7A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4297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00200" y="4297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documentation, communication, and incident reporting practices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Framework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statutory foundation of security officer authority under California law.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20 minutes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36576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Powers to Arrest — BSIS Certification Course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POWER TO ARREST?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|  Legal framework and BSIS authority  |  BPC §7583.7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Lic. #122729  |  BPC §7583.7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1480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BSIS MANDATE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8404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Professions Code §7583.7 requires ALL security guards to complete Power to Arrest training before receiving a guard card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uses the DCA Power to Arrest &amp; Appropriate Use of Force Manual (July 2023)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required — 100% score mandatory to receive Certificate of Completion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is authorized by BSIS to deliver this certification as a licensed Private Patrol Operator, PPO #122729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counts toward your required 3-hour PTA component of the mandatory 8-hour pre-registration training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114800" cy="3611880"/>
          </a:xfrm>
          <a:prstGeom prst="roundRect">
            <a:avLst>
              <a:gd name="adj" fmla="val 2532"/>
            </a:avLst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62763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California security guard is a PRIVATE CITIZEN with a uniform — not a peace officer.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248716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arrest authority comes from the same law that applies to every person on the street — California Penal Code §837.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33756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340156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additional powers are granted by your uniform, your employer, your BSIS license, or the property owner.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Arrest Authority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lawful conditions that authorize a security officer to make a citizen's arrest in California.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20 minutes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36576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Powers to Arrest — BSIS Certification Course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E4A7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PENAL CODE §837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lawful conditions for a citizen's arrest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Lic. #122729  |  Cal. Penal Code §837 | BSIS PTA Manual July 2023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85039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344168"/>
            <a:ext cx="658368" cy="658368"/>
          </a:xfrm>
          <a:prstGeom prst="ellipse">
            <a:avLst/>
          </a:prstGeom>
          <a:solidFill>
            <a:srgbClr val="1A5C3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3441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1216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Offense in Your Presence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1234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§837(1)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156362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offense (misdemeanor OR felony) is committed or attempted in your direct presence. You must personally witness the crime occur. A hunch, a tip, or surveillance footage alone is NOT sufficient for a misdemeanor arrest.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37960" y="1216152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1A5C3A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234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583680" y="143560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observe a person shoplifting. You see an assault in progress. You witness vandalism being committed.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404872"/>
            <a:ext cx="85039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606040"/>
            <a:ext cx="658368" cy="658368"/>
          </a:xfrm>
          <a:prstGeom prst="ellipse">
            <a:avLst/>
          </a:prstGeom>
          <a:solidFill>
            <a:srgbClr val="2E4A7A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606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24780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Felony Committed by the Person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24963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§837(2)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2825496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felony has been committed and you know the person arrested committed it. The felony need not have been committed in your presence — but it MUST have actually occurred.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37960" y="2478024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2E4A7A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24963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83680" y="269748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felony has occurred (confirmed fact) and you have direct evidence linking this specific person to it.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666744"/>
            <a:ext cx="85039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867912"/>
            <a:ext cx="658368" cy="658368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38679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43000" y="373989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Cause — Felony Only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37581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§837(3)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3000" y="4087368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felony HAS IN FACT been committed, AND you have reasonable cause to believe this person committed it. This is the highest-risk condition — using it incorrectly creates serious liability.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37960" y="3739896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8B1A1A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37581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83680" y="395935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felony is confirmed to have occurred. You have objective facts — not just a hunch — linking this person to it.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E4A7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ENCOUNTERS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and ethics in citizen arrest and types of contact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Lic. #122729  |  BSIS PTA Manual §2 | PC §837 | PC §847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88920" cy="373075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788920" cy="777240"/>
          </a:xfrm>
          <a:prstGeom prst="roundRect">
            <a:avLst>
              <a:gd name="adj" fmla="val 11765"/>
            </a:avLst>
          </a:prstGeom>
          <a:solidFill>
            <a:srgbClr val="1A5C3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4300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  Voluntary Contact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975104"/>
            <a:ext cx="2578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is free to leave at any time. Asking questions, checking ID as condition of entry, verbal interaction. No detention has occurred.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3072384"/>
            <a:ext cx="2578608" cy="402336"/>
          </a:xfrm>
          <a:prstGeom prst="roundRect">
            <a:avLst>
              <a:gd name="adj" fmla="val 13636"/>
            </a:avLst>
          </a:prstGeom>
          <a:solidFill>
            <a:srgbClr val="EAF3DE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" y="309067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Keep tone professional. Never imply the person cannot leave unless you have a lawful basis for detention.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3520440"/>
            <a:ext cx="2578608" cy="402336"/>
          </a:xfrm>
          <a:prstGeom prst="roundRect">
            <a:avLst>
              <a:gd name="adj" fmla="val 13636"/>
            </a:avLst>
          </a:prstGeom>
          <a:solidFill>
            <a:srgbClr val="FCEBEB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353872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 NOT block exits. Do NOT physically restrain without a lawful basis.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82112" y="1143000"/>
            <a:ext cx="2788920" cy="373075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1143000"/>
            <a:ext cx="2788920" cy="777240"/>
          </a:xfrm>
          <a:prstGeom prst="roundRect">
            <a:avLst>
              <a:gd name="adj" fmla="val 11765"/>
            </a:avLst>
          </a:prstGeom>
          <a:solidFill>
            <a:srgbClr val="2E4A7A"/>
          </a:solidFill>
          <a:ln/>
        </p:spPr>
      </p:sp>
      <p:sp>
        <p:nvSpPr>
          <p:cNvPr id="16" name="Text 14"/>
          <p:cNvSpPr/>
          <p:nvPr/>
        </p:nvSpPr>
        <p:spPr>
          <a:xfrm>
            <a:off x="3273552" y="114300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Investigative Detention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1975104"/>
            <a:ext cx="2578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Brief, reasonable detention to investigate suspicious circumstances. Must be based on specific, articulable facts — not a hunch. Courts limit this to the shortest time necessary.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072384"/>
            <a:ext cx="2578608" cy="402336"/>
          </a:xfrm>
          <a:prstGeom prst="roundRect">
            <a:avLst>
              <a:gd name="adj" fmla="val 13636"/>
            </a:avLst>
          </a:prstGeom>
          <a:solidFill>
            <a:srgbClr val="EAF3DE"/>
          </a:solidFill>
          <a:ln/>
        </p:spPr>
      </p:sp>
      <p:sp>
        <p:nvSpPr>
          <p:cNvPr id="19" name="Text 17"/>
          <p:cNvSpPr/>
          <p:nvPr/>
        </p:nvSpPr>
        <p:spPr>
          <a:xfrm>
            <a:off x="3328416" y="309067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State your reason clearly. Contact law enforcement promptly. Document everything.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3520440"/>
            <a:ext cx="2578608" cy="402336"/>
          </a:xfrm>
          <a:prstGeom prst="roundRect">
            <a:avLst>
              <a:gd name="adj" fmla="val 13636"/>
            </a:avLst>
          </a:prstGeom>
          <a:solidFill>
            <a:srgbClr val="FCEBEB"/>
          </a:solidFill>
          <a:ln/>
        </p:spPr>
      </p:sp>
      <p:sp>
        <p:nvSpPr>
          <p:cNvPr id="21" name="Text 19"/>
          <p:cNvSpPr/>
          <p:nvPr/>
        </p:nvSpPr>
        <p:spPr>
          <a:xfrm>
            <a:off x="3328416" y="353872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 NOT conduct searches. Do NOT extend detention beyond what's necessary.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89904" y="1143000"/>
            <a:ext cx="2788920" cy="373075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9904" y="1143000"/>
            <a:ext cx="2788920" cy="777240"/>
          </a:xfrm>
          <a:prstGeom prst="roundRect">
            <a:avLst>
              <a:gd name="adj" fmla="val 11765"/>
            </a:avLst>
          </a:prstGeom>
          <a:solidFill>
            <a:srgbClr val="8B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6181344" y="114300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Citizen's Arrest (PC §837)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99632" y="1975104"/>
            <a:ext cx="2578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arrest under one of the three lawful PC §837 conditions. Person is in custody. You MUST notify law enforcement without unnecessary delay under PC §847.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99632" y="3072384"/>
            <a:ext cx="2578608" cy="402336"/>
          </a:xfrm>
          <a:prstGeom prst="roundRect">
            <a:avLst>
              <a:gd name="adj" fmla="val 13636"/>
            </a:avLst>
          </a:prstGeom>
          <a:solidFill>
            <a:srgbClr val="EAF3DE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309067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Clearly communicate the arrest. Use only reasonable force. Call law enforcement immediately.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99632" y="3520440"/>
            <a:ext cx="2578608" cy="402336"/>
          </a:xfrm>
          <a:prstGeom prst="roundRect">
            <a:avLst>
              <a:gd name="adj" fmla="val 13636"/>
            </a:avLst>
          </a:prstGeom>
          <a:solidFill>
            <a:srgbClr val="FCEBEB"/>
          </a:solidFill>
          <a:ln/>
        </p:spPr>
      </p:sp>
      <p:sp>
        <p:nvSpPr>
          <p:cNvPr id="29" name="Text 27"/>
          <p:cNvSpPr/>
          <p:nvPr/>
        </p:nvSpPr>
        <p:spPr>
          <a:xfrm>
            <a:off x="6236208" y="353872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 NOT hold someone for extended periods. Do NOT interrogate. Do NOT search beyond safety pat.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Prohibited Actions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security officers are strictly prohibited from doing — and why it matters legally.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15 minutes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36576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Powers to Arrest — BSIS Certification Course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SECURITY GUARDS CANNOT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legal limits on authority under California law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Lic. #122729  |  PC §837 | BPC §7583.7 | PC §538d | 4th Amendment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8B1A1A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1795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Arrest for Unwitnessed Misdemeanor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47218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did not personally see a misdemeanor occur, you cannot make an arrest for it. No exceptions.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075688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75688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8B1A1A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21122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Conduct Searches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240487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have NO search authority. Pat-downs for officer safety only — no general searches of pockets, bags, or vehicles.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008376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08376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8B1A1A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30449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Impersonate a Peace Officer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" y="333756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yourself as a police officer is a crime under PC §538d and grounds for immediate BSIS license revocation.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941064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941064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8B1A1A">
              <a:alpha val="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" y="3977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Detain Without Lawful Basis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768" y="42702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Detention based on race, appearance, or 'gut feeling' constitutes false imprisonment. No reasonable suspicion = no lawful detention.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14300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14300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8B1A1A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11795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Hold Beyond Reasonable Time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147218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Courts view 20–30 minutes without police notification as crossing into false imprisonment. Call law enforcement immediately.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075688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075688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8B1A1A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773168" y="21122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Use Excessive Force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240487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must be objectively reasonable and proportional to the threat. Handcuffs only during a lawful arrest. Weapons only when facing death/serious injury.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008376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008376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8B1A1A">
              <a:alpha val="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30449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Act Outside Assigned Property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73168" y="333756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authority extends only to the property you are hired to protect. You have no jurisdiction beyond those boundaries.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3941064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941064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8B1A1A">
              <a:alpha val="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773168" y="3977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Conduct Interrogations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73168" y="42702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Interrogating a detained person is a police function. Guards document, observe, and preserve — not question under pressure.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vs. Law Enforcement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distinction between private security personnel and California peace officers.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10 minutes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36576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Powers to Arrest — BSIS Certification Course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 vs. PEACE OFFICER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distinction that protects you legally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Lic. #122729  |  PC §830 | BPC §7582.1 | PC §837 | PC §538d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430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97480" y="1143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06440" y="1143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PEACE OFFICER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8503920" cy="4114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508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Source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9748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 Code §837 — same as any private citizen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0644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§830 et seq. — statutory peace officer authority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947672"/>
            <a:ext cx="8503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9476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Arrest Basis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97480" y="19476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personally witness offense (misdemeanor) or have reasonable cause (felony only)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06440" y="19476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 cause — broader investigative authority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386584"/>
            <a:ext cx="8503920" cy="4114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3865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Authority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97480" y="238658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no right to search persons, bags, or property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06440" y="238658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conduct lawful searches under 4th Amendment frameworks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825496"/>
            <a:ext cx="8503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82549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97480" y="28254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assigned property / contracted area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06440" y="28254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county, or statewide depending on agency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264408"/>
            <a:ext cx="8503920" cy="4114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2644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Power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697480" y="3264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Observe, document, and report only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06440" y="3264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investigate, interview, gather evidence, pursue charges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703320"/>
            <a:ext cx="8503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703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Force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697480" y="3703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Objectively reasonable force — citizen standard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06440" y="3703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Peace officer use-of-force continuum with qualified immunity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142232"/>
            <a:ext cx="8503920" cy="4114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41422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 Penalty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697480" y="41422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charge under PC §538d + BSIS revocation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06440" y="41422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officers cannot impersonate each other in bad faith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4581144"/>
            <a:ext cx="8503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" y="45811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Transfer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697480" y="45811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deliver arrested person to police without unnecessary delay (PC §847)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06440" y="45811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full booking process internally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— Personal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Employer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criminal, civil, and administrative exposure from unlawful arrests and detentions.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20 minutes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36576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Powers to Arrest — BSIS Certification Course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&amp; CIVIL LIABILITY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arrest authority is exceeded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Lic. #122729  |  PC §236 | PC §207 | PC §242 | BPC §480 | BSIS Title 16 CCR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87952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4187952" cy="384048"/>
          </a:xfrm>
          <a:prstGeom prst="roundRect">
            <a:avLst>
              <a:gd name="adj" fmla="val 23810"/>
            </a:avLst>
          </a:prstGeom>
          <a:solidFill>
            <a:srgbClr val="8B1A1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43000"/>
            <a:ext cx="40050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— Criminal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581912"/>
            <a:ext cx="39319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Imprisonment (PC §236) — unlawful restraint of a person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Kidnapping (PC §207) — if restraint involves moving the person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(PC §242) — unlawful application of force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Peace Officer (PC §538d) — criminal charge + BSIS revocation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1143000"/>
            <a:ext cx="4187952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1143000"/>
            <a:ext cx="4187952" cy="384048"/>
          </a:xfrm>
          <a:prstGeom prst="roundRect">
            <a:avLst>
              <a:gd name="adj" fmla="val 23810"/>
            </a:avLst>
          </a:prstGeom>
          <a:solidFill>
            <a:srgbClr val="7B3F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82312" y="1143000"/>
            <a:ext cx="40050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— Civil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581912"/>
            <a:ext cx="39319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arrest lawsuit — damages including lost wages, emotional distress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 infliction of emotional distress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Invasion of privacy claims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Punitive damages if conduct was malicious or oppressive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081528"/>
            <a:ext cx="4187952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81528"/>
            <a:ext cx="4187952" cy="384048"/>
          </a:xfrm>
          <a:prstGeom prst="roundRect">
            <a:avLst>
              <a:gd name="adj" fmla="val 23810"/>
            </a:avLst>
          </a:prstGeom>
          <a:solidFill>
            <a:srgbClr val="1B2B5E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081528"/>
            <a:ext cx="40050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— MACCESS INC.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" y="3520440"/>
            <a:ext cx="39319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Vicarious liability for guard's wrongful acts committed in scope of employment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Negligent hiring or training claims if proper BSIS training was not provided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license jeopardized — BSIS can discipline or revoke PPO license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judgment can extend to the property owner who hired the PPO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90872" y="3081528"/>
            <a:ext cx="4187952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90872" y="3081528"/>
            <a:ext cx="4187952" cy="384048"/>
          </a:xfrm>
          <a:prstGeom prst="roundRect">
            <a:avLst>
              <a:gd name="adj" fmla="val 23810"/>
            </a:avLst>
          </a:prstGeom>
          <a:solidFill>
            <a:srgbClr val="2E4A7A"/>
          </a:solidFill>
          <a:ln/>
        </p:spPr>
      </p:sp>
      <p:sp>
        <p:nvSpPr>
          <p:cNvPr id="20" name="Text 18"/>
          <p:cNvSpPr/>
          <p:nvPr/>
        </p:nvSpPr>
        <p:spPr>
          <a:xfrm>
            <a:off x="4782312" y="3081528"/>
            <a:ext cx="400507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— BSIS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3520440"/>
            <a:ext cx="39319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card suspension or revocation under BPC §480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penalties under Title 16 California Code of Regulations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BSIS reporting of incidents involving force or arrest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 subject to BSIS audit at any time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Trespass &amp;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Law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officer authority on private property and the legal basis for ejection and detention.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10 minutes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36576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Powers to Arrest — BSIS Certification Course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6B3A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TRESPASS LAW &amp; PROPERTY AUTHORITY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§602 | Open land, private property, public accommodation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Lic. #122729  |  PC §602 | PC §837 | BPC §7583.7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1773936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160520" cy="365760"/>
          </a:xfrm>
          <a:prstGeom prst="roundRect">
            <a:avLst>
              <a:gd name="adj" fmla="val 25000"/>
            </a:avLst>
          </a:prstGeom>
          <a:solidFill>
            <a:srgbClr val="6B3A0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43000"/>
            <a:ext cx="3977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Property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563624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owner (or authorized agent) can order any person to leave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acting as agent may demand departure on owner's behalf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to leave after lawful order = misdemeanor trespass (PC §602)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order given and refused, PC §837(1) conditions met — arrest may be lawful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1773936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4160520" cy="365760"/>
          </a:xfrm>
          <a:prstGeom prst="roundRect">
            <a:avLst>
              <a:gd name="adj" fmla="val 25000"/>
            </a:avLst>
          </a:prstGeom>
          <a:solidFill>
            <a:srgbClr val="2E4A7A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43000"/>
            <a:ext cx="3977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Property / Places of Public Accommodation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18888" y="1563624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restrictions on ejection — public has right of access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 specific legitimate reason to remove a person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remove based on protected class (race, religion, disability, etc.)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actions subject to civil rights laws — document every action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044952"/>
            <a:ext cx="4160520" cy="1773936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44952"/>
            <a:ext cx="4160520" cy="365760"/>
          </a:xfrm>
          <a:prstGeom prst="roundRect">
            <a:avLst>
              <a:gd name="adj" fmla="val 25000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044952"/>
            <a:ext cx="3977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Buildings / Commercial Space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3465576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controls terms of access — lease/contract defines scope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may enforce posted rules and conditions of entry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Shopkeeper's Privilege (PC §490.5) — limited merchant detention authority for shoplifting with direct observation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Detention under §490.5 must be brief and for lawful purpose only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3044952"/>
            <a:ext cx="4160520" cy="1773936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044952"/>
            <a:ext cx="4160520" cy="365760"/>
          </a:xfrm>
          <a:prstGeom prst="roundRect">
            <a:avLst>
              <a:gd name="adj" fmla="val 25000"/>
            </a:avLst>
          </a:prstGeom>
          <a:solidFill>
            <a:srgbClr val="1B2B5E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44952"/>
            <a:ext cx="3977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Land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18888" y="3465576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clearly posted or fenced to enforce trespass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warnings should be given before detention in most cases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trespass has separate provisions under PC §602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all warnings, times, and responses for legal protection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Ethics, Communication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Documentation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conduct standards, use of force principles, and proper incident documentation.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15 minutes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36576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Powers to Arrest — BSIS Certification Course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4A1A8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ETHICS, COMMUNICATION &amp; DOCUMENTATION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 |  BPC §7583.7 Section 8  |  Title 16 CCR §643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Lic. #122729  |  BSIS PTA Manual §8 | Title 16 CCR §643(b)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743200" cy="3730752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4A1A8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4300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ETHICS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1581912"/>
            <a:ext cx="2542032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presence without aggression — professional demeanor diffuses 80% of situations before they escalate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every person with dignity regardless of the circumstance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authority to harass, intimidate, or retaliate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Bias-free enforcement — race, gender, appearance are never grounds for contact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in all reports — falsifying documentation is grounds for termination and BSIS revocation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— client and incident information is proprietary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743200" cy="3730752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4300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2E4A7A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14300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STANDARDS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55848" y="1581912"/>
            <a:ext cx="2542032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yourself clearly — name, company, purpose of contact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basis for detention plainly and without threats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law enforcement FIRST, then notify your supervisor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make promises about charges, outcomes, or releases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protocols: clear, concise, documented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identification — name, contact info, what they observed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143000"/>
            <a:ext cx="2651760" cy="373075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143000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14300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81928" y="1581912"/>
            <a:ext cx="2450592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incident report within 1 hour of event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 date, time, location, description of offense, parties involved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exact words used to announce arrest or request departure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scene, injuries, or evidence before anything changes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 — retain per Title 16 CCR §643(b)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must maintain all training records for audit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Officer Safety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emergencies, appropriate response protocols, and maintaining personal safety at all times.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10 minutes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36576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Powers to Arrest — BSIS Certification Course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5C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&amp; OFFICER SAFETY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 |  BSIS PTA Manual §9–10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Lic. #122729  |  BSIS PTA Manual §9 &amp; §10 | BPC §7583.7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88920" cy="373075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005C5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430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Emergency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664208"/>
            <a:ext cx="2578608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— assess the scene for your own safety first</a:t>
            </a:r>
            <a:endParaRPr lang="en-US" sz="9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911 immediately — do NOT delay for supervisor approval</a:t>
            </a:r>
            <a:endParaRPr lang="en-US" sz="9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first aid only to your level of training (CPR/AED if certified)</a:t>
            </a:r>
            <a:endParaRPr lang="en-US" sz="9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scene clear — designate someone to meet EMS at entrance</a:t>
            </a:r>
            <a:endParaRPr lang="en-US" sz="9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 time of discovery, condition of subject, actions taken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82112" y="1143000"/>
            <a:ext cx="2788920" cy="373075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1143000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8B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3273552" y="11430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Threat / Shooter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664208"/>
            <a:ext cx="2578608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— if you can evacuate safely, do so immediately</a:t>
            </a:r>
            <a:endParaRPr lang="en-US" sz="9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— if unable to run, lock down and barricade</a:t>
            </a:r>
            <a:endParaRPr lang="en-US" sz="9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 — as absolute last resort with improvised tools</a:t>
            </a:r>
            <a:endParaRPr lang="en-US" sz="9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911 — provide: location, number of shooters, direction of movement</a:t>
            </a:r>
            <a:endParaRPr lang="en-US" sz="9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law enforcement arrives: hands visible, follow all commands, no sudden movements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9904" y="1143000"/>
            <a:ext cx="2788920" cy="373075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1143000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1B2B5E"/>
          </a:solidFill>
          <a:ln/>
        </p:spPr>
      </p:sp>
      <p:sp>
        <p:nvSpPr>
          <p:cNvPr id="16" name="Text 14"/>
          <p:cNvSpPr/>
          <p:nvPr/>
        </p:nvSpPr>
        <p:spPr>
          <a:xfrm>
            <a:off x="6181344" y="11430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Safety Principles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9632" y="1664208"/>
            <a:ext cx="2578608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awareness at all times — know your exits</a:t>
            </a:r>
            <a:endParaRPr lang="en-US" sz="9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assessment before any contact with a subject</a:t>
            </a:r>
            <a:endParaRPr lang="en-US" sz="9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put yourself between a subject and an escape route</a:t>
            </a:r>
            <a:endParaRPr lang="en-US" sz="9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Blood-borne pathogen precautions: gloves for any physical contact</a:t>
            </a:r>
            <a:endParaRPr lang="en-US" sz="9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hazards: identify chemical, biological, and physical risks at post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Exam Prep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key concepts before the mandatory 100% BSIS examination.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10 minutes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36576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Powers to Arrest — BSIS Certification Course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93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— all questions are exam-style. Discuss each answer before moving on.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Lic. #122729  |  BSIS PTA Exam | 100% Required | BPC §7583.7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9786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97864"/>
            <a:ext cx="7754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what law does a California security guard derive arrest authority?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California Penal Code §837 — the same citizen's arrest law that applies to any private person. Not from their BSIS license or employer.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29384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9842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1984248"/>
            <a:ext cx="7754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sees suspicious behavior but does not witness a crime. Can they detain the person?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32257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Only if there are specific, articulable facts supporting reasonable suspicion — never based on appearance or hunch alone. Pure investigative detentions by guards are legally risky.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71576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7706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770632"/>
            <a:ext cx="7754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a guard do immediately after making a citizen's arrest?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3108960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Notify law enforcement without unnecessary delay and transfer custody — per PC §847. Holding someone without police notification beyond 20–30 minutes risks false imprisonment charges.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502152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5570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557016"/>
            <a:ext cx="7754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finds drugs on a trespasser during a pat-down. Was the search legal?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3895344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Generally no. Guards have no search authority. A pat-down is only lawful for officer safety during a lawful detention and is limited to feeling for weapons — not a general search.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288536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43434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343400"/>
            <a:ext cx="7754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score is required to pass the BSIS Power to Arrest exam?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0120" y="468172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100% — a perfect score is required. There is no partial credit. The exam tests knowledge from the DCA PTA &amp; Appropriate Use of Force Training Manual (July 2023).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TRANSFER — PC §847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what happens after a lawful citizen's arrest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Lic. #122729  |  PC §847 | PC §142 | PC §849 | BSIS PTA Manual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743200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271016"/>
            <a:ext cx="566928" cy="56692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271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" y="130759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Arrest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911096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 PC §837 basis confirmed. Clearly state: 'I am placing you under citizen's arrest for [offense].' Use only reasonable force.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743200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271016"/>
            <a:ext cx="566928" cy="566928"/>
          </a:xfrm>
          <a:prstGeom prst="ellipse">
            <a:avLst/>
          </a:prstGeom>
          <a:solidFill>
            <a:srgbClr val="2E4A7A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1271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50208" y="130759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911 Immediately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911096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law enforcement without unnecessary delay. Provide: your location, description of subject, nature of offense, and your name and company.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143000"/>
            <a:ext cx="2743200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0488" y="1271016"/>
            <a:ext cx="566928" cy="566928"/>
          </a:xfrm>
          <a:prstGeom prst="ellipse">
            <a:avLst/>
          </a:prstGeom>
          <a:solidFill>
            <a:srgbClr val="005C5C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1271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30568" y="130759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the Scene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0488" y="1911096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position. Do not move the subject. Preserve any evidence. Keep witnesses nearby. Limit your own statements until police arrive.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063240"/>
            <a:ext cx="2743200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" y="3191256"/>
            <a:ext cx="566928" cy="566928"/>
          </a:xfrm>
          <a:prstGeom prst="ellipse">
            <a:avLst/>
          </a:prstGeom>
          <a:solidFill>
            <a:srgbClr val="1A5C3A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3191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69848" y="322783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Custody to Officer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" y="3831336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law enforcement arrives, transfer custody. Under PC §847, you are the arresting party — the officer is accepting custody, not re-arresting.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3063240"/>
            <a:ext cx="2743200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10128" y="3191256"/>
            <a:ext cx="566928" cy="566928"/>
          </a:xfrm>
          <a:prstGeom prst="ellipse">
            <a:avLst/>
          </a:prstGeom>
          <a:solidFill>
            <a:srgbClr val="6B3A00"/>
          </a:solidFill>
          <a:ln/>
        </p:spPr>
      </p:sp>
      <p:sp>
        <p:nvSpPr>
          <p:cNvPr id="28" name="Text 26"/>
          <p:cNvSpPr/>
          <p:nvPr/>
        </p:nvSpPr>
        <p:spPr>
          <a:xfrm>
            <a:off x="3310128" y="3191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950208" y="322783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Documentation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10128" y="3831336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incident report within 1 hour. Include all witnesses, times, actions taken, words spoken. Submit to supervisor and retain per BSIS requirements.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0760" y="3063240"/>
            <a:ext cx="2743200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0488" y="3191256"/>
            <a:ext cx="566928" cy="566928"/>
          </a:xfrm>
          <a:prstGeom prst="ellipse">
            <a:avLst/>
          </a:prstGeom>
          <a:solidFill>
            <a:srgbClr val="12193A"/>
          </a:solidFill>
          <a:ln/>
        </p:spPr>
      </p:sp>
      <p:sp>
        <p:nvSpPr>
          <p:cNvPr id="33" name="Text 31"/>
          <p:cNvSpPr/>
          <p:nvPr/>
        </p:nvSpPr>
        <p:spPr>
          <a:xfrm>
            <a:off x="6190488" y="3191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30568" y="322783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MACCESS INC.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90488" y="3831336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arrests must be reported to MACCESS INC. management. PPO is required to maintain records and may be required to report to BSIS per BPC §7583.2.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20440"/>
            <a:ext cx="9144000" cy="16230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" cy="352044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— BSIS Certification Course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8229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BSIS Power to Arrest exam — 100% score required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your Certificate of Completion — your proof of compliance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this course with the Appropriate Use of Force (5 hrs) to complete your full 8-hour pre-registration requirement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PPO (MACCESS INC.) will maintain your training record per Title 16 CCR §643(b)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62102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13308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Patrol Operator  |  PPO License #122729  |  BSIS-Authorized Training Provider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sourced from BSIS Official Training Syllabus (bsis.ca.gov) | DCA PTA Manual July 2023 | Cal. Penal Code §837, §847 | BPC §7583.7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Powers to Arrest — BSIS Certification Course</dc:title>
  <dc:subject>PptxGenJS Presentation</dc:subject>
  <dc:creator>MACCESS INC.</dc:creator>
  <cp:lastModifiedBy>MACCESS INC.</cp:lastModifiedBy>
  <cp:revision>1</cp:revision>
  <dcterms:created xsi:type="dcterms:W3CDTF">2026-06-27T18:53:36Z</dcterms:created>
  <dcterms:modified xsi:type="dcterms:W3CDTF">2026-06-27T18:53:36Z</dcterms:modified>
</cp:coreProperties>
</file>