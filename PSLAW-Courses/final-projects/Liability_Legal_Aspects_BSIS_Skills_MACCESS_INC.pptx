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10515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91440"/>
            <a:ext cx="457200" cy="41148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731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Security LA Worldwide  |  PPO #122729  |  BSIS-Authorized Training Provider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097280"/>
            <a:ext cx="8229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Skills Training — BSIS Required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4 Hours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0" y="3520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Authority: BPC §7583.6(b) | PC §837 | Title 16 CCR §643(b)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7939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42793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Personal, Contractor &amp; Employer Liability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PC §837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 of Liability in Private Security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LAW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LIABILITY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25146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is personally liable for their own wrongful acts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authorization does NOT shield personal liability for crimes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arrest, battery, and defamation are personal torts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guard card can be individually revoked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charges against the guard personally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108960" y="822960"/>
            <a:ext cx="2697480" cy="402336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08960" y="822960"/>
            <a:ext cx="269748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3218688" y="822960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/ PPO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1207008"/>
            <a:ext cx="251460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as PPO: vicariously liable under respondeat superior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hiring: failure to vet leads to liability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Negligent training: failure to certify = increased exposure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 can be disciplined or revoked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contracts: PPO indemnifies client for guard acts
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43600" y="82296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0" y="822960"/>
            <a:ext cx="2788920" cy="347472"/>
          </a:xfrm>
          <a:prstGeom prst="roundRect">
            <a:avLst>
              <a:gd name="adj" fmla="val 26316"/>
            </a:avLst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053328" y="822960"/>
            <a:ext cx="2569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OWNER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35040" y="1207008"/>
            <a:ext cx="260604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may share liability if they directed the guard's actions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Unsafe premises that contribute to incident = owner liability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Contractual indemnification may shift liability back to PPO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may be sued directly if guard is employee vs. contractor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 and several liability in multi-party incidents
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Criminal, Civil &amp; Administrative Liability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PC §837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Legal Liability — Criminal, Civil &amp; BSIS Administrative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LAW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Liability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§242 — Battery: willful unlawful use of force or violence on another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§240 — Assault: unlawful attempt to commit violent injury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§236 — False Imprisonment: unlawful restraint of personal liberty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§207 — Kidnapping: forcible, unlawful movement of a person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§538d — Impersonating a peace officer — serious criminal offense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by a guard of subject's property during detention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B2B5E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&amp; Administrative Liability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Civil: false arrest, battery, emotional distress, invasion of privacy — compensatory + punitive damages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 violations: discrimination against persons with disabilities — federal civil rights exposure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FEHA violations: discriminatory enforcement in California — state civil rights exposure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Administrative: guard card suspension or revocation under BPC §480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license: discipline, conditions, suspension, or revocation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types can arise simultaneously from a single incident
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&amp; Regulations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PC §837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 Code — Key Statutes &amp; Regulations Every Guard Must Know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LAW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41248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11680" y="841248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requirements: 8-hr PTA/AUF pre-registration; 32-hr skills within 6 months (16 within 30 days); 8-hr annual 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1353312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1353312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§7583.7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011680" y="1353312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 to Arrest and Appropriate Use of Force — 100% exam score required. Single provider, within 6 months of application (SB 652, eff. Jan 1 2026)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865376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65376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§7583.9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011680" y="1865376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Criminal history background check — DOJ + FBI via Live Scan required for all applicants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2377440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§7583.20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11680" y="2377440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card renewal — must renew within 60 days of expiration or registration is canceled; $44 renewal fee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2889504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889504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§480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11680" y="2889504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for denial / revocation of guard card — certain criminal convictions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74320" y="3401568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3401568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§7583.2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011680" y="3401568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 — PPO must report use-of-force incidents to BSIS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3913632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3913632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 16 CCR §643(b)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2011680" y="3913632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of Completion — must include: provider name, BSIS license number, course name, dates, hours, and unique serial number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425696"/>
            <a:ext cx="8595360" cy="4572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4425696"/>
            <a:ext cx="155448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§7582.1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2011680" y="4425696"/>
            <a:ext cx="676656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of security guard and licensed PPO — scope of employment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5070348"/>
            <a:ext cx="864108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463040"/>
            <a:ext cx="1371600" cy="1371600"/>
          </a:xfrm>
          <a:prstGeom prst="ellipse">
            <a:avLst/>
          </a:prstGeom>
          <a:solidFill>
            <a:srgbClr val="1B2B5E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463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468880" y="141732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810512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Role of a Security Guard Under California Law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468880" y="30632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 §7583.6(b) | PC §837 | Title 16 CCR §643(b)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B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0"/>
            <a:ext cx="7132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Role, Authority &amp; Limitations — BPC §7582.1 | PC §837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0" y="0"/>
            <a:ext cx="1691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PPO #122729  |  LAW | BPC §7583.6(b)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1A5C3A"/>
          </a:solidFill>
          <a:ln/>
        </p:spPr>
      </p:sp>
      <p:sp>
        <p:nvSpPr>
          <p:cNvPr id="8" name="Text 6"/>
          <p:cNvSpPr/>
          <p:nvPr/>
        </p:nvSpPr>
        <p:spPr>
          <a:xfrm>
            <a:off x="3840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Security Guards CAN 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persons and property on assigned post (BPC §7582.1)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citizen's arrests under PC §837 when lawful conditions are met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Detain shoplifting suspects under PC §490.5 (Shopkeeper's Privilege) with probable cause from personal observation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reasonable and proportionate force during lawful citizen's arrest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 and document incidents for law enforcement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that persons leave private property — and arrest for trespass if they refuse (PC §602 in your presence)
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17720" y="822960"/>
            <a:ext cx="411480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822960"/>
            <a:ext cx="4114800" cy="347472"/>
          </a:xfrm>
          <a:prstGeom prst="roundRect">
            <a:avLst>
              <a:gd name="adj" fmla="val 26316"/>
            </a:avLst>
          </a:prstGeom>
          <a:solidFill>
            <a:srgbClr val="8B1A1A"/>
          </a:solidFill>
          <a:ln/>
        </p:spPr>
      </p:sp>
      <p:sp>
        <p:nvSpPr>
          <p:cNvPr id="12" name="Text 10"/>
          <p:cNvSpPr/>
          <p:nvPr/>
        </p:nvSpPr>
        <p:spPr>
          <a:xfrm>
            <a:off x="4727448" y="822960"/>
            <a:ext cx="3895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Security Guards CANNOT Do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207008"/>
            <a:ext cx="3931920" cy="35661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or imply peace officer authority — PC §538d (criminal offense)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warrantless searches beyond safety pat-down during lawful detention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Compel answers to questions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a citizen's arrest subject longer than necessary before delivering to police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 firearms without a separate BSIS Firearms Permit and training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outside their assigned post or off-duty (no authority beyond assigned scope)
</a:t>
            </a:r>
            <a:endParaRPr lang="en-US" sz="1050" dirty="0"/>
          </a:p>
          <a:p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force as punishment or after threat has ended
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640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Complete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48716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Liability &amp; Legal Aspects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306324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to the online assessment. A score of 100% is required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receive your BSIS Certificate of Completion per BPC §7583.6(b) | PC §837 | Title 16 CCR §643(b).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0" y="41148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MACCESS INC.  |  Private Security LA Worldwide  |  PPO #122729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8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BSIS-Authorized Training Provider  |  4-Hour Course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Liability &amp; Legal Aspects — BSIS Mandatory Course | MACCESS INC.</dc:title>
  <dc:subject>PptxGenJS Presentation</dc:subject>
  <dc:creator>MACCESS INC.</dc:creator>
  <cp:lastModifiedBy>MACCESS INC.</cp:lastModifiedBy>
  <cp:revision>1</cp:revision>
  <dcterms:created xsi:type="dcterms:W3CDTF">2026-06-28T16:08:46Z</dcterms:created>
  <dcterms:modified xsi:type="dcterms:W3CDTF">2026-06-28T16:08:46Z</dcterms:modified>
</cp:coreProperties>
</file>