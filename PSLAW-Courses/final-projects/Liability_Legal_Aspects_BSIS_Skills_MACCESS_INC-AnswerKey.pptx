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INSTRUCTOR USE ONLY — DO NOT DISTRIBUTE TO STUDENTS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251960"/>
            <a:ext cx="91440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 Legal Aspects — BSIS Skills Course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Copy — Retain Securely — Do Not Leave Unattended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 |  Pass: 100%  |  BPC §7583.6(b)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ANSWERS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92240" y="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  |  Pass: 100%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2374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3075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6110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6811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546811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9846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0547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20547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3582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5603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99339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9339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31" name="Text 29"/>
          <p:cNvSpPr/>
          <p:nvPr/>
        </p:nvSpPr>
        <p:spPr>
          <a:xfrm>
            <a:off x="199339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2374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73075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3075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5" name="Text 33"/>
          <p:cNvSpPr/>
          <p:nvPr/>
        </p:nvSpPr>
        <p:spPr>
          <a:xfrm>
            <a:off x="373075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6110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46811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9" name="Text 37"/>
          <p:cNvSpPr/>
          <p:nvPr/>
        </p:nvSpPr>
        <p:spPr>
          <a:xfrm>
            <a:off x="546811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9846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20547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0547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3" name="Text 41"/>
          <p:cNvSpPr/>
          <p:nvPr/>
        </p:nvSpPr>
        <p:spPr>
          <a:xfrm>
            <a:off x="720547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3582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5603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638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199339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99339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51" name="Text 49"/>
          <p:cNvSpPr/>
          <p:nvPr/>
        </p:nvSpPr>
        <p:spPr>
          <a:xfrm>
            <a:off x="199339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2374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73075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3075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5" name="Text 53"/>
          <p:cNvSpPr/>
          <p:nvPr/>
        </p:nvSpPr>
        <p:spPr>
          <a:xfrm>
            <a:off x="373075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6110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546811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6811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9" name="Text 57"/>
          <p:cNvSpPr/>
          <p:nvPr/>
        </p:nvSpPr>
        <p:spPr>
          <a:xfrm>
            <a:off x="546811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9846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720547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0547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63" name="Text 61"/>
          <p:cNvSpPr/>
          <p:nvPr/>
        </p:nvSpPr>
        <p:spPr>
          <a:xfrm>
            <a:off x="720547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3582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25603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67" name="Text 65"/>
          <p:cNvSpPr/>
          <p:nvPr/>
        </p:nvSpPr>
        <p:spPr>
          <a:xfrm>
            <a:off x="25603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638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69" name="Shape 67"/>
          <p:cNvSpPr/>
          <p:nvPr/>
        </p:nvSpPr>
        <p:spPr>
          <a:xfrm>
            <a:off x="199339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99339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71" name="Text 69"/>
          <p:cNvSpPr/>
          <p:nvPr/>
        </p:nvSpPr>
        <p:spPr>
          <a:xfrm>
            <a:off x="199339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52374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3" name="Shape 71"/>
          <p:cNvSpPr/>
          <p:nvPr/>
        </p:nvSpPr>
        <p:spPr>
          <a:xfrm>
            <a:off x="373075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73075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5" name="Text 73"/>
          <p:cNvSpPr/>
          <p:nvPr/>
        </p:nvSpPr>
        <p:spPr>
          <a:xfrm>
            <a:off x="373075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26110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77" name="Shape 75"/>
          <p:cNvSpPr/>
          <p:nvPr/>
        </p:nvSpPr>
        <p:spPr>
          <a:xfrm>
            <a:off x="546811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46811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9" name="Text 77"/>
          <p:cNvSpPr/>
          <p:nvPr/>
        </p:nvSpPr>
        <p:spPr>
          <a:xfrm>
            <a:off x="546811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99846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1" name="Shape 79"/>
          <p:cNvSpPr/>
          <p:nvPr/>
        </p:nvSpPr>
        <p:spPr>
          <a:xfrm>
            <a:off x="720547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20547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</p:spPr>
      </p:sp>
      <p:sp>
        <p:nvSpPr>
          <p:cNvPr id="83" name="Text 81"/>
          <p:cNvSpPr/>
          <p:nvPr/>
        </p:nvSpPr>
        <p:spPr>
          <a:xfrm>
            <a:off x="720547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73582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85" name="Text 8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INSTRUCTOR COPY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 Legal Aspects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Personal/Contractor/Employer Liability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§236 | Tort Law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liability for a security guard arises when the guard: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Follows post orders accurately and acts within their authorized 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Operates within the scope of their lawful authority while on duty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Commits a wrongful act — intentional or negligent — that causes harm to another person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Reports a safety hazard to their supervisor and documents it in the shift log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Personal/Contractor/Employer Liability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Respondeat Superior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doctrine of 'respondeat superior' establishes that: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Guards are personally liable for all use-of-force incidents regardless of scope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Employers may be vicariously liable for wrongful acts by employees acting within the scope of employment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Property owners are responsible for all security incidents that occur on their premises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BSIS bears liability for harm caused by improperly trained guards it licensed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Personal/Contractor/Employer Liability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Negligent Training | Contractor Liability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INC., as the licensed PPO, may face contractor liability specifically when: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guard acts outside the scope of their employment on personal time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The PPO's negligent training or inadequate supervision contributes to a guard's wrongful act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Only when the PPO directly and personally commits the wrongful act in question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property owner fails to maintain safe conditions at the client site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 Legal Aspects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Personal/Contractor/Employer Liability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Indemnification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security services contract indemnification clause generally: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Eliminates all liability for the individual guard regardless of the nature of the 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Transfers liability from the property owner/client to the PPO for incidents occurring within the guard's scope of duties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Makes the individual guard personally responsible for all losses suffered by the client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Provides legal protection exclusively to the property owner against third-party claims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Criminal/Civil/Administrative Liability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§236 | PC §242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who conducts a false or unlawful arrest may face liability in which categories?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Criminal liability only — false arrest is not recognized as a civil tort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Civil liability only — false arrest does not constitute a criminal offense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Criminal, civil, and BSIS administrative liability simultaneously arising from the same act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BSIS administrative liability only — criminal charges require law enforcement to make the arrest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Criminal/Civil/Administrative Liability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§242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under California Penal Code §242 is legally defined as: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 threat or attempt to use violence against another person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Any willful and unlawful use of force or violence upon the person of another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The use of excessive force during an otherwise lawful arrest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unlawful restraint of a person's physical movement without consent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 Legal Aspects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Criminal/Civil/Administrative Liability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§480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administrative liability can result in all of the following EXCEPT: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Suspension of the individual's security guard registration card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Revocation of the individual's security guard registration card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 civil judgment for monetary damages awarded to the injured party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Assessment of civil penalties and regulatory fines against the guard or PPO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Criminal/Civil/Administrative Liability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Negligent Hiring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PPO that fails to conduct required background checks before hiring a guard may face liability under the doctrine of: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False imprisonment — if the guard conducts an unlawful arrest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Negligent hiring — if the guard causes harm that a proper background check would have predicted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Statutory violation only — negligent hiring does not create civil exposure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BSIS administrative penalties exclusively — no civil liability attaches to hiring decisions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Code &amp; Regulations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16 CCR §643(b)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required to appear on a valid BSIS Certificate of Completion?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guard's residential address and Social Security Number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The training provider's name and BSIS license number, course name, dates of training, hours, and a unique sequential serial number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The property owner's authorization signature confirming the guard completed training on site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guard's Social Security Number and DOJ fingerprint ATI number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 Legal Aspects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Code &amp; Regulations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16 CCR §643(b)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Title 16 CCR §643(b), a security guard is required to retain their Certificate of Completion: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For one year from the date of course completion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Until the guard's registration expires or is canceled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For five years following the last date of their security employment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Only for the duration of their employment with the issuing PPO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Code &amp; Regulations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§7583.9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California security guard registration (guard card) is valid for how long before renewal is required?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One year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Two years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Three years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Five years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Code &amp; Regulations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§7583.20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BPC §7583.20, a guard card that has lapsed past its expiration date may still be renewed — with a delinquency fee — within how many days of expiration?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30 days from expiration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60 days from expiration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90 days from expiration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120 days from expiration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 Legal Aspects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Code &amp; Regulations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California agency responsible for enforcing security guard licensing requirements and standards is: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California Highway Patrol (CHP)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The California Department of Justice (DOJ)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Bureau of Security and Investigative Services (BSIS)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California Attorney General's Office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 Security Guard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§7582.1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BPC §7582.1, the defined purpose for which a licensed PPO employs security guards is to: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Enforce municipal laws, ordinances, and regulations on behalf of local government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Arrest persons suspected of criminal activity on public property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Protect persons or property or prevent theft for the PPO's clients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Conduct criminal investigations on behalf of law enforcement agencies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 Security Guard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§7582.1 | PC §830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fundamental legal distinction between a security guard and a California peace officer is that a security guard: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Is authorized to use no level of physical force under any circumstance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Cannot carry or use a firearm regardless of any permit, license, or authorization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Derives all law enforcement authority from PC §837 as a private citizen — not from statutory peace officer powers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Possesses the same law enforcement authority as a sworn officer while operating on private property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 Legal Aspects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 Security Guard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§490.5 | BPC §7582.1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Shopkeeper's Privilege (PC §490.5), a security guard working for a retail merchant may detain a suspected shoplifter when the guard has: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Reasonable suspicion based on a report from another store employee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Probable cause based on their own direct personal observation of the theft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 loss prevention alert generated by the store's automated monitoring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verbal report of the theft from any person present in the store at the 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 Security Guard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 | Annual 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number of continuing education hours a registered security guard must complete annually after the first year of registration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4 hours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6 hours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8 hours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16 hours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 Security Guard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§7583.6(e)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mandatory annual 8-hour continuing education requirement must include a minimum of how many hours specifically covering Appropriate Use of Force topics?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1 hour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2 hours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4 hours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full 8 hours must cover AUF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 Legal Aspects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 | PC §236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makes a lawful citizen's arrest and holds the subject for 45 minutes without contacting law enforcement because their supervisor is temporarily unreachable. This action could result in: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No liability — the guard was acting in good faith while attempting to contact their supervisor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False imprisonment charges and potential BSIS administrative action for unlawful detention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Only an internal policy violation with no resulting legal or regulatory consequences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 positive performance notation for thorough and persistent documentation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| BPC §7583.6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INC.'s California Private Patrol Operator license number — required to appear on all BSIS Certificates of Completion per Title 16 CCR §643(b) — is: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#112233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#100001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#133445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#122729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GUIDE &amp; INSTRUCTOR NOTES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91440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all 20 questions correct required per BPC §7583.6(b)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Assessment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27632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retake required. Student must review all course modules before retaking.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40864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340864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340864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 of Completion ONLY upon 100% score. Sign, date, and retain a copy.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54096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54096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Retention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054096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each student's assessment record for duration of employment. Available to BSIS on request per Title 16 CCR §643(b).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67328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767328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answer key is for MACCESS INC. instructor use only. Never share with students before, during, or after assessment.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48056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448056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 integration is pending equipment acquisition. When active, completed LS records will be stored alongside training records.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Liability &amp; Legal Aspects — BSIS Skills Course — INSTRUCTOR ANSWER KEY</dc:title>
  <dc:subject>PptxGenJS Presentation</dc:subject>
  <dc:creator>MACCESS INC. — CONFIDENTIAL</dc:creator>
  <cp:lastModifiedBy>MACCESS INC. — CONFIDENTIAL</cp:lastModifiedBy>
  <cp:revision>1</cp:revision>
  <dcterms:created xsi:type="dcterms:W3CDTF">2026-06-28T16:08:47Z</dcterms:created>
  <dcterms:modified xsi:type="dcterms:W3CDTF">2026-06-28T16:08:47Z</dcterms:modified>
</cp:coreProperties>
</file>