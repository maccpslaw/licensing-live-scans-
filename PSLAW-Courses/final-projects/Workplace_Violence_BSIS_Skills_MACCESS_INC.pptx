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457200" cy="4087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Security LA Worldwide  |  PPO #122729  |  BSIS-Authorized Training Provider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94360" y="27249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Elective Skills Course — Security Guard Training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Authority: BPC §7583.6(b)  |  CA Labor Code §6401.9 (SB 553, eff. July 1, 2024)  |  Cal/OSHA  |  4 Hours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425196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425196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C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Law Update — SB 553 &amp; Workplace Violence Prevention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05256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Labor Code §6401.9 | Eff. July 1, 2024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14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4114800" cy="384048"/>
          </a:xfrm>
          <a:prstGeom prst="roundRect">
            <a:avLst>
              <a:gd name="adj" fmla="val 21429"/>
            </a:avLst>
          </a:prstGeom>
          <a:solidFill>
            <a:srgbClr val="5C1A1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4124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SB 553 Requires (Eff. July 1, 2024)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3931920" cy="34838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California employer must establish, implement, and maintain a written Workplace Violence Prevention Plan (WVPP)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WVPP must be site-specific — Cal/OSHA model plan available as a starting template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must train ALL employees on the WVPP — training must be repeated annually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Violent Incident Log documenting every threat or violent event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update the plan annually and after every workplace violence incident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Non-retaliation: employees cannot be punished for reporting threats or seeking law enforcement help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Penalties: up to $25,000 for serious violations; up to $158,727 for willful violations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41248"/>
            <a:ext cx="4114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41248"/>
            <a:ext cx="4114800" cy="384048"/>
          </a:xfrm>
          <a:prstGeom prst="roundRect">
            <a:avLst>
              <a:gd name="adj" fmla="val 21429"/>
            </a:avLst>
          </a:prstGeom>
          <a:solidFill>
            <a:srgbClr val="1B2B5E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4124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Types of Workplace Violence (Cal/OSHA)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61872"/>
            <a:ext cx="3931920" cy="34838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— External/Criminal: Violence by persons with no legitimate relationship to the workplace (robbery, trespass, active shooter)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— Customer/Client: Violence directed at employees by clients, patients, customers, or students (most common type)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 — Worker-on-Worker: Violence by a current or former employee, supervisor, or manager against another employee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4 — Personal Relationship: Violence by someone with a personal relationship (domestic violence) that enters the workplace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guards face elevated risk of Type 1 and Type 2 violence (Cal/OSHA)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types require specific prevention measures in the employer's WVPP
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C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94760"/>
            <a:ext cx="9144000" cy="13487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37947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Unusual Behavior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Warning Signs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67004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Worker-to-Worker | Client-to-Customer | Supervisor-to-Subordinate | BSIS Syllabus §11.1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C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 — Worker to Worker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05256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| BSIS Syllabus §11.1 | CA Labor Code §6401.9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14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4114800" cy="384048"/>
          </a:xfrm>
          <a:prstGeom prst="roundRect">
            <a:avLst>
              <a:gd name="adj" fmla="val 21429"/>
            </a:avLst>
          </a:prstGeom>
          <a:solidFill>
            <a:srgbClr val="5C1A1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4124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Warning Signs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3931920" cy="34838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expressions of grievances about perceived unfair treatment, feeling targeted, or being disrespected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irritability, mood swings, or emotional volatility without apparent cause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from coworkers and previously normal social interactions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direct or indirect threats — 'Someone is going to pay for this,' 'I know where they live'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Fixation on prior conflicts, disciplinary actions, or personal grudges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weapons-related items to work or making unusual references to weapons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violence or aggressive behavior in previous employment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41248"/>
            <a:ext cx="4114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41248"/>
            <a:ext cx="4114800" cy="384048"/>
          </a:xfrm>
          <a:prstGeom prst="roundRect">
            <a:avLst>
              <a:gd name="adj" fmla="val 21429"/>
            </a:avLst>
          </a:prstGeom>
          <a:solidFill>
            <a:srgbClr val="2E3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4124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&amp; Situational Indicators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61872"/>
            <a:ext cx="3931920" cy="34838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changes in work performance — missed deadlines, increased errors, poor attendance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reaction to feedback, criticism, or discipline that is disproportionate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personal crisis: domestic problems, financial stress, substance abuse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Blaming others exclusively for all problems — refusing any personal accountability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suggesting the employee feels trapped, hopeless, or has nothing to lose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interest in workplace conflicts of other employees — positioning as an ally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ALL observations objectively — report to supervisor, do NOT confront alone
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C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 — Client/Customer to Employee &amp; Supervisor to Subordinate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05256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| BSIS Syllabus §11.1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14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4114800" cy="384048"/>
          </a:xfrm>
          <a:prstGeom prst="roundRect">
            <a:avLst>
              <a:gd name="adj" fmla="val 21429"/>
            </a:avLst>
          </a:prstGeom>
          <a:solidFill>
            <a:srgbClr val="7B450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4124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Customer to Employee Warning Signs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3931920" cy="34838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verbal aggression — profanity, personal insults, raised voice that is not de-escalating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intimidation — invading personal space, blocking exits, pointing, aggressive gesturing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contacts with same employee that feel threatening or obsessive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of entitlement combined with threats when denied: 'You'll regret this'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prior aggressive or threatening behavior at this location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signs of intoxication combined with agitation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violence: most common form — security guards are a primary target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41248"/>
            <a:ext cx="4114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41248"/>
            <a:ext cx="4114800" cy="384048"/>
          </a:xfrm>
          <a:prstGeom prst="roundRect">
            <a:avLst>
              <a:gd name="adj" fmla="val 21429"/>
            </a:avLst>
          </a:prstGeom>
          <a:solidFill>
            <a:srgbClr val="1B2B5E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4124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to Subordinate Warning Signs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61872"/>
            <a:ext cx="3931920" cy="34838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of humiliation, public criticism, or belittling of specific employees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Disproportionate disciplinary actions or selective enforcement — targeting individual employees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termination used as a means of control rather than legitimate management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tactics — removing employees from projects, communications, or team activities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Retaliation against employees who report safety concerns or harassment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climate of fear where employees are afraid to report problems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Guard's role: document and report to MACCESS INC. management — do not take sides in personnel matters
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94760"/>
            <a:ext cx="9144000" cy="13487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37947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 Management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67004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anger cycle | De-escalation strategies | The guard's role in managing volatile encounters | BSIS Syllabus §11.2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Anger — The Escalation Cycle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05256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| BSIS Syllabus §11.2 | BPC §7583.7(b)(6)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1005840" cy="731520"/>
          </a:xfrm>
          <a:prstGeom prst="roundRect">
            <a:avLst>
              <a:gd name="adj" fmla="val 8750"/>
            </a:avLst>
          </a:prstGeom>
          <a:solidFill>
            <a:srgbClr val="1A5C3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41248"/>
            <a:ext cx="1005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TRIGGER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89888" y="841248"/>
            <a:ext cx="7360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injustice, frustration, fear, or threat — the starting point of the anger cycle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85953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45920"/>
            <a:ext cx="1005840" cy="731520"/>
          </a:xfrm>
          <a:prstGeom prst="roundRect">
            <a:avLst>
              <a:gd name="adj" fmla="val 8750"/>
            </a:avLst>
          </a:prstGeom>
          <a:solidFill>
            <a:srgbClr val="7B450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645920"/>
            <a:ext cx="1005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ESCALATION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89888" y="1645920"/>
            <a:ext cx="7360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tension — voice louder, body language aggressive, reasoning impaired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50592"/>
            <a:ext cx="85953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50592"/>
            <a:ext cx="1005840" cy="731520"/>
          </a:xfrm>
          <a:prstGeom prst="roundRect">
            <a:avLst>
              <a:gd name="adj" fmla="val 8750"/>
            </a:avLst>
          </a:prstGeom>
          <a:solidFill>
            <a:srgbClr val="8B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450592"/>
            <a:ext cx="1005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CRISIS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89888" y="2450592"/>
            <a:ext cx="7360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of anger — violence risk is highest — de-escalation is still possible but requires skilled intervention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255264"/>
            <a:ext cx="85953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55264"/>
            <a:ext cx="1005840" cy="731520"/>
          </a:xfrm>
          <a:prstGeom prst="roundRect">
            <a:avLst>
              <a:gd name="adj" fmla="val 8750"/>
            </a:avLst>
          </a:prstGeom>
          <a:solidFill>
            <a:srgbClr val="1B4A8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255264"/>
            <a:ext cx="1005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RECOVERY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89888" y="3255264"/>
            <a:ext cx="7360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begins to drop — person may feel embarrassed or regret — do not resume confrontation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059936"/>
            <a:ext cx="85953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059936"/>
            <a:ext cx="1005840" cy="731520"/>
          </a:xfrm>
          <a:prstGeom prst="roundRect">
            <a:avLst>
              <a:gd name="adj" fmla="val 8750"/>
            </a:avLst>
          </a:prstGeom>
          <a:solidFill>
            <a:srgbClr val="1A5C3A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059936"/>
            <a:ext cx="1005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POST-CRISIS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89888" y="4059936"/>
            <a:ext cx="7360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calm returns — document the incident — follow up through proper channels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 De-escalation — Guard's Role &amp; Boundaries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05256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| BSIS Syllabus §11.2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14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4114800" cy="384048"/>
          </a:xfrm>
          <a:prstGeom prst="roundRect">
            <a:avLst>
              <a:gd name="adj" fmla="val 21429"/>
            </a:avLst>
          </a:prstGeom>
          <a:solidFill>
            <a:srgbClr val="2E3A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4124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 Strategies for Angry Persons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3931920" cy="34838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 — your tone and body language model the response you want from the other person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your voice when they raise theirs — do not match their energy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their name if known — humanizes the interaction and breaks the anger cycle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emotion without validating the behavior: 'I can see you're very frustrated'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them an 'out' — a face-saving choice that lets them de-escalate without feeling defeated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distance — do not crowd, do not touch unless required for safety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time — 'Let me get someone who can help resolve this' — buys space without capitulation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41248"/>
            <a:ext cx="4114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41248"/>
            <a:ext cx="4114800" cy="384048"/>
          </a:xfrm>
          <a:prstGeom prst="roundRect">
            <a:avLst>
              <a:gd name="adj" fmla="val 21429"/>
            </a:avLst>
          </a:prstGeom>
          <a:solidFill>
            <a:srgbClr val="8B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4124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Guard's Limits — When to Escalate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61872"/>
            <a:ext cx="3931920" cy="34838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a therapist — do not try to resolve deep personal grievances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de-escalation is not working after 2-3 minutes: request backup, notify supervisor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physical threat appears imminent: create distance, call 911, do not attempt to restrain alone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argue about who is 'right' — focus on the behavior, not the underlying grievance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issue ultimatums unless prepared to follow through immediately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 significant angry encounter in writing — date, time, parties, what was said, outcome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policy: report all threatening encounters to your supervisor within 1 hour
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5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94760"/>
            <a:ext cx="9144000" cy="13487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37947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Valuing Diversity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67004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cultural differences affect workplace conflict | Guard's role in equitable, consistent enforcement | BSIS Syllabus §11.3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C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in Workplace Violence Prevention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05256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| BSIS Syllabus §11.3 | FEHA | BPC §7583.6(b)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14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4114800" cy="384048"/>
          </a:xfrm>
          <a:prstGeom prst="roundRect">
            <a:avLst>
              <a:gd name="adj" fmla="val 21429"/>
            </a:avLst>
          </a:prstGeom>
          <a:solidFill>
            <a:srgbClr val="005C5C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4124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Influences on Conflict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3931920" cy="34838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expression varies across cultures — what appears aggressive may be normal communication in another cultural context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vs. indirect communication: some cultures express disagreement loudly and openly; others communicate displeasure more subtly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distance: attitudes toward authority and supervisors differ by cultural background — some employees are conditioned not to challenge authority openly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interpret culturally unfamiliar behavior as inherently threatening — investigate before assuming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 can cause misunderstandings that escalate into apparent conflict — use translation tools, remain patient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observed behaviors only — never document cultural background or national origin as a risk factor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41248"/>
            <a:ext cx="4114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41248"/>
            <a:ext cx="4114800" cy="384048"/>
          </a:xfrm>
          <a:prstGeom prst="roundRect">
            <a:avLst>
              <a:gd name="adj" fmla="val 21429"/>
            </a:avLst>
          </a:prstGeom>
          <a:solidFill>
            <a:srgbClr val="1A5C3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4124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Equitable Enforcement &amp; Guard's Role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61872"/>
            <a:ext cx="3931920" cy="34838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standard to every person regardless of race, ethnicity, religion, gender, age, or national origin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enforcement of workplace violence policies is a FEHA violation and creates civil liability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your own implicit biases — your response to an angry white male vs. an angry Black male must be identical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access: employees with limited English have the same right to report workplace violence — seek an interpreter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teams are stronger: inclusion reduces the resentment and isolation that drive Type 3 violence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community trust through consistency — people comply with authority they see as fair and impartial
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94760"/>
            <a:ext cx="9144000" cy="13487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37947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Security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67004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yourself on the job | Environmental design | Situational awareness | Active shooter response | BSIS Syllabus §11.4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Security — Guard Safety in a Violent Workplace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05256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| BSIS Syllabus §11.4 | Cal/OSHA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14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4114800" cy="384048"/>
          </a:xfrm>
          <a:prstGeom prst="roundRect">
            <a:avLst>
              <a:gd name="adj" fmla="val 21429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4124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Security Measures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3931920" cy="34838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CPTED (Crime Prevention Through Environmental Design): proper lighting, sightlines, controlled access, elimination of blind spots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control: secure all entry points — ensure only authorized persons reach sensitive areas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buttons and duress alarms: know the location and function of every alarm at your post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coverage: know your camera positions and which areas have gaps in coverage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layout: position front-facing staff so they have a clear exit route behind them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devices: confirm your radio is charged and tested before every shift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awareness: review any prior incident history for your assignment before starting patrol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41248"/>
            <a:ext cx="4114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41248"/>
            <a:ext cx="4114800" cy="384048"/>
          </a:xfrm>
          <a:prstGeom prst="roundRect">
            <a:avLst>
              <a:gd name="adj" fmla="val 21429"/>
            </a:avLst>
          </a:prstGeom>
          <a:solidFill>
            <a:srgbClr val="2E3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4124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Situational Awareness &amp; Response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61872"/>
            <a:ext cx="3931920" cy="34838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alert (baseline): maintain continuous relaxed awareness — know who is around you at all times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your instincts: if something feels wrong, act on the training — don't dismiss it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Reactionary gap: maintain 6-10 feet from unknown or agitated persons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 system: for high-risk contacts, request backup — do not approach alone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Run-Hide-Fight: active shooter protocol — your first duty is evacuate civilians, not engage the threat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law enforcement arrives: hands visible, follow all commands, announce yourself clearly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Post-incident: after any violent incident, seek a supervisor debrief and document your own wellbeing
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Shooter &amp; Violent Incident Response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05256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| BSIS Syllabus §11.4 | DHS Run-Hide-Fight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1325880" cy="1207008"/>
          </a:xfrm>
          <a:prstGeom prst="roundRect">
            <a:avLst>
              <a:gd name="adj" fmla="val 6818"/>
            </a:avLst>
          </a:prstGeom>
          <a:solidFill>
            <a:srgbClr val="1A5C3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41248"/>
            <a:ext cx="1325880" cy="1207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841248"/>
            <a:ext cx="7040880" cy="12070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safe escape path exists — leave immediately. Leave belongings. Help others escape if possible. Do not let others stop you. Call 911 from a safe distance.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67128"/>
            <a:ext cx="859536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67128"/>
            <a:ext cx="1325880" cy="1207008"/>
          </a:xfrm>
          <a:prstGeom prst="roundRect">
            <a:avLst>
              <a:gd name="adj" fmla="val 6818"/>
            </a:avLst>
          </a:prstGeom>
          <a:solidFill>
            <a:srgbClr val="2E3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167128"/>
            <a:ext cx="1325880" cy="1207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2167128"/>
            <a:ext cx="7040880" cy="12070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escape is not possible — get out of the shooter's view. Lock/barricade the door. Silence your phone. Turn off lights. Stay low. Remain quiet until law enforcement clears.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493008"/>
            <a:ext cx="859536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493008"/>
            <a:ext cx="1325880" cy="1207008"/>
          </a:xfrm>
          <a:prstGeom prst="roundRect">
            <a:avLst>
              <a:gd name="adj" fmla="val 6818"/>
            </a:avLst>
          </a:prstGeom>
          <a:solidFill>
            <a:srgbClr val="8B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493008"/>
            <a:ext cx="1325880" cy="1207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3493008"/>
            <a:ext cx="7040880" cy="12070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resort only — if your life is in imminent danger. Act aggressively. Improvise weapons. Commit fully to the action. Yell to disorient and attract attention.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guards: your PRIMARY role is protecting lives — not engaging the threat. Evacuate and call 911.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5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94760"/>
            <a:ext cx="9144000" cy="13487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37947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67004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553 Violent Incident Log | What must be reported | MACCESS INC. chain of command | Documentation standards | BSIS Syllabus §11.5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867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— What Must Be Reported &amp; When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05256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| BSIS Syllabus §11.5 | CA Labor Code §6401.9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14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4114800" cy="384048"/>
          </a:xfrm>
          <a:prstGeom prst="roundRect">
            <a:avLst>
              <a:gd name="adj" fmla="val 21429"/>
            </a:avLst>
          </a:prstGeom>
          <a:solidFill>
            <a:srgbClr val="1A5C3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4124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Requires Reporting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3931920" cy="34838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threat of violence — direct or indirect — made to or by an employee or client at the post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physical act of violence — including pushing, grabbing, or striking — regardless of injury outcome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situation where an employee feared for their safety, even if no physical contact occurred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behavior that may indicate a planned violent act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weapon observed on premises by an unauthorized person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shooter or armed threat — call 911 first, notify supervisor immediately after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553 (Labor Code §6401.9): employers MUST log all violent incidents — your report feeds that log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41248"/>
            <a:ext cx="4114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41248"/>
            <a:ext cx="4114800" cy="384048"/>
          </a:xfrm>
          <a:prstGeom prst="roundRect">
            <a:avLst>
              <a:gd name="adj" fmla="val 21429"/>
            </a:avLst>
          </a:prstGeom>
          <a:solidFill>
            <a:srgbClr val="1B2B5E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4124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Report — Chain of Command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61872"/>
            <a:ext cx="3931920" cy="34838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Ensure safety: remove yourself and others from immediate danger before reporting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Call 911 if there is any immediate threat to life — do not delay for paperwork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Notify your MACCESS INC. supervisor immediately — verbal first, written within 1 hour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Complete a written incident report: date/time/location, parties involved, exactly what was said and done, witnesses, actions taken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Preserve evidence: do not clean up the area, save CCTV footage, collect witness contact info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Client notification: MACCESS INC. management will notify the client — not the guard directly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Anti-retaliation: employees who report threats cannot be punished — Labor Code §6401.9
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553 Violent Incident Log &amp; Documentation Requirements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05256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| CA Labor Code §6401.9 | Cal/OSHA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8595360" cy="384048"/>
          </a:xfrm>
          <a:prstGeom prst="roundRect">
            <a:avLst>
              <a:gd name="adj" fmla="val 21429"/>
            </a:avLst>
          </a:prstGeom>
          <a:solidFill>
            <a:srgbClr val="1A5C3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4124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 Incident Log — Required Elements (CA Labor Code §6401.9)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4838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time, and location of the incident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workplace violence (Type 1 / 2 / 3 / 4) — see Module 1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of the incident: what occurred, what was threatened or done, who was involved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who perpetrated the violence (stranger, customer, coworker, supervisor, domestic partner, etc.)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Circumstances at the time of the incident — staffing levels, activities underway, location characteristics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of the incident — injuries, medical treatment required, law enforcement contacted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of persons involved (employees by job title only to protect confidentiality)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must be maintained for a minimum of 5 years and made available to employees and Cal/OSHA on request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maintains the Violent Incident Log for the PPO — your written incident report is the source document that feeds it
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5486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0" y="1783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359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Violence — BSIS Elective Skills Course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880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the online assessment. A score of 100% is required to receive your Certificate of Completion per BPC §7583.6(b).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BPC §7583.6(b)  |  CA Labor Code §6401.9  |  Cal/OSHA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Workplace Violence — BSIS Elective Course | MACCESS INC.</dc:title>
  <dc:subject>PptxGenJS Presentation</dc:subject>
  <dc:creator>MACCESS INC.</dc:creator>
  <cp:lastModifiedBy>MACCESS INC.</cp:lastModifiedBy>
  <cp:revision>1</cp:revision>
  <dcterms:created xsi:type="dcterms:W3CDTF">2026-06-28T17:42:05Z</dcterms:created>
  <dcterms:modified xsi:type="dcterms:W3CDTF">2026-06-28T17:42:05Z</dcterms:modified>
</cp:coreProperties>
</file>