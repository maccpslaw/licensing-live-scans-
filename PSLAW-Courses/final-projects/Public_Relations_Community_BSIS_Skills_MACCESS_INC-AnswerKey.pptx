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INSTRUCTOR USE ONLY — DO NOT DISTRIBUTE TO STUDENTS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4251960"/>
            <a:ext cx="9144000" cy="9144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KEY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1887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 — BSIS Skills Course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Copy — Retain Securely — Do Not Leave Unattended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Questions  |  Pass: 100%  |  BPC §7583.6(b)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43159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66360" y="43159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28,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— ALL ANSWERS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92240" y="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Q  |  Pass: 100%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8638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99339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99339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1" name="Text 9"/>
          <p:cNvSpPr/>
          <p:nvPr/>
        </p:nvSpPr>
        <p:spPr>
          <a:xfrm>
            <a:off x="199339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2374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73075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6110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46811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6811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546811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9846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7205472" y="896112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05472" y="896112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23" name="Text 21"/>
          <p:cNvSpPr/>
          <p:nvPr/>
        </p:nvSpPr>
        <p:spPr>
          <a:xfrm>
            <a:off x="7205472" y="896112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35824" y="89611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5603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5603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27" name="Text 25"/>
          <p:cNvSpPr/>
          <p:nvPr/>
        </p:nvSpPr>
        <p:spPr>
          <a:xfrm>
            <a:off x="25603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199339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99339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199339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52374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73075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3075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5" name="Text 33"/>
          <p:cNvSpPr/>
          <p:nvPr/>
        </p:nvSpPr>
        <p:spPr>
          <a:xfrm>
            <a:off x="373075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6110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546811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39" name="Text 37"/>
          <p:cNvSpPr/>
          <p:nvPr/>
        </p:nvSpPr>
        <p:spPr>
          <a:xfrm>
            <a:off x="546811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99846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1" name="Shape 39"/>
          <p:cNvSpPr/>
          <p:nvPr/>
        </p:nvSpPr>
        <p:spPr>
          <a:xfrm>
            <a:off x="7205472" y="1609344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05472" y="1609344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43" name="Text 41"/>
          <p:cNvSpPr/>
          <p:nvPr/>
        </p:nvSpPr>
        <p:spPr>
          <a:xfrm>
            <a:off x="7205472" y="1609344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35824" y="1609344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25603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25603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47" name="Text 45"/>
          <p:cNvSpPr/>
          <p:nvPr/>
        </p:nvSpPr>
        <p:spPr>
          <a:xfrm>
            <a:off x="25603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Q11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8638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199339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99339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1" name="Text 49"/>
          <p:cNvSpPr/>
          <p:nvPr/>
        </p:nvSpPr>
        <p:spPr>
          <a:xfrm>
            <a:off x="199339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52374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3" name="Shape 51"/>
          <p:cNvSpPr/>
          <p:nvPr/>
        </p:nvSpPr>
        <p:spPr>
          <a:xfrm>
            <a:off x="373075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73075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55" name="Text 53"/>
          <p:cNvSpPr/>
          <p:nvPr/>
        </p:nvSpPr>
        <p:spPr>
          <a:xfrm>
            <a:off x="373075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Q13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6110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57" name="Shape 55"/>
          <p:cNvSpPr/>
          <p:nvPr/>
        </p:nvSpPr>
        <p:spPr>
          <a:xfrm>
            <a:off x="546811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59" name="Text 57"/>
          <p:cNvSpPr/>
          <p:nvPr/>
        </p:nvSpPr>
        <p:spPr>
          <a:xfrm>
            <a:off x="546811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Q14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9846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7205472" y="2322576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205472" y="2322576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63" name="Text 61"/>
          <p:cNvSpPr/>
          <p:nvPr/>
        </p:nvSpPr>
        <p:spPr>
          <a:xfrm>
            <a:off x="7205472" y="2322576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Q15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35824" y="2322576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5" name="Shape 63"/>
          <p:cNvSpPr/>
          <p:nvPr/>
        </p:nvSpPr>
        <p:spPr>
          <a:xfrm>
            <a:off x="25603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25603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67" name="Text 65"/>
          <p:cNvSpPr/>
          <p:nvPr/>
        </p:nvSpPr>
        <p:spPr>
          <a:xfrm>
            <a:off x="25603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Q16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78638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69" name="Shape 67"/>
          <p:cNvSpPr/>
          <p:nvPr/>
        </p:nvSpPr>
        <p:spPr>
          <a:xfrm>
            <a:off x="199339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199339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1" name="Text 69"/>
          <p:cNvSpPr/>
          <p:nvPr/>
        </p:nvSpPr>
        <p:spPr>
          <a:xfrm>
            <a:off x="199339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Q17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252374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3" name="Shape 71"/>
          <p:cNvSpPr/>
          <p:nvPr/>
        </p:nvSpPr>
        <p:spPr>
          <a:xfrm>
            <a:off x="373075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4" name="Shape 72"/>
          <p:cNvSpPr/>
          <p:nvPr/>
        </p:nvSpPr>
        <p:spPr>
          <a:xfrm>
            <a:off x="373075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5" name="Text 73"/>
          <p:cNvSpPr/>
          <p:nvPr/>
        </p:nvSpPr>
        <p:spPr>
          <a:xfrm>
            <a:off x="373075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Q18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426110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77" name="Shape 75"/>
          <p:cNvSpPr/>
          <p:nvPr/>
        </p:nvSpPr>
        <p:spPr>
          <a:xfrm>
            <a:off x="546811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546811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7B3F00"/>
          </a:solidFill>
          <a:ln/>
        </p:spPr>
      </p:sp>
      <p:sp>
        <p:nvSpPr>
          <p:cNvPr id="79" name="Text 77"/>
          <p:cNvSpPr/>
          <p:nvPr/>
        </p:nvSpPr>
        <p:spPr>
          <a:xfrm>
            <a:off x="546811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Q19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99846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81" name="Shape 79"/>
          <p:cNvSpPr/>
          <p:nvPr/>
        </p:nvSpPr>
        <p:spPr>
          <a:xfrm>
            <a:off x="7205472" y="3035808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205472" y="3035808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1B2B5E"/>
          </a:solidFill>
          <a:ln/>
        </p:spPr>
      </p:sp>
      <p:sp>
        <p:nvSpPr>
          <p:cNvPr id="83" name="Text 81"/>
          <p:cNvSpPr/>
          <p:nvPr/>
        </p:nvSpPr>
        <p:spPr>
          <a:xfrm>
            <a:off x="7205472" y="3035808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Q20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7735824" y="3035808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85" name="Shape 83"/>
          <p:cNvSpPr/>
          <p:nvPr/>
        </p:nvSpPr>
        <p:spPr>
          <a:xfrm>
            <a:off x="256032" y="3749040"/>
            <a:ext cx="1627632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256032" y="3749040"/>
            <a:ext cx="530352" cy="621792"/>
          </a:xfrm>
          <a:prstGeom prst="roundRect">
            <a:avLst>
              <a:gd name="adj" fmla="val 12069"/>
            </a:avLst>
          </a:prstGeom>
          <a:solidFill>
            <a:srgbClr val="8B1A1A"/>
          </a:solidFill>
          <a:ln/>
        </p:spPr>
      </p:sp>
      <p:sp>
        <p:nvSpPr>
          <p:cNvPr id="87" name="Text 85"/>
          <p:cNvSpPr/>
          <p:nvPr/>
        </p:nvSpPr>
        <p:spPr>
          <a:xfrm>
            <a:off x="256032" y="3749040"/>
            <a:ext cx="530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Q21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786384" y="374904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B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89" name="Text 87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INSTRUCTOR COPY — 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&amp; Discrimination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FEHA | Gov. Code §12940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observes a colleague making repeated unwanted sexual comments to a coworker. The guard is required to: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Ignore it — it is a personal matter between the two colleagues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Report it to their supervisor and document the incident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Intervene only if the targeted coworker requests help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Allow the property owner to manage personnel matters without guard involvement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&amp; Discrimination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FEHA | Civil Rights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Racial discrimination in security enforcement occurs when a guard: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Applies post orders consistently to all persons regardless of background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Selects which individuals to approach or detain based on race or ethnicity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Maintains uniform patrol schedules without adjustment for post conditions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Verifies identification credentials for all persons entering a controlled area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Harassment &amp; Discrimination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FEHA | BPC §7583.6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guard's enforcement decisions must be based exclusively on: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The property manager's standing preferences about who should be monitored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Race and prior criminal history — the most relevant risk factors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Specific, observed behaviors — never on appearance or demographic characteristics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guard's professional experience and instincts about risk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&amp; Stereotyping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 | PC §13519.4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California law (PC §13519.4), which type of law enforcement action is explicitly prohibited?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Use of force against resisting subjects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Detention based on race, gender, sexual orientation, religion, or national origin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Enforcement of trespass law on private property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Video recording of incidents involving use of force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&amp; Stereotyping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Ethics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 who maintains a professional, non-aggressive command presence accomplishes all of the following EXCEPT: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Reducing the likelihood of physical confrontation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Building public confidence in the security operation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Communicating authority through professionalism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Maximizing the guard's personal use-of-force options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&amp; Stereotyping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Ethics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behavior is INCONSISTENT with the BSIS professional conduct standard for security guards?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Maintaining consistent enforcement regardless of a person's appearance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Projecting calm authority through posture and demeanor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Applying more scrutiny to individuals whose appearance the guard finds suspicious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Documenting only observable, objective behaviors in incident reports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Skills &amp; Crisis Intervention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crisis intervention is most effective when a guard: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Raises their voice to establish authority and signal seriousness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Speaks slowly and calmly, using the person's name when known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Issues clear ultimatums with immediate stated consequences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Steps back and avoids any verbal engagement to prevent escalation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Skills &amp; Crisis Intervention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listening during a difficult interaction requires the guard to: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Wait for their turn to speak and prepare their response while the person talks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Focus primarily on identifying grounds for arrest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Fully attend to the person, acknowledge their concerns, and confirm understanding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Document the conversation in real time rather than engaging verbally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 Skills &amp; Crisis Intervention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person becomes emotionally distressed at a security post, the guard's FIRST goal is to: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Identify whether the distress indicates criminal intent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Establish grounds for detention if the behavior disrupts operations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Establish rapport and stabilize the situation before issuing directives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Contact law enforcement immediately and maintain distance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Diversity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Valuing diversity in a security operation means: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Treating every person exactly the same regardless of context or individual needs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Recognizing and respectfully adapting to differences in background, culture, and identity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Applying statistically informed risk assessments to persons from higher-crime demographics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Concentrating diversity awareness efforts on race and gender only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Diversity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 | FEHA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 is stationed at a location with many non-English-speaking visitors. The professional response to a language barrier is to: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Require all visitors to communicate in English before receiving assistance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Direct non-English speakers to a separate area until an interpreter arrives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Use translation tools, simple language, and respectful non-verbal communication to assist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Refer non-English speakers to a phone number and continue patrol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Diversity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FEHA | Title VII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expression — including wearing religious clothing or symbols — in a public or commercial setting is protected under: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BPC §7583.7 only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The California Fair Employment and Housing Act and Title VII of the Civil Rights Act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BSIS administrative code only, not federal civil rights law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property owner's discretion on a site-by-site basis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Abuse &amp; Mental Illness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observable signs of stimulant drug intoxication (methamphetamine, cocaine) include: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Slurred speech, drooping eyelids, and extremely slow reaction 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Rapid speech, heightened agitation, dilated pupils, and excessive energy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Calm demeanor accompanied by marked disorientation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Confusion, extremely slow response, and drooping facial features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Abuse &amp; Mental Illness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encountering a person showing signs of a mental health episode on post, the guard's BEST initial response is to: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Immediately detain the person for their own safety and the safety of others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Apply early physical restraint to prevent escalation before it becomes dangerous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Approach calmly, reduce environmental stimuli, speak slowly, and contact appropriate support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Ignore the situation unless property damage or a physical assault occurs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Substance Abuse &amp; Mental Illness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Training Manual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under the influence of a central nervous system depressant (alcohol, opioids) is most likely to display: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Hyperactivity, extreme suspicion, and rapid eye movement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Excessive energy, dilated pupils, and rapid, pressured speech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Slurred speech, impaired coordination, and slow or absent response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Aggressive behavior combined with disorganized, rapid speech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Professionalism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of Ethics | BPC §7583.6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guard's uniform and professional appearance reflect on: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Only the individual guard's personal reputation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Only MACCESS INC. as the employing PPO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The guard personally, MACCESS INC. as the PPO, and the client — all three parties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The property owner exclusively — the guard is just following orders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Professionalism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of Ethics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following behaviors is INCOMPATIBLE with BSIS ethical standards for security guards?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Treating all members of the public with equal courtesy and professionalism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Using only the minimum level of force reasonably necessary for the situation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Accepting gifts or favors from vendors or clients in exchange for overlooking a violation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Maintaining complete and accurate incident logs and reports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&amp; Professionalism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of Ethics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supervisor instructs a guard to make a false statement in an incident report. The guard should: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Comply with the supervisor's instruction — they have authority over report content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Comply only if the underlying incident was minor and unlikely to be reviewed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Refuse the instruction and report the request to MACCESS INC. management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Complete the report as directed but make a private written note of the discrepancy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38912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5943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ANSWER KEY — CONFIDENTIAL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Relations &amp; Community — BSIS Skills Course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28600" y="512064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92608" y="640080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7" name="Text 5"/>
          <p:cNvSpPr/>
          <p:nvPr/>
        </p:nvSpPr>
        <p:spPr>
          <a:xfrm>
            <a:off x="292608" y="640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594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5989320" y="594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868680" y="84124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visitor at the front desk becomes verbally aggressive over a building access policy. The guard's BEST initial response is to: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Match the person's energy and volume to establish authority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0" y="137160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Immediately direct the person to leave and call law enforcement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6868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C. Remain calm, acknowledge the visitor's frustration, attempt verbal de-escalation, and involve a supervisor if needed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46320" y="1618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Step away without engagement and allow the person to calm down independently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38160" y="1316736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1316736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228600" y="2048256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92608" y="2176272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213055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989320" y="213055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 | Ethics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868680" y="2377440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conduct most clearly reflects BSIS professional standards for a security guard?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6868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Using position and authority to benefit personal or professional relationships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46320" y="29077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B. Treating every person consistently with respect and fairness regardless of their identity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Enforcing post orders more strictly during periods of high-visibility observation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15468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D. Engaging in extended personal conversations while assigned to a post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38160" y="2852928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28" name="Text 26"/>
          <p:cNvSpPr/>
          <p:nvPr/>
        </p:nvSpPr>
        <p:spPr>
          <a:xfrm>
            <a:off x="8138160" y="2852928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228600" y="3584448"/>
            <a:ext cx="8686800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2608" y="3712464"/>
            <a:ext cx="475488" cy="475488"/>
          </a:xfrm>
          <a:prstGeom prst="ellipse">
            <a:avLst/>
          </a:prstGeom>
          <a:solidFill>
            <a:srgbClr val="1B2B5E"/>
          </a:solidFill>
          <a:ln/>
        </p:spPr>
      </p:sp>
      <p:sp>
        <p:nvSpPr>
          <p:cNvPr id="31" name="Text 29"/>
          <p:cNvSpPr/>
          <p:nvPr/>
        </p:nvSpPr>
        <p:spPr>
          <a:xfrm>
            <a:off x="292608" y="3712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68680" y="3666744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989320" y="3666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| BPC §7583.6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868680" y="3913632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INC.'s California Private Patrol Operator license number — required on all BSIS Certificates of Completion — is: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868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A. #112233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46320" y="444398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B. #100001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6868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C. #133445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469087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D. #122729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138160" y="4389120"/>
            <a:ext cx="640080" cy="512064"/>
          </a:xfrm>
          <a:prstGeom prst="roundRect">
            <a:avLst>
              <a:gd name="adj" fmla="val 10714"/>
            </a:avLst>
          </a:prstGeom>
          <a:solidFill>
            <a:srgbClr val="1A5C3A"/>
          </a:solidFill>
          <a:ln/>
        </p:spPr>
      </p:sp>
      <p:sp>
        <p:nvSpPr>
          <p:cNvPr id="40" name="Text 38"/>
          <p:cNvSpPr/>
          <p:nvPr/>
        </p:nvSpPr>
        <p:spPr>
          <a:xfrm>
            <a:off x="8138160" y="4389120"/>
            <a:ext cx="640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GUIDE &amp; INSTRUCTOR NOTES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Score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0" y="91440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— all 21 questions correct required per BPC §7583.6(b)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1627632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627632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Assessment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627632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retake required. Student must review all course modules before retaking.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340864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2340864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340864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 of Completion ONLY upon 100% score. Sign, date, and retain a copy.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54096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54096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Retention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0" y="3054096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each student's assessment record for duration of employment. Available to BSIS on request per Title 16 CCR §643(b).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767328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3767328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86000" y="3767328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answer key is for MACCESS INC. instructor use only. Never share with students before, during, or after assessment.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4480560"/>
            <a:ext cx="859536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4480560"/>
            <a:ext cx="182880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286000" y="4480560"/>
            <a:ext cx="6492240" cy="640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Scan integration is pending equipment acquisition. When active, completed LS records will be stored alongside training records.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Relations &amp; Community — BSIS Skills Course — INSTRUCTOR ANSWER KEY</dc:title>
  <dc:subject>PptxGenJS Presentation</dc:subject>
  <dc:creator>MACCESS INC. — CONFIDENTIAL</dc:creator>
  <cp:lastModifiedBy>MACCESS INC. — CONFIDENTIAL</cp:lastModifiedBy>
  <cp:revision>1</cp:revision>
  <dcterms:created xsi:type="dcterms:W3CDTF">2026-06-28T16:08:21Z</dcterms:created>
  <dcterms:modified xsi:type="dcterms:W3CDTF">2026-06-28T16:08:21Z</dcterms:modified>
</cp:coreProperties>
</file>