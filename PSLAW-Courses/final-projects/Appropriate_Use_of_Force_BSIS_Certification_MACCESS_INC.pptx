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457200" cy="4114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PPO #122729  |  BSIS-Authorized Training Provider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 Training — BSIS Required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5 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BPC §7583.7 | DCA AUF Manual July 2023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279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Standards for Use of Force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DCA AUF Manual July 2023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Standards — Statutes &amp; Obligations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Statutes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Penal Code §835a — Legal use of force to effect arrest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§836 — Peace officer arrest authority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§837 — Citizen arrest authority (security guard standard)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— BSIS training mandate for use of force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CCR §643 — Certificate and record-keeping requirements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Amendment (US Constitution) — Unreasonable seizure prohibition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&amp; Employer Obligations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(MACCESS INC.) bound by client site use-of-force policies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may NEVER exceed force authorized by contract or law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is vicariously liable for unauthorized force by guards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incidents reportable to BSIS per BPC §7583.2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supervisor must document and report within 24 hours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reports must be accurate, complete, and timely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&amp; Civil Liability for Use of Force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Exposure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(PC §242) — unlawful use of force against a person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Assault (PC §240) — attempt or threat to apply force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Kidnapping (PC §207) — unlawfully moving a detained person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imprisonment (PC §236) — unlawful detention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prosecution is independent of civil suits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card suspension or revocation (BPC §480)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Exposure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force tort — compensatory and punitive damages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Wrongful death — liability if force results in death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infliction of emotional distress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(PPO) vicarious liability for guard's actions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consequences for MACCESS INC.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guard card, PPO license, and employment
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Objectively Reasonable Force (In-Person)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DCA AUF Manual July 2023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Objectively Reasonable Standard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859536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Objectively Reasonable? — Graham v. Connor (1989)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84124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must be judged from perspective of a reasonable officer on scene — NOT with 20/20 hindsight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Factors: severity of the offense, whether subject poses immediate threat, whether subject is actively resisting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is objective: would a reasonable person in the guard's position have used this level of force?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803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8803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Restraint Techniques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64408"/>
            <a:ext cx="3931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commands — ALWAYS the first option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holds — used only when justified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Handcuffing — only after lawful citizen's arrest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physical contact in incident report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28803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28803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28803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Continuum Options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264408"/>
            <a:ext cx="3931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Officer presence and verbal commands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Soft empty-hand techniques (escort, control)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Hard empty-hand techniques (strikes — rarely justified)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Weapons (only if separately licensed and authorized)
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Options &amp; Real-Life Scenarios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Options — Key Rules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must be proportionate to the specific threat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only as threat level increases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DE-ESCALATE immediately when threat subsides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force as punishment or retaliation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force against passive resistance alone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exact force used and exact reason in report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supervisor immediately after any use of force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(In-Person Discussion)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Subject verbally refuses to leave — appropriate response?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Subject pushes guard once — escalation options?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C: Subject flees after being stopped — chase or release?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D: Subject is visibly intoxicated and combative — steps?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E: Guard is threatened with an object — justification?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 evaluated under objectively reasonable standard
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to Intercede &amp; Supervisory Responsibilities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DCA AUF Manual July 2023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to Intercede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Duty to Intercede?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who WITNESSES another guard using excessive force has a duty to intervene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intercede = complicity in the unlawful act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even if the officer using excessive force is a supervisor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Intercede verbally first: 'Stop — that is excessive force'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incident and report to BSIS per BPC §7583.2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yourself legally: report in writing immediately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Responsibilities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must report all use-of-force incidents per BPC §7583.2, §7583.4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submit written incident reports within required timeframes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review all force incidents for policy compliance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officers under them on proper force standards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may face personal liability for subordinate misconduct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requires immediate supervisor notification
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&amp; Interpersonal Communication (In-Person)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DCA AUF Manual July 2023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— Four Core Concepts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0467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Self-Control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319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your own emotions before engaging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your breathing — speak calmly and clearly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commands that escalate: 'Calm down!' often backfires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authority through tone, not volume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80467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Effective Communication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188720"/>
            <a:ext cx="39319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plain language — no jargon or threats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 subject's feelings without agreeing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open questions: 'What can I help you with?'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reduces perceived threat immediately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044952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44952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04495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Scene Assessment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429000"/>
            <a:ext cx="39319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weapons, exits, bystanders, escape routes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yourself at a safe distance (6-10 feet)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backup before force is needed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corner an agitated subject — leave an exit
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044952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44952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304495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Force Options Awareness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429000"/>
            <a:ext cx="39319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know your next step if de-escalation fails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subject knows they have a choice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time and distance as tactical tools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moment of calm is an opportunity to avoid force
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De-escalation — Time, Distance, Cover &amp; Concealment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Methods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Slow things down — rushing increases risk. More time = more options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Maintain reactionary gap (6+ feet from agitated subject)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COVER: Solid barrier between you and potential threat (car, wall, counter)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CONCEALMENT: Reduces visual target — not the same as cover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four together: create space, call for help, communicate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tactical decisions in every incident report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De-escalation Mistakes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too close — violates reactionary gap, increases threat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too many commands at once — causes confusion and resistance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threatening language or challenges — escalates instantly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early warning signs of agitation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request backup before the situation deteriorates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documenting de-escalation attempts in incident reports
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Cultural Competency &amp; Interactions with People with Disabilities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DCA AUF Manual July 2023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&amp; Explicit Bias — Definitions &amp; Impact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Bias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 attitudes or stereotypes that affect decisions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implicit biases — recognizing them is the first step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affect who a guard stops, detains, or applies force against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Bias-based policing violates civil rights — exposure for MACCESS INC.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slow down decisions, apply consistent standards to all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Self-audit: 'Would I treat a different person the same way here?'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Bias &amp; Cultural Competency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bias: conscious prejudice — strictly prohibited under California law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in security actions = civil and criminal liability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competency: understanding how culture affects behavior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interpret unfamiliar cultural behavior as suspicious by itself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barriers: use clear simple language, seek interpreter if needed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communities require diverse communication strategies
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Interacting with People with Disabilities &amp; Behavioral Health Issues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Disability &amp; Mental Health Situations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behavior may indicate disability, not criminal intent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(Americans with Disabilities Act) — guards must make reasonable accommodations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 crisis: agitation, confusion, self-talk, erratic movement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spectrum: may not make eye contact, may not respond to verbal commands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Deaf/hard of hearing: may ignore verbal commands — not defiance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is this a safety threat or a disability manifestation?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A5C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for Disabilities &amp; Behavioral Health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calmly and slowly — loud commands increase fear and agitation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stimuli: lower voice, ask bystanders to move back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rush or physically escalate — can cause panic and injury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appropriate help: medical personnel, mental health response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observed behaviors — not diagnoses — in incident report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dignity: treat every person with professionalism
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Health, Active Shooter &amp; Force Scenario Training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DCA AUF Manual July 2023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 Security Work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Mental Illness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BPC §631: serious mental conditions including schizophrenia, bipolar disorder, major depressive disorder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Psychosis: may involve hallucinations, paranoia, detachment from reality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Manic episodes: extreme agitation, rapid speech, impulsive behavior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Depression: withdrawal, flat affect — not typically a threat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Substance-induced mental states: may mimic psychiatric symptoms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are NOT mental health professionals — know your limits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Bias &amp; Stigma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illness is NOT the same as dangerousness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with mental illness are NOT violent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 can cause guards to escalate unnecessarily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with compassion — mental health calls require patience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for appropriate medical/mental health backup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behaviors observed — not assumptions or diagnoses
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Shooter — Roles, Recognition &amp; Response (In-Person)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AUF | BPC §7583.7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an Active Shooter Situation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gunshots in rapid succession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Screaming or running people indicating immediate danger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of gunpowder or visible weapon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from witnesses of person with weapon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investigate alone — call 911 immediately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priority: protect lives, then contain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Responsibilities: Run-Hide-Fight (DHS Protocol)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Evacuate yourself and others if possible — leave belongings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HIDE: Barricade in secure room — turn off lights, silence phones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FIGHT: Last resort only — improvise weapons, commit to action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911: Provide location, description, number of shooters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police arrive: hands visible, follow all commands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attempt to engage shooter unless no other option exists
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online assessment. A score of 100% is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your BSIS Certificate of Completion per BPC §7583.7 | DCA AUF Manual July 2023.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Private Security LA Worldwide  |  PPO #122729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BSIS-Authorized Training Provider  |  5-Hour Course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Appropriate Use of Force — BSIS Certification | MACCESS INC.</dc:title>
  <dc:subject>PptxGenJS Presentation</dc:subject>
  <dc:creator>MACCESS INC.</dc:creator>
  <cp:lastModifiedBy>MACCESS INC.</cp:lastModifiedBy>
  <cp:revision>1</cp:revision>
  <dcterms:created xsi:type="dcterms:W3CDTF">2026-06-28T16:08:07Z</dcterms:created>
  <dcterms:modified xsi:type="dcterms:W3CDTF">2026-06-28T16:08:07Z</dcterms:modified>
</cp:coreProperties>
</file>