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 Skills Course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Questions  |  Pass: 100%  |  BPC §7583.6(b)  |  CA Labor Code §6401.9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Q  |  100% to pass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1440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9144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91440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91440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91440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9144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91440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91440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9144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91440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91440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91440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9144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91440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91440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91440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9144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2763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2763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2763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2763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2763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2763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2763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2763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2763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2763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2763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2763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2763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2763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2763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4086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4086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4086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4086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4086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4086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4086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4086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4086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4086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4086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4086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4086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4086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4086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4086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4086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4086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4086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4086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5409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5409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5409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540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1993392" y="305409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993392" y="305409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1" name="Text 69"/>
          <p:cNvSpPr/>
          <p:nvPr/>
        </p:nvSpPr>
        <p:spPr>
          <a:xfrm>
            <a:off x="1993392" y="305409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23744" y="30540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3730752" y="305409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730752" y="305409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5" name="Text 73"/>
          <p:cNvSpPr/>
          <p:nvPr/>
        </p:nvSpPr>
        <p:spPr>
          <a:xfrm>
            <a:off x="3730752" y="305409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61104" y="30540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5468112" y="305409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68112" y="305409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9" name="Text 77"/>
          <p:cNvSpPr/>
          <p:nvPr/>
        </p:nvSpPr>
        <p:spPr>
          <a:xfrm>
            <a:off x="5468112" y="305409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998464" y="30540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7205472" y="305409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05472" y="305409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83" name="Text 81"/>
          <p:cNvSpPr/>
          <p:nvPr/>
        </p:nvSpPr>
        <p:spPr>
          <a:xfrm>
            <a:off x="7205472" y="305409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35824" y="30540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256032" y="376732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56032" y="376732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87" name="Text 85"/>
          <p:cNvSpPr/>
          <p:nvPr/>
        </p:nvSpPr>
        <p:spPr>
          <a:xfrm>
            <a:off x="256032" y="37673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86384" y="376732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9" name="Shape 87"/>
          <p:cNvSpPr/>
          <p:nvPr/>
        </p:nvSpPr>
        <p:spPr>
          <a:xfrm>
            <a:off x="1993392" y="376732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1993392" y="376732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91" name="Text 89"/>
          <p:cNvSpPr/>
          <p:nvPr/>
        </p:nvSpPr>
        <p:spPr>
          <a:xfrm>
            <a:off x="1993392" y="37673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523744" y="376732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3730752" y="376732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730752" y="376732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95" name="Text 93"/>
          <p:cNvSpPr/>
          <p:nvPr/>
        </p:nvSpPr>
        <p:spPr>
          <a:xfrm>
            <a:off x="3730752" y="37673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261104" y="376732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5468112" y="376732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5468112" y="376732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99" name="Text 97"/>
          <p:cNvSpPr/>
          <p:nvPr/>
        </p:nvSpPr>
        <p:spPr>
          <a:xfrm>
            <a:off x="5468112" y="37673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5998464" y="376732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7205472" y="376732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205472" y="376732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03" name="Text 101"/>
          <p:cNvSpPr/>
          <p:nvPr/>
        </p:nvSpPr>
        <p:spPr>
          <a:xfrm>
            <a:off x="7205472" y="37673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735824" y="376732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5" name="Shape 103"/>
          <p:cNvSpPr/>
          <p:nvPr/>
        </p:nvSpPr>
        <p:spPr>
          <a:xfrm>
            <a:off x="256032" y="448056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256032" y="448056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07" name="Text 105"/>
          <p:cNvSpPr/>
          <p:nvPr/>
        </p:nvSpPr>
        <p:spPr>
          <a:xfrm>
            <a:off x="256032" y="448056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86384" y="44805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9" name="Shape 107"/>
          <p:cNvSpPr/>
          <p:nvPr/>
        </p:nvSpPr>
        <p:spPr>
          <a:xfrm>
            <a:off x="1993392" y="448056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1993392" y="448056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11" name="Text 109"/>
          <p:cNvSpPr/>
          <p:nvPr/>
        </p:nvSpPr>
        <p:spPr>
          <a:xfrm>
            <a:off x="1993392" y="448056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523744" y="44805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13" name="Shape 111"/>
          <p:cNvSpPr/>
          <p:nvPr/>
        </p:nvSpPr>
        <p:spPr>
          <a:xfrm>
            <a:off x="3730752" y="448056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3730752" y="448056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115" name="Text 113"/>
          <p:cNvSpPr/>
          <p:nvPr/>
        </p:nvSpPr>
        <p:spPr>
          <a:xfrm>
            <a:off x="3730752" y="448056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4261104" y="44805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17" name="Text 11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Warning Signs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§11.1 | CA Labor Code §6401.9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classified as Type 2 workplace violence under California law?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coworker threatens another employee after a performance 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 stranger enters the building and assaults a guard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client becomes physically aggressive toward a security officer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former employee returns and threatens current staff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Warning Signs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Labor Code §6401.9 | Cal/OSHA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working in California is at ELEVATED risk for which type of workplace violence according to Cal/OSHA?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Type 3 — worker-on-worker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Type 4 — personal relationship violence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Type 1 (external criminal) and Type 2 (customer/client) violence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Type 2 and Type 3 violence only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Warning Signs: Worker to Worker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coworker repeatedly makes comments such as 'Someone is going to pay for this' and 'I know where management lives.' The guard should: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Dismiss it as workplace venting — everyone complains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Confront the coworker privately and ask them to stop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Document the statements precisely and report them to a supervisor immediately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Wait to see if the behavior escalates before reporting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Warning Signs: Worker to Worker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worker-to-worker warning signs indicates the HIGHEST level of potential threat?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An employee who arrives late repeatedly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An employee who mentions being under financial stress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An employee who expresses hopelessness and states they 'have nothing left to lose'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An employee who avoids participating in team events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Warning Signs: Client to Customer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repeatedly seeks out and confronts the same security officer, making comments that feel personal and threatening. This is most likely an early indicator of: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Type 1 — external criminal violence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Type 4 — personal relationship violence entering the workplace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Type 2 — client/customer targeted violence toward an employee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Normal occupational friction — no action required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Warning Signs: Supervisor to Subordinate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observes a supervisor repeatedly humiliating a specific employee in front of others and threatening their job. The guard's appropriate action is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Take the employee's side and confront the supervisor directly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Document the observations and report to MACCESS INC. management — do not take sides in personnel matters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Ignore it — supervisor-subordinate conflicts are outside a security guard's role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Advise the employee to file a complaint with HR on their own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Warning Signs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§11.1 | CA Labor Code §6401.9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California SB 553 (Labor Code §6401.9), employers are required to maintain a Violent Incident Log for a minimum of: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1 year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2 years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3 years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5 years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Anger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of the anger escalation cycle where the risk of violence is highest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trigger stage — when the perceived grievance first occurs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escalation stage — when the person's voice begins to 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crisis stage — when anger peaks and reasoning is most impaired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recovery stage — after the peak has passed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Anger Management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§11.2 | BPC §7583.7(b)(6)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person is visibly angry and speaking loudly, a security guard's most effective initial communication response is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Raise their own voice to establish authority over the interaction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Match the person's energy to demonstrate engagement and seriousness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Lower their own voice and speak calmly, modeling the response they want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Step back and say nothing until the person has fully finished speaking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Anger Management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 person's emotion during a tense interaction means: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Agreeing with their position and supporting their grievance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Acknowledging how they feel without condoning their behavior: 'I can see you're frustrated'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Telling them their anger is understandable and they are correct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Remaining silent to avoid inflaming the situation further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Anger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§11.2 | MACCESS INC. Policy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has attempted verbal de-escalation for two minutes and the person remains agitated and escalating. The correct next step is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Continue attempting de-escalation indefinitely — it always works eventually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Apply physical restraint as a precaution before violence occurs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Request backup, notify a supervisor, and increase distance from the subject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Issue a formal trespass warning and demand the person leave immediately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Anger Management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tense angry encounter de-escalates and the person leaves calmly, the guard should: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Consider the matter resolved — no further action needed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Resume their patrol immediately without documentation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Document the encounter in writing — date, time, parties, what was said, actions taken, and outcome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Verbally inform their supervisor at the end of the shift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Valuing Diversity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§11.3 | FEHA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observes two employees from different cultural backgrounds having what appears to be a heated argument. The guard knows that in one employee's culture, direct and loud disagreement is a normal communication style. The guard should: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Intervene immediately — loud voices always indicate a dangerous situation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Observe carefully for actual threatening behaviors rather than assuming danger based on volume or cultural expression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Contact law enforcement — the guard cannot assess safety across cultural differences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Separate the employees preemptively to prevent potential violence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Valuing Diversity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§11.3 | FEHA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different levels of scrutiny to employees or clients based on race or national origin when enforcing workplace violence policies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Acceptable when based on statistically informed risk assessments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 reasonable exercise of professional judgment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violation of the California Fair Employment and Housing Act (FEHA) and creates civil liability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Permissible when directed by the client or property owner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Valuing Diversity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§11.3 | CA Labor Code §6401.9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with limited English attempts to report a threatening incident to a security guard. The guard should: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Direct the employee to return when an English-speaking representative is available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Document 'language barrier — unable to obtain statement' and continue patrol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Use a translation app, seek a bilingual colleague, or use visual aids to gather the report — every employee has the right to report workplace violence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Accept only written reports from non-English speakers to ensure accuracy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Personal Security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§11.4 | Cal/OSHA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CPTED stands for: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California Protocols for Threat Evaluation and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Crime Prevention Through Environmental 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Comprehensive Physical Training and Emergency Drill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Command Presence Training for Emergency Deployment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Personal Security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§11.4 | DHS Run-Hide-Fight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active shooter situation, the FIRST priority for a security guard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Drawing any authorized weapon and moving toward the threat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Locking down the facility and waiting for law enforcement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Evacuating themselves and others if a safe exit is available — the RUN protocol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Calling MACCESS INC. management to request authorization to respond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Personal Security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§11.4 | DHS Run-Hide-Fight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FIGHT protocol in an active shooter situation should be used: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As a first response to assert authority and deter the threat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Only when directed to do so by law enforcement on scene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As an absolute last resort when escape and hiding are impossible and life is in imminent danger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Whenever the guard has a clear view of the shooter and a potential tactical advantage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Personal Security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law enforcement arrives at an active shooter scene, a security guard should: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Approach officers immediately to brief them on the situation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Keep hands visible and follow all officer commands without exception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Present their guard card first to establish identity and authority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Continue any engagement with the threat until officers assume control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Personal Security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§11.4 | Cal/OSHA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discovers that a CCTV camera at a critical access point has been vandalized and is not functioning. The guard should: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Attempt to repair the camera before reporting the outage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Document the outage, notify the supervisor immediately, and increase patrol frequency of the unmonitored area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Report the outage at the end of the shift in the standard 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Request a replacement camera from the property owner before taking further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Reporting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§11.5 | CA Labor Code §6401.9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Labor Code §6401.9 (SB 553) requires California employers to establish: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verbal reporting system for workplace violence events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 written Workplace Violence Prevention Plan (WVPP) that must be reviewed annually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 telephone hotline for anonymous reporting of threats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zero-tolerance policy with automatic termination for any threatening behavior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Reporting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§11.5 | CA Labor Code §6401.9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553 prohibits employers from: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Requiring employees to report violent incidents within 24 hours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Sharing Violent Incident Log data with Cal/OSHA inspectors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Taking punitive or retaliatory action against an employee who reports a threat or seeks law enforcement help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Maintaining records of violent incidents for more than 2 years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Reporting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witnessing a violent incident at their post, a guard's FIRST action should be: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Complete a detailed written incident report before taking any other action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Ensure the immediate safety of all persons — call 911 if there is any threat to life — THEN notify the supervisor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Photograph the scene to document evidence before calling anyone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Notify the client property manager before contacting MACCESS INC.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Reporting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§11.5 | CA Labor Code §6401.9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Violent Incident Log required by CA Labor Code §6401.9 must include all of the following EXCEPT: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type of workplace violence (Type 1/2/3/4)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specific full legal names of all persons involved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circumstances at the time of the incident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consequences of the incident — injuries, medical treatment, law enforcement response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Reporting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Syllabus §11.5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on patrol observes what may be early warning signs of a potential workplace violence situation — no immediate threat, but behavior that concerns them. They should: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Wait until an actual threat or physical act occurs before documenting or reporting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Document the specific observed behaviors in writing and report to their supervisor as soon as safely possible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Confront the individual directly to assess whether the concern is justified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Only report if the behavior is witnessed by at least one other person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CA Labor Code §6401.9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SB 553 became effective and enforceable on: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January 1, 2024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July 1, 2024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January 1,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July 1,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BSIS Syllabus §11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BSIS Workplace Violence elective course covers all of the following topics EXCEPT: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Detecting unusual behavior and warning signs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Anger management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Firearms qualification and use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Valuing diversity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| BPC §7583.6(b)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number, which must appear on all BSIS Certificates of Completion,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960120"/>
            <a:ext cx="64008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28 questions correct per BPC §7583.6(b)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45920"/>
            <a:ext cx="1920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Retake Policy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645920"/>
            <a:ext cx="64008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Recommend targeted module review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31720"/>
            <a:ext cx="1920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331720"/>
            <a:ext cx="64008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only upon 100% score. Sign, date. Note: certificate also documents SB 553 training compliance.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17520"/>
            <a:ext cx="1920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3017520"/>
            <a:ext cx="64008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per Title 16 CCR §643(b) for duration of employment — available to BSIS and Cal/OSHA on request.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03320"/>
            <a:ext cx="1920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553 Note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703320"/>
            <a:ext cx="64008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satisfies the annual employee training requirement of CA Labor Code §6401.9 (SB 553, eff. July 1, 2024).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389120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389120"/>
            <a:ext cx="1920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4389120"/>
            <a:ext cx="64008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Workplace Violence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2026-06-28T17:42:10Z</dcterms:created>
  <dcterms:modified xsi:type="dcterms:W3CDTF">2026-06-28T17:42:10Z</dcterms:modified>
</cp:coreProperties>
</file>