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Questions  |  Pass: 100%  |  BPC §7583.7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Q  |  Pass: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199339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99339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1" name="Text 69"/>
          <p:cNvSpPr/>
          <p:nvPr/>
        </p:nvSpPr>
        <p:spPr>
          <a:xfrm>
            <a:off x="199339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2374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373075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73075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5" name="Text 73"/>
          <p:cNvSpPr/>
          <p:nvPr/>
        </p:nvSpPr>
        <p:spPr>
          <a:xfrm>
            <a:off x="373075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6110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546811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6811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9" name="Text 77"/>
          <p:cNvSpPr/>
          <p:nvPr/>
        </p:nvSpPr>
        <p:spPr>
          <a:xfrm>
            <a:off x="546811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99846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720547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0547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83" name="Text 81"/>
          <p:cNvSpPr/>
          <p:nvPr/>
        </p:nvSpPr>
        <p:spPr>
          <a:xfrm>
            <a:off x="720547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3582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256032" y="374904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56032" y="374904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87" name="Text 85"/>
          <p:cNvSpPr/>
          <p:nvPr/>
        </p:nvSpPr>
        <p:spPr>
          <a:xfrm>
            <a:off x="256032" y="374904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86384" y="37490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9" name="Shape 87"/>
          <p:cNvSpPr/>
          <p:nvPr/>
        </p:nvSpPr>
        <p:spPr>
          <a:xfrm>
            <a:off x="1993392" y="374904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1993392" y="374904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91" name="Text 89"/>
          <p:cNvSpPr/>
          <p:nvPr/>
        </p:nvSpPr>
        <p:spPr>
          <a:xfrm>
            <a:off x="1993392" y="374904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523744" y="37490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3730752" y="374904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730752" y="374904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95" name="Text 93"/>
          <p:cNvSpPr/>
          <p:nvPr/>
        </p:nvSpPr>
        <p:spPr>
          <a:xfrm>
            <a:off x="3730752" y="374904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261104" y="37490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5468112" y="374904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5468112" y="374904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99" name="Text 97"/>
          <p:cNvSpPr/>
          <p:nvPr/>
        </p:nvSpPr>
        <p:spPr>
          <a:xfrm>
            <a:off x="5468112" y="374904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5998464" y="37490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7205472" y="374904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205472" y="374904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03" name="Text 101"/>
          <p:cNvSpPr/>
          <p:nvPr/>
        </p:nvSpPr>
        <p:spPr>
          <a:xfrm>
            <a:off x="7205472" y="374904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735824" y="37490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5" name="Shape 103"/>
          <p:cNvSpPr/>
          <p:nvPr/>
        </p:nvSpPr>
        <p:spPr>
          <a:xfrm>
            <a:off x="256032" y="446227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256032" y="446227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07" name="Text 105"/>
          <p:cNvSpPr/>
          <p:nvPr/>
        </p:nvSpPr>
        <p:spPr>
          <a:xfrm>
            <a:off x="256032" y="446227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86384" y="44622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9" name="Shape 107"/>
          <p:cNvSpPr/>
          <p:nvPr/>
        </p:nvSpPr>
        <p:spPr>
          <a:xfrm>
            <a:off x="1993392" y="446227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1993392" y="446227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11" name="Text 109"/>
          <p:cNvSpPr/>
          <p:nvPr/>
        </p:nvSpPr>
        <p:spPr>
          <a:xfrm>
            <a:off x="1993392" y="446227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523744" y="44622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3" name="Shape 111"/>
          <p:cNvSpPr/>
          <p:nvPr/>
        </p:nvSpPr>
        <p:spPr>
          <a:xfrm>
            <a:off x="3730752" y="446227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3730752" y="446227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15" name="Text 113"/>
          <p:cNvSpPr/>
          <p:nvPr/>
        </p:nvSpPr>
        <p:spPr>
          <a:xfrm>
            <a:off x="3730752" y="446227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4261104" y="44622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7" name="Shape 115"/>
          <p:cNvSpPr/>
          <p:nvPr/>
        </p:nvSpPr>
        <p:spPr>
          <a:xfrm>
            <a:off x="5468112" y="446227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5468112" y="446227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19" name="Text 117"/>
          <p:cNvSpPr/>
          <p:nvPr/>
        </p:nvSpPr>
        <p:spPr>
          <a:xfrm>
            <a:off x="5468112" y="446227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998464" y="44622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21" name="Shape 119"/>
          <p:cNvSpPr/>
          <p:nvPr/>
        </p:nvSpPr>
        <p:spPr>
          <a:xfrm>
            <a:off x="7205472" y="446227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7205472" y="446227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23" name="Text 121"/>
          <p:cNvSpPr/>
          <p:nvPr/>
        </p:nvSpPr>
        <p:spPr>
          <a:xfrm>
            <a:off x="7205472" y="446227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7735824" y="446227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5" name="Shape 123"/>
          <p:cNvSpPr/>
          <p:nvPr/>
        </p:nvSpPr>
        <p:spPr>
          <a:xfrm>
            <a:off x="256032" y="517550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256032" y="517550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27" name="Text 125"/>
          <p:cNvSpPr/>
          <p:nvPr/>
        </p:nvSpPr>
        <p:spPr>
          <a:xfrm>
            <a:off x="256032" y="51755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786384" y="51755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29" name="Shape 127"/>
          <p:cNvSpPr/>
          <p:nvPr/>
        </p:nvSpPr>
        <p:spPr>
          <a:xfrm>
            <a:off x="1993392" y="517550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1993392" y="517550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131" name="Text 129"/>
          <p:cNvSpPr/>
          <p:nvPr/>
        </p:nvSpPr>
        <p:spPr>
          <a:xfrm>
            <a:off x="1993392" y="51755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2523744" y="51755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33" name="Text 13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Standards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applied to evaluate a security guard's use of force under California law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Whatever force the guard personally deemed necessary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Objectively reasonable force under the circumstances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Whatever force the client contract authorizes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Whatever force prevents injury to the guard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Standards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creates BOTH criminal and civil liability for a guard's use of force?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Any use of physical contact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Force that is excessive or unreasonable under the circumstances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Force authorized in writing by the property owner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Force used to stop property theft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Standards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§§7583.2,7583.4,7574.37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use-of-force incident, a security guard is required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Notify the client and take no further action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Wait for the supervisor to file all paperwork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Complete a written incident report and notify their PPO supervisor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File the report within 72 hours at their discretion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Standards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Obligations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use-of-force authority may be FURTHER RESTRICTED (beyond California law) by: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guard's personal level of training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property owner's contract with the PPO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BSIS directly overriding any contract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State law — contracts cannot restrict authorized force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Objectively Reasonable Force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 v. Connor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'Objectively reasonable force' is evaluated from the perspective of: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legal expert reviewing the incident afterward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supervisor who approved the guard's assignment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reasonable officer at the scene with the same information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property owner who contracted for security services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Objectively Reasonable Force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§7583.7(b)(2)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force continuum, which response should always be attempted first?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Physical restraint to gain immediate control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Verbal commands and de-escalation communication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Drawing any available weapon to establish compliance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Calling law enforcement before taking any action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Objectively Reasonable Force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§7583.7(b)(2)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applies a pain compliance hold on a cooperative subject who simply declined to show ID. This force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Lawful — compliance with ID checks can be enforced physically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Potentially excessive — the situation did not justify that level of force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Lawful if permitted in the client contract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Required protocol for non-compliant subjects per BSIS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Objectively Reasonable Force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Continuum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used against a person must be reduced or stopped when: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subject verbally protests the force being used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guard's supervisor arrives on scene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threat that justified the force no longer exists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guard has documented the incident in their radio log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to Intercede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§7583.7(b)(3)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duty to intercede requires a security guard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Step in to manage any physical altercation that occurs on their post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Report all use-of-force incidents to BSIS within 24 hours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Stop or attempt to stop another guard who is using clearly excessive force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Contact law enforcement before personally taking any action involving force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to Intercede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§7583.7(b)(3)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witnesses their coworker continue striking a handcuffed, compliant subject. The correct response is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Document the incident and raise it in the next staff meeting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Intervene immediately to stop the excessive force, then report the incident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Defer to the senior guard's judgment — they may know something you do not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Notify only the client — BSIS reporting is the PPO's responsibility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Responsibilities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§§7583.2,7583.4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supervisor's obligation after a guard under their command uses force includes: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Reviewing the report at end of week only if injury occurred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Filing a full incident report per BPC §§7583.2 and 7583.4 requirements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Notifying the client only — BSIS reporting is optional for minor incidents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Verbal documentation — written reports are only needed for firearms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Responsibilities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§7574.37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statute requires a PPO to report use-of-force incidents to BSIS?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BPC §480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PC §837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BPC §7574.37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Title 16 CCR §640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— 4 Concepts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§7583.7(b)(6)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concepts of de-escalation per BSIS training are: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Run, Hide, Fight,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Self-control, Effective Communication, Scene Assessment and Management, Force Options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Observe, Orient, Decide, 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Approach, Contain, Communicate, Resolve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— 4 Concepts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§7583.7(b)(6)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tactical methods are specifically listed in the BSIS AUF syllabus for de-escalation?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Restraint and containment as primary 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Force, command, distance, and exit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Time, distance, cover, and concealment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Radio, backup, cover, and reporting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— 4 Concepts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§7583.7(b)(6)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is facing an agitated but non-threatening subject who is yelling. The BEST first response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Immediately request police and do not engage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Apply restraint before the situation escalates further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Use verbal de-escalation: speak calmly, give space, listen actively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Request backup and assume a defensive posture without speaking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— 4 Concepts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§7583.7(b)(6)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techniques are NOT a safe primary option when: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subject is verbally hostile but not physically threatening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 subject refuses to show identification when asked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subject poses an immediate physical threat requiring defensive 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subject is crying or appears emotionally distressed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Cultural Competency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§7583.7(b)(7)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bias in security work is best described as: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Conscious, deliberate prejudice that guards are aware of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Automatic, unconscious attitudes that can affect perceptions and decisions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Bias found only in law enforcement — not private security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form of bias that training completely eliminates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Cultural Competency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§7583.7(b)(7)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competency requires security guards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Apply identical procedures to all persons without modification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Recognize and adapt communication strategies for diverse communities while maintaining equal enforcement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Apply heightened scrutiny to individuals from unfamiliar cultural backgrounds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Defer all cross-cultural contacts to a supervisor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Cultural Competency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§7583.7(b)(7)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bias in the security context refers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Unconscious attitudes that affect decision-making without awareness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Deliberate, conscious prejudice that guides enforcement decisions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Cultural sensitivity and awareness training requirements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De-escalation techniques designed for diverse populations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&amp; Behavioral Health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§7583.7(b)(8)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security guard encounters a person experiencing a behavioral health crisis, the FIRST priority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Immediately contact law enforcement and maintain distance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Approach calmly, use de-escalation, and avoid physical force unless there is immediate danger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Apply early restraint to prevent the situation from escalating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Treat the encounter identically to a standard criminal contact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&amp; Behavioral Health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| BPC §7583.7(b)(8)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Americans with Disabilities Act (ADA) requires security guards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Apply an identical enforcement standard to all persons without any modification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Provide reasonable accommodation and modified communication approaches for persons with disabilities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Refer all ADA-related questions directly to the property owner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Restrict application of trespass law to persons with disabilities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&amp; Behavioral Health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§7583.7(b)(8)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communication strategy when interacting with a person who may have a cognitive disability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Use precise legal terminology to clearly define their obligations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Speak more loudly and repeat commands with increasing firmness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Use plain language, be patient, and avoid issuing multiple commands at once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Immediately request police assistance for any interaction involving a disability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Training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§7583.7(b)(9)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purpose of shoot/don't-shoot scenario training is to develop a guard's ability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Improve aim and accuracy with a firearm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Make real-time, accurate force decisions under stress with available information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Practice verbal command delivery in high-stress settings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Demonstrate de-escalation to an evaluating instructor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Training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§7583.7(b)(9)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using force in a dynamic situation, a guard should consider all of the following EXCEPT: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immediacy and nature of the threat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Distance available and availability of cover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property owner's stated preference for how force is handled at this location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Whether a lower level of force would resolve the situation effectively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&amp; Active Shooter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§7583.7(b)(10)-(11)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active shooter situation, a security guard's primary role is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Confront and neutralize the shooter to protect the property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Protect lives, coordinate evacuation, and support law enforcement response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Conduct a perimeter search to locate the shooter before police arrive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Pursue the shooter throughout the facility to prevent harm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&amp; Active Shooter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§7583.7(b)(11)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priority when an active shooter situation is confirmed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Securing the building perimeter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Protecting and evacuating occupants — prioritizing the RUN protocol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Drawing a firearm and moving toward the threat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Waiting for explicit police instructions before taking any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&amp; Active Shooter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§7583.7(b)(10)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stigma in security contexts can cause guards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Under-respond to persons with mental illness by assuming they are less dangerous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Over-respond and use excessive force based on unfounded assumptions about mental illness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Have no obligation to consider a subject's mental health in a use-of-force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Apply an identical force response to all persons regardless of mental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&amp; Active Shooter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BPC §631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 of mental illness that security guards must be familiar with per BSIS training are defined in: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PC §836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BPC §7583.7 — Section 631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Title 16 CCR §643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BPC §480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observes two persons arguing loudly near the building entrance. Neither person has made a physical threat. The BEST initial response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Call 911 immediately — loud arguments are a public safety threat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Walk toward both persons aggressively to establish authority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Approach calmly, introduce yourself, and attempt verbal de-escalation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Stay inside and monitor via CCTV without engaging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Proportionality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spits on a security guard. The guard responds with a takedown and pain compliance hold. This use of force: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Is clearly justified — battery occurred and the guard may respond with force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May constitute excessive force — proportionality and totality of circumstances must be carefully evaluated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Is always lawful when a battery against the guard has occurred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Is prohibited — the guard must call police rather than use any physical response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— BSIS Certification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Documentation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use-of-force incident without exception, a security guard must: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Contact their union representative before completing any paperwork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Document only if injuries were sustained by any party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Complete an incident report documenting circumstances, force applied, and outcome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Notify the client only — internal PPO reporting is optional for minor incidents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Passing Score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passing score required to receive a BSIS Appropriate Use of Force Certificate of Completion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70%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80%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90%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100%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32 questions correct required per BPC §7583.7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27632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Student must review all course modules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 of Completion ONLY upon 100% score. Sign, date, and retain a copy.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54096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each student's assessment record for duration of employment. Available to BSIS on request per Title 16 CCR §643(b).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 before, during, or after assessment.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integration is pending equipment acquisition. When active, completed LS records will be stored alongside training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Appropriate Use of Force — BSIS Certification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2026-06-28T16:08:11Z</dcterms:created>
  <dcterms:modified xsi:type="dcterms:W3CDTF">2026-06-28T16:08:11Z</dcterms:modified>
</cp:coreProperties>
</file>