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B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INTERNAL USE ONLY — DO NOT DISTRIBUTE TO STUDENTS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0" y="4206240"/>
            <a:ext cx="9144000" cy="93726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548640"/>
            <a:ext cx="411480" cy="365760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7772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spc="6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KEY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 to Arrest — BSIS Certification Course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48640" y="26517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&amp; Company Copy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 securely — not for student distribution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3474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9A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 Questions  |  Passing Score: 100%  |  BPC §7583.7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427939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MACCESS INC.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4626864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PPO License #122729  |  BSIS-Authorized Training Provider  |  June 27, 2026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B5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REFERENCE — ALL ANSWERS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 Questions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56032" y="960120"/>
            <a:ext cx="1627632" cy="59436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960120"/>
            <a:ext cx="530352" cy="594360"/>
          </a:xfrm>
          <a:prstGeom prst="roundRect">
            <a:avLst>
              <a:gd name="adj" fmla="val 12069"/>
            </a:avLst>
          </a:prstGeom>
          <a:solidFill>
            <a:srgbClr val="1B2B5E"/>
          </a:solidFill>
          <a:ln/>
        </p:spPr>
      </p:sp>
      <p:sp>
        <p:nvSpPr>
          <p:cNvPr id="7" name="Text 5"/>
          <p:cNvSpPr/>
          <p:nvPr/>
        </p:nvSpPr>
        <p:spPr>
          <a:xfrm>
            <a:off x="256032" y="960120"/>
            <a:ext cx="5303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786384" y="96012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1993392" y="960120"/>
            <a:ext cx="1627632" cy="59436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993392" y="960120"/>
            <a:ext cx="530352" cy="594360"/>
          </a:xfrm>
          <a:prstGeom prst="roundRect">
            <a:avLst>
              <a:gd name="adj" fmla="val 12069"/>
            </a:avLst>
          </a:prstGeom>
          <a:solidFill>
            <a:srgbClr val="4A1A8A"/>
          </a:solidFill>
          <a:ln/>
        </p:spPr>
      </p:sp>
      <p:sp>
        <p:nvSpPr>
          <p:cNvPr id="11" name="Text 9"/>
          <p:cNvSpPr/>
          <p:nvPr/>
        </p:nvSpPr>
        <p:spPr>
          <a:xfrm>
            <a:off x="1993392" y="960120"/>
            <a:ext cx="5303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523744" y="96012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A1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3730752" y="960120"/>
            <a:ext cx="1627632" cy="59436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730752" y="960120"/>
            <a:ext cx="530352" cy="594360"/>
          </a:xfrm>
          <a:prstGeom prst="roundRect">
            <a:avLst>
              <a:gd name="adj" fmla="val 12069"/>
            </a:avLst>
          </a:prstGeom>
          <a:solidFill>
            <a:srgbClr val="1B2B5E"/>
          </a:solidFill>
          <a:ln/>
        </p:spPr>
      </p:sp>
      <p:sp>
        <p:nvSpPr>
          <p:cNvPr id="15" name="Text 13"/>
          <p:cNvSpPr/>
          <p:nvPr/>
        </p:nvSpPr>
        <p:spPr>
          <a:xfrm>
            <a:off x="3730752" y="960120"/>
            <a:ext cx="5303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261104" y="96012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5468112" y="960120"/>
            <a:ext cx="1627632" cy="59436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68112" y="960120"/>
            <a:ext cx="530352" cy="594360"/>
          </a:xfrm>
          <a:prstGeom prst="roundRect">
            <a:avLst>
              <a:gd name="adj" fmla="val 12069"/>
            </a:avLst>
          </a:prstGeom>
          <a:solidFill>
            <a:srgbClr val="7B3F00"/>
          </a:solidFill>
          <a:ln/>
        </p:spPr>
      </p:sp>
      <p:sp>
        <p:nvSpPr>
          <p:cNvPr id="19" name="Text 17"/>
          <p:cNvSpPr/>
          <p:nvPr/>
        </p:nvSpPr>
        <p:spPr>
          <a:xfrm>
            <a:off x="5468112" y="960120"/>
            <a:ext cx="5303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998464" y="96012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B3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7205472" y="960120"/>
            <a:ext cx="1627632" cy="59436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205472" y="960120"/>
            <a:ext cx="530352" cy="594360"/>
          </a:xfrm>
          <a:prstGeom prst="roundRect">
            <a:avLst>
              <a:gd name="adj" fmla="val 12069"/>
            </a:avLst>
          </a:prstGeom>
          <a:solidFill>
            <a:srgbClr val="7B3F00"/>
          </a:solidFill>
          <a:ln/>
        </p:spPr>
      </p:sp>
      <p:sp>
        <p:nvSpPr>
          <p:cNvPr id="23" name="Text 21"/>
          <p:cNvSpPr/>
          <p:nvPr/>
        </p:nvSpPr>
        <p:spPr>
          <a:xfrm>
            <a:off x="7205472" y="960120"/>
            <a:ext cx="5303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735824" y="96012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B3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256032" y="1645920"/>
            <a:ext cx="1627632" cy="59436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56032" y="1645920"/>
            <a:ext cx="530352" cy="594360"/>
          </a:xfrm>
          <a:prstGeom prst="roundRect">
            <a:avLst>
              <a:gd name="adj" fmla="val 12069"/>
            </a:avLst>
          </a:prstGeom>
          <a:solidFill>
            <a:srgbClr val="7B3F00"/>
          </a:solidFill>
          <a:ln/>
        </p:spPr>
      </p:sp>
      <p:sp>
        <p:nvSpPr>
          <p:cNvPr id="27" name="Text 25"/>
          <p:cNvSpPr/>
          <p:nvPr/>
        </p:nvSpPr>
        <p:spPr>
          <a:xfrm>
            <a:off x="256032" y="1645920"/>
            <a:ext cx="5303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786384" y="164592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B3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1993392" y="1645920"/>
            <a:ext cx="1627632" cy="59436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1993392" y="1645920"/>
            <a:ext cx="530352" cy="594360"/>
          </a:xfrm>
          <a:prstGeom prst="roundRect">
            <a:avLst>
              <a:gd name="adj" fmla="val 12069"/>
            </a:avLst>
          </a:prstGeom>
          <a:solidFill>
            <a:srgbClr val="1B2B5E"/>
          </a:solidFill>
          <a:ln/>
        </p:spPr>
      </p:sp>
      <p:sp>
        <p:nvSpPr>
          <p:cNvPr id="31" name="Text 29"/>
          <p:cNvSpPr/>
          <p:nvPr/>
        </p:nvSpPr>
        <p:spPr>
          <a:xfrm>
            <a:off x="1993392" y="1645920"/>
            <a:ext cx="5303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Q7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2523744" y="164592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33" name="Shape 31"/>
          <p:cNvSpPr/>
          <p:nvPr/>
        </p:nvSpPr>
        <p:spPr>
          <a:xfrm>
            <a:off x="3730752" y="1645920"/>
            <a:ext cx="1627632" cy="59436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730752" y="1645920"/>
            <a:ext cx="530352" cy="594360"/>
          </a:xfrm>
          <a:prstGeom prst="roundRect">
            <a:avLst>
              <a:gd name="adj" fmla="val 12069"/>
            </a:avLst>
          </a:prstGeom>
          <a:solidFill>
            <a:srgbClr val="1B2B5E"/>
          </a:solidFill>
          <a:ln/>
        </p:spPr>
      </p:sp>
      <p:sp>
        <p:nvSpPr>
          <p:cNvPr id="35" name="Text 33"/>
          <p:cNvSpPr/>
          <p:nvPr/>
        </p:nvSpPr>
        <p:spPr>
          <a:xfrm>
            <a:off x="3730752" y="1645920"/>
            <a:ext cx="5303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Q8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261104" y="164592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37" name="Shape 35"/>
          <p:cNvSpPr/>
          <p:nvPr/>
        </p:nvSpPr>
        <p:spPr>
          <a:xfrm>
            <a:off x="5468112" y="1645920"/>
            <a:ext cx="1627632" cy="59436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5468112" y="1645920"/>
            <a:ext cx="530352" cy="594360"/>
          </a:xfrm>
          <a:prstGeom prst="roundRect">
            <a:avLst>
              <a:gd name="adj" fmla="val 12069"/>
            </a:avLst>
          </a:prstGeom>
          <a:solidFill>
            <a:srgbClr val="4A1A8A"/>
          </a:solidFill>
          <a:ln/>
        </p:spPr>
      </p:sp>
      <p:sp>
        <p:nvSpPr>
          <p:cNvPr id="39" name="Text 37"/>
          <p:cNvSpPr/>
          <p:nvPr/>
        </p:nvSpPr>
        <p:spPr>
          <a:xfrm>
            <a:off x="5468112" y="1645920"/>
            <a:ext cx="5303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Q9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5998464" y="164592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A1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200" dirty="0"/>
          </a:p>
        </p:txBody>
      </p:sp>
      <p:sp>
        <p:nvSpPr>
          <p:cNvPr id="41" name="Shape 39"/>
          <p:cNvSpPr/>
          <p:nvPr/>
        </p:nvSpPr>
        <p:spPr>
          <a:xfrm>
            <a:off x="7205472" y="1645920"/>
            <a:ext cx="1627632" cy="59436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7205472" y="1645920"/>
            <a:ext cx="530352" cy="594360"/>
          </a:xfrm>
          <a:prstGeom prst="roundRect">
            <a:avLst>
              <a:gd name="adj" fmla="val 12069"/>
            </a:avLst>
          </a:prstGeom>
          <a:solidFill>
            <a:srgbClr val="7B3F00"/>
          </a:solidFill>
          <a:ln/>
        </p:spPr>
      </p:sp>
      <p:sp>
        <p:nvSpPr>
          <p:cNvPr id="43" name="Text 41"/>
          <p:cNvSpPr/>
          <p:nvPr/>
        </p:nvSpPr>
        <p:spPr>
          <a:xfrm>
            <a:off x="7205472" y="1645920"/>
            <a:ext cx="5303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Q10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7735824" y="164592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B3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  <p:sp>
        <p:nvSpPr>
          <p:cNvPr id="45" name="Shape 43"/>
          <p:cNvSpPr/>
          <p:nvPr/>
        </p:nvSpPr>
        <p:spPr>
          <a:xfrm>
            <a:off x="256032" y="2331720"/>
            <a:ext cx="1627632" cy="59436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256032" y="2331720"/>
            <a:ext cx="530352" cy="594360"/>
          </a:xfrm>
          <a:prstGeom prst="roundRect">
            <a:avLst>
              <a:gd name="adj" fmla="val 12069"/>
            </a:avLst>
          </a:prstGeom>
          <a:solidFill>
            <a:srgbClr val="1B2B5E"/>
          </a:solidFill>
          <a:ln/>
        </p:spPr>
      </p:sp>
      <p:sp>
        <p:nvSpPr>
          <p:cNvPr id="47" name="Text 45"/>
          <p:cNvSpPr/>
          <p:nvPr/>
        </p:nvSpPr>
        <p:spPr>
          <a:xfrm>
            <a:off x="256032" y="2331720"/>
            <a:ext cx="5303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Q11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786384" y="233172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49" name="Shape 47"/>
          <p:cNvSpPr/>
          <p:nvPr/>
        </p:nvSpPr>
        <p:spPr>
          <a:xfrm>
            <a:off x="1993392" y="2331720"/>
            <a:ext cx="1627632" cy="59436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1993392" y="2331720"/>
            <a:ext cx="530352" cy="594360"/>
          </a:xfrm>
          <a:prstGeom prst="roundRect">
            <a:avLst>
              <a:gd name="adj" fmla="val 12069"/>
            </a:avLst>
          </a:prstGeom>
          <a:solidFill>
            <a:srgbClr val="7B3F00"/>
          </a:solidFill>
          <a:ln/>
        </p:spPr>
      </p:sp>
      <p:sp>
        <p:nvSpPr>
          <p:cNvPr id="51" name="Text 49"/>
          <p:cNvSpPr/>
          <p:nvPr/>
        </p:nvSpPr>
        <p:spPr>
          <a:xfrm>
            <a:off x="1993392" y="2331720"/>
            <a:ext cx="5303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Q12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2523744" y="233172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B3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  <p:sp>
        <p:nvSpPr>
          <p:cNvPr id="53" name="Shape 51"/>
          <p:cNvSpPr/>
          <p:nvPr/>
        </p:nvSpPr>
        <p:spPr>
          <a:xfrm>
            <a:off x="3730752" y="2331720"/>
            <a:ext cx="1627632" cy="59436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3730752" y="2331720"/>
            <a:ext cx="530352" cy="594360"/>
          </a:xfrm>
          <a:prstGeom prst="roundRect">
            <a:avLst>
              <a:gd name="adj" fmla="val 12069"/>
            </a:avLst>
          </a:prstGeom>
          <a:solidFill>
            <a:srgbClr val="7B3F00"/>
          </a:solidFill>
          <a:ln/>
        </p:spPr>
      </p:sp>
      <p:sp>
        <p:nvSpPr>
          <p:cNvPr id="55" name="Text 53"/>
          <p:cNvSpPr/>
          <p:nvPr/>
        </p:nvSpPr>
        <p:spPr>
          <a:xfrm>
            <a:off x="3730752" y="2331720"/>
            <a:ext cx="5303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Q13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4261104" y="233172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B3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  <p:sp>
        <p:nvSpPr>
          <p:cNvPr id="57" name="Shape 55"/>
          <p:cNvSpPr/>
          <p:nvPr/>
        </p:nvSpPr>
        <p:spPr>
          <a:xfrm>
            <a:off x="5468112" y="2331720"/>
            <a:ext cx="1627632" cy="59436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5468112" y="2331720"/>
            <a:ext cx="530352" cy="594360"/>
          </a:xfrm>
          <a:prstGeom prst="roundRect">
            <a:avLst>
              <a:gd name="adj" fmla="val 12069"/>
            </a:avLst>
          </a:prstGeom>
          <a:solidFill>
            <a:srgbClr val="1A5C3A"/>
          </a:solidFill>
          <a:ln/>
        </p:spPr>
      </p:sp>
      <p:sp>
        <p:nvSpPr>
          <p:cNvPr id="59" name="Text 57"/>
          <p:cNvSpPr/>
          <p:nvPr/>
        </p:nvSpPr>
        <p:spPr>
          <a:xfrm>
            <a:off x="5468112" y="2331720"/>
            <a:ext cx="5303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Q14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5998464" y="233172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200" dirty="0"/>
          </a:p>
        </p:txBody>
      </p:sp>
      <p:sp>
        <p:nvSpPr>
          <p:cNvPr id="61" name="Shape 59"/>
          <p:cNvSpPr/>
          <p:nvPr/>
        </p:nvSpPr>
        <p:spPr>
          <a:xfrm>
            <a:off x="7205472" y="2331720"/>
            <a:ext cx="1627632" cy="59436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7205472" y="2331720"/>
            <a:ext cx="530352" cy="594360"/>
          </a:xfrm>
          <a:prstGeom prst="roundRect">
            <a:avLst>
              <a:gd name="adj" fmla="val 12069"/>
            </a:avLst>
          </a:prstGeom>
          <a:solidFill>
            <a:srgbClr val="1B2B5E"/>
          </a:solidFill>
          <a:ln/>
        </p:spPr>
      </p:sp>
      <p:sp>
        <p:nvSpPr>
          <p:cNvPr id="63" name="Text 61"/>
          <p:cNvSpPr/>
          <p:nvPr/>
        </p:nvSpPr>
        <p:spPr>
          <a:xfrm>
            <a:off x="7205472" y="2331720"/>
            <a:ext cx="5303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Q15</a:t>
            </a:r>
            <a:endParaRPr lang="en-US" sz="950" dirty="0"/>
          </a:p>
        </p:txBody>
      </p:sp>
      <p:sp>
        <p:nvSpPr>
          <p:cNvPr id="64" name="Text 62"/>
          <p:cNvSpPr/>
          <p:nvPr/>
        </p:nvSpPr>
        <p:spPr>
          <a:xfrm>
            <a:off x="7735824" y="233172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65" name="Shape 63"/>
          <p:cNvSpPr/>
          <p:nvPr/>
        </p:nvSpPr>
        <p:spPr>
          <a:xfrm>
            <a:off x="256032" y="3017520"/>
            <a:ext cx="1627632" cy="59436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66" name="Shape 64"/>
          <p:cNvSpPr/>
          <p:nvPr/>
        </p:nvSpPr>
        <p:spPr>
          <a:xfrm>
            <a:off x="256032" y="3017520"/>
            <a:ext cx="530352" cy="594360"/>
          </a:xfrm>
          <a:prstGeom prst="roundRect">
            <a:avLst>
              <a:gd name="adj" fmla="val 12069"/>
            </a:avLst>
          </a:prstGeom>
          <a:solidFill>
            <a:srgbClr val="1B2B5E"/>
          </a:solidFill>
          <a:ln/>
        </p:spPr>
      </p:sp>
      <p:sp>
        <p:nvSpPr>
          <p:cNvPr id="67" name="Text 65"/>
          <p:cNvSpPr/>
          <p:nvPr/>
        </p:nvSpPr>
        <p:spPr>
          <a:xfrm>
            <a:off x="256032" y="3017520"/>
            <a:ext cx="5303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Q16</a:t>
            </a:r>
            <a:endParaRPr lang="en-US" sz="950" dirty="0"/>
          </a:p>
        </p:txBody>
      </p:sp>
      <p:sp>
        <p:nvSpPr>
          <p:cNvPr id="68" name="Text 66"/>
          <p:cNvSpPr/>
          <p:nvPr/>
        </p:nvSpPr>
        <p:spPr>
          <a:xfrm>
            <a:off x="786384" y="301752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69" name="Shape 67"/>
          <p:cNvSpPr/>
          <p:nvPr/>
        </p:nvSpPr>
        <p:spPr>
          <a:xfrm>
            <a:off x="1993392" y="3017520"/>
            <a:ext cx="1627632" cy="59436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70" name="Shape 68"/>
          <p:cNvSpPr/>
          <p:nvPr/>
        </p:nvSpPr>
        <p:spPr>
          <a:xfrm>
            <a:off x="1993392" y="3017520"/>
            <a:ext cx="530352" cy="594360"/>
          </a:xfrm>
          <a:prstGeom prst="roundRect">
            <a:avLst>
              <a:gd name="adj" fmla="val 12069"/>
            </a:avLst>
          </a:prstGeom>
          <a:solidFill>
            <a:srgbClr val="7B3F00"/>
          </a:solidFill>
          <a:ln/>
        </p:spPr>
      </p:sp>
      <p:sp>
        <p:nvSpPr>
          <p:cNvPr id="71" name="Text 69"/>
          <p:cNvSpPr/>
          <p:nvPr/>
        </p:nvSpPr>
        <p:spPr>
          <a:xfrm>
            <a:off x="1993392" y="3017520"/>
            <a:ext cx="5303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Q17</a:t>
            </a:r>
            <a:endParaRPr lang="en-US" sz="950" dirty="0"/>
          </a:p>
        </p:txBody>
      </p:sp>
      <p:sp>
        <p:nvSpPr>
          <p:cNvPr id="72" name="Text 70"/>
          <p:cNvSpPr/>
          <p:nvPr/>
        </p:nvSpPr>
        <p:spPr>
          <a:xfrm>
            <a:off x="2523744" y="301752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B3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  <p:sp>
        <p:nvSpPr>
          <p:cNvPr id="73" name="Shape 71"/>
          <p:cNvSpPr/>
          <p:nvPr/>
        </p:nvSpPr>
        <p:spPr>
          <a:xfrm>
            <a:off x="3730752" y="3017520"/>
            <a:ext cx="1627632" cy="59436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74" name="Shape 72"/>
          <p:cNvSpPr/>
          <p:nvPr/>
        </p:nvSpPr>
        <p:spPr>
          <a:xfrm>
            <a:off x="3730752" y="3017520"/>
            <a:ext cx="530352" cy="594360"/>
          </a:xfrm>
          <a:prstGeom prst="roundRect">
            <a:avLst>
              <a:gd name="adj" fmla="val 12069"/>
            </a:avLst>
          </a:prstGeom>
          <a:solidFill>
            <a:srgbClr val="7B3F00"/>
          </a:solidFill>
          <a:ln/>
        </p:spPr>
      </p:sp>
      <p:sp>
        <p:nvSpPr>
          <p:cNvPr id="75" name="Text 73"/>
          <p:cNvSpPr/>
          <p:nvPr/>
        </p:nvSpPr>
        <p:spPr>
          <a:xfrm>
            <a:off x="3730752" y="3017520"/>
            <a:ext cx="5303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Q18</a:t>
            </a:r>
            <a:endParaRPr lang="en-US" sz="950" dirty="0"/>
          </a:p>
        </p:txBody>
      </p:sp>
      <p:sp>
        <p:nvSpPr>
          <p:cNvPr id="76" name="Text 74"/>
          <p:cNvSpPr/>
          <p:nvPr/>
        </p:nvSpPr>
        <p:spPr>
          <a:xfrm>
            <a:off x="4261104" y="301752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B3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  <p:sp>
        <p:nvSpPr>
          <p:cNvPr id="77" name="Shape 75"/>
          <p:cNvSpPr/>
          <p:nvPr/>
        </p:nvSpPr>
        <p:spPr>
          <a:xfrm>
            <a:off x="5468112" y="3017520"/>
            <a:ext cx="1627632" cy="59436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78" name="Shape 76"/>
          <p:cNvSpPr/>
          <p:nvPr/>
        </p:nvSpPr>
        <p:spPr>
          <a:xfrm>
            <a:off x="5468112" y="3017520"/>
            <a:ext cx="530352" cy="594360"/>
          </a:xfrm>
          <a:prstGeom prst="roundRect">
            <a:avLst>
              <a:gd name="adj" fmla="val 12069"/>
            </a:avLst>
          </a:prstGeom>
          <a:solidFill>
            <a:srgbClr val="1B2B5E"/>
          </a:solidFill>
          <a:ln/>
        </p:spPr>
      </p:sp>
      <p:sp>
        <p:nvSpPr>
          <p:cNvPr id="79" name="Text 77"/>
          <p:cNvSpPr/>
          <p:nvPr/>
        </p:nvSpPr>
        <p:spPr>
          <a:xfrm>
            <a:off x="5468112" y="3017520"/>
            <a:ext cx="5303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Q19</a:t>
            </a:r>
            <a:endParaRPr lang="en-US" sz="950" dirty="0"/>
          </a:p>
        </p:txBody>
      </p:sp>
      <p:sp>
        <p:nvSpPr>
          <p:cNvPr id="80" name="Text 78"/>
          <p:cNvSpPr/>
          <p:nvPr/>
        </p:nvSpPr>
        <p:spPr>
          <a:xfrm>
            <a:off x="5998464" y="301752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81" name="Shape 79"/>
          <p:cNvSpPr/>
          <p:nvPr/>
        </p:nvSpPr>
        <p:spPr>
          <a:xfrm>
            <a:off x="7205472" y="3017520"/>
            <a:ext cx="1627632" cy="59436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82" name="Shape 80"/>
          <p:cNvSpPr/>
          <p:nvPr/>
        </p:nvSpPr>
        <p:spPr>
          <a:xfrm>
            <a:off x="7205472" y="3017520"/>
            <a:ext cx="530352" cy="594360"/>
          </a:xfrm>
          <a:prstGeom prst="roundRect">
            <a:avLst>
              <a:gd name="adj" fmla="val 12069"/>
            </a:avLst>
          </a:prstGeom>
          <a:solidFill>
            <a:srgbClr val="4A1A8A"/>
          </a:solidFill>
          <a:ln/>
        </p:spPr>
      </p:sp>
      <p:sp>
        <p:nvSpPr>
          <p:cNvPr id="83" name="Text 81"/>
          <p:cNvSpPr/>
          <p:nvPr/>
        </p:nvSpPr>
        <p:spPr>
          <a:xfrm>
            <a:off x="7205472" y="3017520"/>
            <a:ext cx="5303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Q20</a:t>
            </a:r>
            <a:endParaRPr lang="en-US" sz="950" dirty="0"/>
          </a:p>
        </p:txBody>
      </p:sp>
      <p:sp>
        <p:nvSpPr>
          <p:cNvPr id="84" name="Text 82"/>
          <p:cNvSpPr/>
          <p:nvPr/>
        </p:nvSpPr>
        <p:spPr>
          <a:xfrm>
            <a:off x="7735824" y="301752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A1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200" dirty="0"/>
          </a:p>
        </p:txBody>
      </p:sp>
      <p:sp>
        <p:nvSpPr>
          <p:cNvPr id="85" name="Shape 83"/>
          <p:cNvSpPr/>
          <p:nvPr/>
        </p:nvSpPr>
        <p:spPr>
          <a:xfrm>
            <a:off x="256032" y="3703320"/>
            <a:ext cx="1627632" cy="59436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86" name="Shape 84"/>
          <p:cNvSpPr/>
          <p:nvPr/>
        </p:nvSpPr>
        <p:spPr>
          <a:xfrm>
            <a:off x="256032" y="3703320"/>
            <a:ext cx="530352" cy="594360"/>
          </a:xfrm>
          <a:prstGeom prst="roundRect">
            <a:avLst>
              <a:gd name="adj" fmla="val 12069"/>
            </a:avLst>
          </a:prstGeom>
          <a:solidFill>
            <a:srgbClr val="1B2B5E"/>
          </a:solidFill>
          <a:ln/>
        </p:spPr>
      </p:sp>
      <p:sp>
        <p:nvSpPr>
          <p:cNvPr id="87" name="Text 85"/>
          <p:cNvSpPr/>
          <p:nvPr/>
        </p:nvSpPr>
        <p:spPr>
          <a:xfrm>
            <a:off x="256032" y="3703320"/>
            <a:ext cx="5303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Q21</a:t>
            </a:r>
            <a:endParaRPr lang="en-US" sz="950" dirty="0"/>
          </a:p>
        </p:txBody>
      </p:sp>
      <p:sp>
        <p:nvSpPr>
          <p:cNvPr id="88" name="Text 86"/>
          <p:cNvSpPr/>
          <p:nvPr/>
        </p:nvSpPr>
        <p:spPr>
          <a:xfrm>
            <a:off x="786384" y="370332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89" name="Shape 87"/>
          <p:cNvSpPr/>
          <p:nvPr/>
        </p:nvSpPr>
        <p:spPr>
          <a:xfrm>
            <a:off x="1993392" y="3703320"/>
            <a:ext cx="1627632" cy="59436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90" name="Shape 88"/>
          <p:cNvSpPr/>
          <p:nvPr/>
        </p:nvSpPr>
        <p:spPr>
          <a:xfrm>
            <a:off x="1993392" y="3703320"/>
            <a:ext cx="530352" cy="594360"/>
          </a:xfrm>
          <a:prstGeom prst="roundRect">
            <a:avLst>
              <a:gd name="adj" fmla="val 12069"/>
            </a:avLst>
          </a:prstGeom>
          <a:solidFill>
            <a:srgbClr val="1B2B5E"/>
          </a:solidFill>
          <a:ln/>
        </p:spPr>
      </p:sp>
      <p:sp>
        <p:nvSpPr>
          <p:cNvPr id="91" name="Text 89"/>
          <p:cNvSpPr/>
          <p:nvPr/>
        </p:nvSpPr>
        <p:spPr>
          <a:xfrm>
            <a:off x="1993392" y="3703320"/>
            <a:ext cx="5303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Q22</a:t>
            </a:r>
            <a:endParaRPr lang="en-US" sz="950" dirty="0"/>
          </a:p>
        </p:txBody>
      </p:sp>
      <p:sp>
        <p:nvSpPr>
          <p:cNvPr id="92" name="Text 90"/>
          <p:cNvSpPr/>
          <p:nvPr/>
        </p:nvSpPr>
        <p:spPr>
          <a:xfrm>
            <a:off x="2523744" y="370332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93" name="Shape 91"/>
          <p:cNvSpPr/>
          <p:nvPr/>
        </p:nvSpPr>
        <p:spPr>
          <a:xfrm>
            <a:off x="3730752" y="3703320"/>
            <a:ext cx="1627632" cy="59436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94" name="Shape 92"/>
          <p:cNvSpPr/>
          <p:nvPr/>
        </p:nvSpPr>
        <p:spPr>
          <a:xfrm>
            <a:off x="3730752" y="3703320"/>
            <a:ext cx="530352" cy="594360"/>
          </a:xfrm>
          <a:prstGeom prst="roundRect">
            <a:avLst>
              <a:gd name="adj" fmla="val 12069"/>
            </a:avLst>
          </a:prstGeom>
          <a:solidFill>
            <a:srgbClr val="7B3F00"/>
          </a:solidFill>
          <a:ln/>
        </p:spPr>
      </p:sp>
      <p:sp>
        <p:nvSpPr>
          <p:cNvPr id="95" name="Text 93"/>
          <p:cNvSpPr/>
          <p:nvPr/>
        </p:nvSpPr>
        <p:spPr>
          <a:xfrm>
            <a:off x="3730752" y="3703320"/>
            <a:ext cx="5303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Q23</a:t>
            </a:r>
            <a:endParaRPr lang="en-US" sz="950" dirty="0"/>
          </a:p>
        </p:txBody>
      </p:sp>
      <p:sp>
        <p:nvSpPr>
          <p:cNvPr id="96" name="Text 94"/>
          <p:cNvSpPr/>
          <p:nvPr/>
        </p:nvSpPr>
        <p:spPr>
          <a:xfrm>
            <a:off x="4261104" y="370332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B3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  <p:sp>
        <p:nvSpPr>
          <p:cNvPr id="97" name="Shape 95"/>
          <p:cNvSpPr/>
          <p:nvPr/>
        </p:nvSpPr>
        <p:spPr>
          <a:xfrm>
            <a:off x="5468112" y="3703320"/>
            <a:ext cx="1627632" cy="59436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98" name="Shape 96"/>
          <p:cNvSpPr/>
          <p:nvPr/>
        </p:nvSpPr>
        <p:spPr>
          <a:xfrm>
            <a:off x="5468112" y="3703320"/>
            <a:ext cx="530352" cy="594360"/>
          </a:xfrm>
          <a:prstGeom prst="roundRect">
            <a:avLst>
              <a:gd name="adj" fmla="val 12069"/>
            </a:avLst>
          </a:prstGeom>
          <a:solidFill>
            <a:srgbClr val="7B3F00"/>
          </a:solidFill>
          <a:ln/>
        </p:spPr>
      </p:sp>
      <p:sp>
        <p:nvSpPr>
          <p:cNvPr id="99" name="Text 97"/>
          <p:cNvSpPr/>
          <p:nvPr/>
        </p:nvSpPr>
        <p:spPr>
          <a:xfrm>
            <a:off x="5468112" y="3703320"/>
            <a:ext cx="5303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Q24</a:t>
            </a:r>
            <a:endParaRPr lang="en-US" sz="950" dirty="0"/>
          </a:p>
        </p:txBody>
      </p:sp>
      <p:sp>
        <p:nvSpPr>
          <p:cNvPr id="100" name="Text 98"/>
          <p:cNvSpPr/>
          <p:nvPr/>
        </p:nvSpPr>
        <p:spPr>
          <a:xfrm>
            <a:off x="5998464" y="370332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B3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  <p:sp>
        <p:nvSpPr>
          <p:cNvPr id="101" name="Shape 99"/>
          <p:cNvSpPr/>
          <p:nvPr/>
        </p:nvSpPr>
        <p:spPr>
          <a:xfrm>
            <a:off x="7205472" y="3703320"/>
            <a:ext cx="1627632" cy="59436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02" name="Shape 100"/>
          <p:cNvSpPr/>
          <p:nvPr/>
        </p:nvSpPr>
        <p:spPr>
          <a:xfrm>
            <a:off x="7205472" y="3703320"/>
            <a:ext cx="530352" cy="594360"/>
          </a:xfrm>
          <a:prstGeom prst="roundRect">
            <a:avLst>
              <a:gd name="adj" fmla="val 12069"/>
            </a:avLst>
          </a:prstGeom>
          <a:solidFill>
            <a:srgbClr val="7B3F00"/>
          </a:solidFill>
          <a:ln/>
        </p:spPr>
      </p:sp>
      <p:sp>
        <p:nvSpPr>
          <p:cNvPr id="103" name="Text 101"/>
          <p:cNvSpPr/>
          <p:nvPr/>
        </p:nvSpPr>
        <p:spPr>
          <a:xfrm>
            <a:off x="7205472" y="3703320"/>
            <a:ext cx="5303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Q25</a:t>
            </a:r>
            <a:endParaRPr lang="en-US" sz="950" dirty="0"/>
          </a:p>
        </p:txBody>
      </p:sp>
      <p:sp>
        <p:nvSpPr>
          <p:cNvPr id="104" name="Text 102"/>
          <p:cNvSpPr/>
          <p:nvPr/>
        </p:nvSpPr>
        <p:spPr>
          <a:xfrm>
            <a:off x="7735824" y="370332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B3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  <p:sp>
        <p:nvSpPr>
          <p:cNvPr id="105" name="Shape 103"/>
          <p:cNvSpPr/>
          <p:nvPr/>
        </p:nvSpPr>
        <p:spPr>
          <a:xfrm>
            <a:off x="256032" y="4389120"/>
            <a:ext cx="1627632" cy="59436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06" name="Shape 104"/>
          <p:cNvSpPr/>
          <p:nvPr/>
        </p:nvSpPr>
        <p:spPr>
          <a:xfrm>
            <a:off x="256032" y="4389120"/>
            <a:ext cx="530352" cy="594360"/>
          </a:xfrm>
          <a:prstGeom prst="roundRect">
            <a:avLst>
              <a:gd name="adj" fmla="val 12069"/>
            </a:avLst>
          </a:prstGeom>
          <a:solidFill>
            <a:srgbClr val="4A1A8A"/>
          </a:solidFill>
          <a:ln/>
        </p:spPr>
      </p:sp>
      <p:sp>
        <p:nvSpPr>
          <p:cNvPr id="107" name="Text 105"/>
          <p:cNvSpPr/>
          <p:nvPr/>
        </p:nvSpPr>
        <p:spPr>
          <a:xfrm>
            <a:off x="256032" y="4389120"/>
            <a:ext cx="5303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Q26</a:t>
            </a:r>
            <a:endParaRPr lang="en-US" sz="950" dirty="0"/>
          </a:p>
        </p:txBody>
      </p:sp>
      <p:sp>
        <p:nvSpPr>
          <p:cNvPr id="108" name="Text 106"/>
          <p:cNvSpPr/>
          <p:nvPr/>
        </p:nvSpPr>
        <p:spPr>
          <a:xfrm>
            <a:off x="786384" y="438912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A1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200" dirty="0"/>
          </a:p>
        </p:txBody>
      </p:sp>
      <p:sp>
        <p:nvSpPr>
          <p:cNvPr id="109" name="Shape 107"/>
          <p:cNvSpPr/>
          <p:nvPr/>
        </p:nvSpPr>
        <p:spPr>
          <a:xfrm>
            <a:off x="1993392" y="4389120"/>
            <a:ext cx="1627632" cy="59436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10" name="Shape 108"/>
          <p:cNvSpPr/>
          <p:nvPr/>
        </p:nvSpPr>
        <p:spPr>
          <a:xfrm>
            <a:off x="1993392" y="4389120"/>
            <a:ext cx="530352" cy="594360"/>
          </a:xfrm>
          <a:prstGeom prst="roundRect">
            <a:avLst>
              <a:gd name="adj" fmla="val 12069"/>
            </a:avLst>
          </a:prstGeom>
          <a:solidFill>
            <a:srgbClr val="4A1A8A"/>
          </a:solidFill>
          <a:ln/>
        </p:spPr>
      </p:sp>
      <p:sp>
        <p:nvSpPr>
          <p:cNvPr id="111" name="Text 109"/>
          <p:cNvSpPr/>
          <p:nvPr/>
        </p:nvSpPr>
        <p:spPr>
          <a:xfrm>
            <a:off x="1993392" y="4389120"/>
            <a:ext cx="5303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Q27</a:t>
            </a:r>
            <a:endParaRPr lang="en-US" sz="950" dirty="0"/>
          </a:p>
        </p:txBody>
      </p:sp>
      <p:sp>
        <p:nvSpPr>
          <p:cNvPr id="112" name="Text 110"/>
          <p:cNvSpPr/>
          <p:nvPr/>
        </p:nvSpPr>
        <p:spPr>
          <a:xfrm>
            <a:off x="2523744" y="438912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A1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200" dirty="0"/>
          </a:p>
        </p:txBody>
      </p:sp>
      <p:sp>
        <p:nvSpPr>
          <p:cNvPr id="113" name="Shape 111"/>
          <p:cNvSpPr/>
          <p:nvPr/>
        </p:nvSpPr>
        <p:spPr>
          <a:xfrm>
            <a:off x="3730752" y="4389120"/>
            <a:ext cx="1627632" cy="59436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14" name="Shape 112"/>
          <p:cNvSpPr/>
          <p:nvPr/>
        </p:nvSpPr>
        <p:spPr>
          <a:xfrm>
            <a:off x="3730752" y="4389120"/>
            <a:ext cx="530352" cy="594360"/>
          </a:xfrm>
          <a:prstGeom prst="roundRect">
            <a:avLst>
              <a:gd name="adj" fmla="val 12069"/>
            </a:avLst>
          </a:prstGeom>
          <a:solidFill>
            <a:srgbClr val="1B2B5E"/>
          </a:solidFill>
          <a:ln/>
        </p:spPr>
      </p:sp>
      <p:sp>
        <p:nvSpPr>
          <p:cNvPr id="115" name="Text 113"/>
          <p:cNvSpPr/>
          <p:nvPr/>
        </p:nvSpPr>
        <p:spPr>
          <a:xfrm>
            <a:off x="3730752" y="4389120"/>
            <a:ext cx="5303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Q28</a:t>
            </a:r>
            <a:endParaRPr lang="en-US" sz="950" dirty="0"/>
          </a:p>
        </p:txBody>
      </p:sp>
      <p:sp>
        <p:nvSpPr>
          <p:cNvPr id="116" name="Text 114"/>
          <p:cNvSpPr/>
          <p:nvPr/>
        </p:nvSpPr>
        <p:spPr>
          <a:xfrm>
            <a:off x="4261104" y="438912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117" name="Shape 115"/>
          <p:cNvSpPr/>
          <p:nvPr/>
        </p:nvSpPr>
        <p:spPr>
          <a:xfrm>
            <a:off x="5468112" y="4389120"/>
            <a:ext cx="1627632" cy="59436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18" name="Shape 116"/>
          <p:cNvSpPr/>
          <p:nvPr/>
        </p:nvSpPr>
        <p:spPr>
          <a:xfrm>
            <a:off x="5468112" y="4389120"/>
            <a:ext cx="530352" cy="594360"/>
          </a:xfrm>
          <a:prstGeom prst="roundRect">
            <a:avLst>
              <a:gd name="adj" fmla="val 12069"/>
            </a:avLst>
          </a:prstGeom>
          <a:solidFill>
            <a:srgbClr val="7B3F00"/>
          </a:solidFill>
          <a:ln/>
        </p:spPr>
      </p:sp>
      <p:sp>
        <p:nvSpPr>
          <p:cNvPr id="119" name="Text 117"/>
          <p:cNvSpPr/>
          <p:nvPr/>
        </p:nvSpPr>
        <p:spPr>
          <a:xfrm>
            <a:off x="5468112" y="4389120"/>
            <a:ext cx="5303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Q29</a:t>
            </a:r>
            <a:endParaRPr lang="en-US" sz="950" dirty="0"/>
          </a:p>
        </p:txBody>
      </p:sp>
      <p:sp>
        <p:nvSpPr>
          <p:cNvPr id="120" name="Text 118"/>
          <p:cNvSpPr/>
          <p:nvPr/>
        </p:nvSpPr>
        <p:spPr>
          <a:xfrm>
            <a:off x="5998464" y="438912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B3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  <p:sp>
        <p:nvSpPr>
          <p:cNvPr id="121" name="Shape 119"/>
          <p:cNvSpPr/>
          <p:nvPr/>
        </p:nvSpPr>
        <p:spPr>
          <a:xfrm>
            <a:off x="7205472" y="4389120"/>
            <a:ext cx="1627632" cy="59436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22" name="Shape 120"/>
          <p:cNvSpPr/>
          <p:nvPr/>
        </p:nvSpPr>
        <p:spPr>
          <a:xfrm>
            <a:off x="7205472" y="4389120"/>
            <a:ext cx="530352" cy="594360"/>
          </a:xfrm>
          <a:prstGeom prst="roundRect">
            <a:avLst>
              <a:gd name="adj" fmla="val 12069"/>
            </a:avLst>
          </a:prstGeom>
          <a:solidFill>
            <a:srgbClr val="7B3F00"/>
          </a:solidFill>
          <a:ln/>
        </p:spPr>
      </p:sp>
      <p:sp>
        <p:nvSpPr>
          <p:cNvPr id="123" name="Text 121"/>
          <p:cNvSpPr/>
          <p:nvPr/>
        </p:nvSpPr>
        <p:spPr>
          <a:xfrm>
            <a:off x="7205472" y="4389120"/>
            <a:ext cx="5303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Q30</a:t>
            </a:r>
            <a:endParaRPr lang="en-US" sz="950" dirty="0"/>
          </a:p>
        </p:txBody>
      </p:sp>
      <p:sp>
        <p:nvSpPr>
          <p:cNvPr id="124" name="Text 122"/>
          <p:cNvSpPr/>
          <p:nvPr/>
        </p:nvSpPr>
        <p:spPr>
          <a:xfrm>
            <a:off x="7735824" y="438912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B3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  <p:sp>
        <p:nvSpPr>
          <p:cNvPr id="125" name="Shape 123"/>
          <p:cNvSpPr/>
          <p:nvPr/>
        </p:nvSpPr>
        <p:spPr>
          <a:xfrm>
            <a:off x="256032" y="5074920"/>
            <a:ext cx="1627632" cy="59436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26" name="Shape 124"/>
          <p:cNvSpPr/>
          <p:nvPr/>
        </p:nvSpPr>
        <p:spPr>
          <a:xfrm>
            <a:off x="256032" y="5074920"/>
            <a:ext cx="530352" cy="594360"/>
          </a:xfrm>
          <a:prstGeom prst="roundRect">
            <a:avLst>
              <a:gd name="adj" fmla="val 12069"/>
            </a:avLst>
          </a:prstGeom>
          <a:solidFill>
            <a:srgbClr val="1B2B5E"/>
          </a:solidFill>
          <a:ln/>
        </p:spPr>
      </p:sp>
      <p:sp>
        <p:nvSpPr>
          <p:cNvPr id="127" name="Text 125"/>
          <p:cNvSpPr/>
          <p:nvPr/>
        </p:nvSpPr>
        <p:spPr>
          <a:xfrm>
            <a:off x="256032" y="5074920"/>
            <a:ext cx="5303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Q31</a:t>
            </a:r>
            <a:endParaRPr lang="en-US" sz="950" dirty="0"/>
          </a:p>
        </p:txBody>
      </p:sp>
      <p:sp>
        <p:nvSpPr>
          <p:cNvPr id="128" name="Text 126"/>
          <p:cNvSpPr/>
          <p:nvPr/>
        </p:nvSpPr>
        <p:spPr>
          <a:xfrm>
            <a:off x="786384" y="507492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129" name="Shape 127"/>
          <p:cNvSpPr/>
          <p:nvPr/>
        </p:nvSpPr>
        <p:spPr>
          <a:xfrm>
            <a:off x="1993392" y="5074920"/>
            <a:ext cx="1627632" cy="59436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30" name="Shape 128"/>
          <p:cNvSpPr/>
          <p:nvPr/>
        </p:nvSpPr>
        <p:spPr>
          <a:xfrm>
            <a:off x="1993392" y="5074920"/>
            <a:ext cx="530352" cy="594360"/>
          </a:xfrm>
          <a:prstGeom prst="roundRect">
            <a:avLst>
              <a:gd name="adj" fmla="val 12069"/>
            </a:avLst>
          </a:prstGeom>
          <a:solidFill>
            <a:srgbClr val="7B3F00"/>
          </a:solidFill>
          <a:ln/>
        </p:spPr>
      </p:sp>
      <p:sp>
        <p:nvSpPr>
          <p:cNvPr id="131" name="Text 129"/>
          <p:cNvSpPr/>
          <p:nvPr/>
        </p:nvSpPr>
        <p:spPr>
          <a:xfrm>
            <a:off x="1993392" y="5074920"/>
            <a:ext cx="5303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Q32</a:t>
            </a:r>
            <a:endParaRPr lang="en-US" sz="950" dirty="0"/>
          </a:p>
        </p:txBody>
      </p:sp>
      <p:sp>
        <p:nvSpPr>
          <p:cNvPr id="132" name="Text 130"/>
          <p:cNvSpPr/>
          <p:nvPr/>
        </p:nvSpPr>
        <p:spPr>
          <a:xfrm>
            <a:off x="2523744" y="507492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B3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  <p:sp>
        <p:nvSpPr>
          <p:cNvPr id="133" name="Shape 131"/>
          <p:cNvSpPr/>
          <p:nvPr/>
        </p:nvSpPr>
        <p:spPr>
          <a:xfrm>
            <a:off x="3730752" y="5074920"/>
            <a:ext cx="1627632" cy="59436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34" name="Shape 132"/>
          <p:cNvSpPr/>
          <p:nvPr/>
        </p:nvSpPr>
        <p:spPr>
          <a:xfrm>
            <a:off x="3730752" y="5074920"/>
            <a:ext cx="530352" cy="594360"/>
          </a:xfrm>
          <a:prstGeom prst="roundRect">
            <a:avLst>
              <a:gd name="adj" fmla="val 12069"/>
            </a:avLst>
          </a:prstGeom>
          <a:solidFill>
            <a:srgbClr val="1B2B5E"/>
          </a:solidFill>
          <a:ln/>
        </p:spPr>
      </p:sp>
      <p:sp>
        <p:nvSpPr>
          <p:cNvPr id="135" name="Text 133"/>
          <p:cNvSpPr/>
          <p:nvPr/>
        </p:nvSpPr>
        <p:spPr>
          <a:xfrm>
            <a:off x="3730752" y="5074920"/>
            <a:ext cx="5303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Q33</a:t>
            </a:r>
            <a:endParaRPr lang="en-US" sz="950" dirty="0"/>
          </a:p>
        </p:txBody>
      </p:sp>
      <p:sp>
        <p:nvSpPr>
          <p:cNvPr id="136" name="Text 134"/>
          <p:cNvSpPr/>
          <p:nvPr/>
        </p:nvSpPr>
        <p:spPr>
          <a:xfrm>
            <a:off x="4261104" y="507492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137" name="Shape 135"/>
          <p:cNvSpPr/>
          <p:nvPr/>
        </p:nvSpPr>
        <p:spPr>
          <a:xfrm>
            <a:off x="5468112" y="5074920"/>
            <a:ext cx="1627632" cy="59436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38" name="Shape 136"/>
          <p:cNvSpPr/>
          <p:nvPr/>
        </p:nvSpPr>
        <p:spPr>
          <a:xfrm>
            <a:off x="5468112" y="5074920"/>
            <a:ext cx="530352" cy="594360"/>
          </a:xfrm>
          <a:prstGeom prst="roundRect">
            <a:avLst>
              <a:gd name="adj" fmla="val 12069"/>
            </a:avLst>
          </a:prstGeom>
          <a:solidFill>
            <a:srgbClr val="7B3F00"/>
          </a:solidFill>
          <a:ln/>
        </p:spPr>
      </p:sp>
      <p:sp>
        <p:nvSpPr>
          <p:cNvPr id="139" name="Text 137"/>
          <p:cNvSpPr/>
          <p:nvPr/>
        </p:nvSpPr>
        <p:spPr>
          <a:xfrm>
            <a:off x="5468112" y="5074920"/>
            <a:ext cx="5303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Q34</a:t>
            </a:r>
            <a:endParaRPr lang="en-US" sz="950" dirty="0"/>
          </a:p>
        </p:txBody>
      </p:sp>
      <p:sp>
        <p:nvSpPr>
          <p:cNvPr id="140" name="Text 138"/>
          <p:cNvSpPr/>
          <p:nvPr/>
        </p:nvSpPr>
        <p:spPr>
          <a:xfrm>
            <a:off x="5998464" y="507492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B3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  <p:sp>
        <p:nvSpPr>
          <p:cNvPr id="141" name="Shape 139"/>
          <p:cNvSpPr/>
          <p:nvPr/>
        </p:nvSpPr>
        <p:spPr>
          <a:xfrm>
            <a:off x="7205472" y="5074920"/>
            <a:ext cx="1627632" cy="59436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42" name="Shape 140"/>
          <p:cNvSpPr/>
          <p:nvPr/>
        </p:nvSpPr>
        <p:spPr>
          <a:xfrm>
            <a:off x="7205472" y="5074920"/>
            <a:ext cx="530352" cy="594360"/>
          </a:xfrm>
          <a:prstGeom prst="roundRect">
            <a:avLst>
              <a:gd name="adj" fmla="val 12069"/>
            </a:avLst>
          </a:prstGeom>
          <a:solidFill>
            <a:srgbClr val="4A1A8A"/>
          </a:solidFill>
          <a:ln/>
        </p:spPr>
      </p:sp>
      <p:sp>
        <p:nvSpPr>
          <p:cNvPr id="143" name="Text 141"/>
          <p:cNvSpPr/>
          <p:nvPr/>
        </p:nvSpPr>
        <p:spPr>
          <a:xfrm>
            <a:off x="7205472" y="5074920"/>
            <a:ext cx="5303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Q35</a:t>
            </a:r>
            <a:endParaRPr lang="en-US" sz="950" dirty="0"/>
          </a:p>
        </p:txBody>
      </p:sp>
      <p:sp>
        <p:nvSpPr>
          <p:cNvPr id="144" name="Text 142"/>
          <p:cNvSpPr/>
          <p:nvPr/>
        </p:nvSpPr>
        <p:spPr>
          <a:xfrm>
            <a:off x="7735824" y="507492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A1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200" dirty="0"/>
          </a:p>
        </p:txBody>
      </p:sp>
      <p:sp>
        <p:nvSpPr>
          <p:cNvPr id="145" name="Shape 143"/>
          <p:cNvSpPr/>
          <p:nvPr/>
        </p:nvSpPr>
        <p:spPr>
          <a:xfrm>
            <a:off x="256032" y="5760720"/>
            <a:ext cx="1627632" cy="59436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46" name="Shape 144"/>
          <p:cNvSpPr/>
          <p:nvPr/>
        </p:nvSpPr>
        <p:spPr>
          <a:xfrm>
            <a:off x="256032" y="5760720"/>
            <a:ext cx="530352" cy="594360"/>
          </a:xfrm>
          <a:prstGeom prst="roundRect">
            <a:avLst>
              <a:gd name="adj" fmla="val 12069"/>
            </a:avLst>
          </a:prstGeom>
          <a:solidFill>
            <a:srgbClr val="7B3F00"/>
          </a:solidFill>
          <a:ln/>
        </p:spPr>
      </p:sp>
      <p:sp>
        <p:nvSpPr>
          <p:cNvPr id="147" name="Text 145"/>
          <p:cNvSpPr/>
          <p:nvPr/>
        </p:nvSpPr>
        <p:spPr>
          <a:xfrm>
            <a:off x="256032" y="5760720"/>
            <a:ext cx="5303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Q36</a:t>
            </a:r>
            <a:endParaRPr lang="en-US" sz="950" dirty="0"/>
          </a:p>
        </p:txBody>
      </p:sp>
      <p:sp>
        <p:nvSpPr>
          <p:cNvPr id="148" name="Text 146"/>
          <p:cNvSpPr/>
          <p:nvPr/>
        </p:nvSpPr>
        <p:spPr>
          <a:xfrm>
            <a:off x="786384" y="576072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B3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  <p:sp>
        <p:nvSpPr>
          <p:cNvPr id="149" name="Shape 147"/>
          <p:cNvSpPr/>
          <p:nvPr/>
        </p:nvSpPr>
        <p:spPr>
          <a:xfrm>
            <a:off x="1993392" y="5760720"/>
            <a:ext cx="1627632" cy="59436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50" name="Shape 148"/>
          <p:cNvSpPr/>
          <p:nvPr/>
        </p:nvSpPr>
        <p:spPr>
          <a:xfrm>
            <a:off x="1993392" y="5760720"/>
            <a:ext cx="530352" cy="594360"/>
          </a:xfrm>
          <a:prstGeom prst="roundRect">
            <a:avLst>
              <a:gd name="adj" fmla="val 12069"/>
            </a:avLst>
          </a:prstGeom>
          <a:solidFill>
            <a:srgbClr val="7B3F00"/>
          </a:solidFill>
          <a:ln/>
        </p:spPr>
      </p:sp>
      <p:sp>
        <p:nvSpPr>
          <p:cNvPr id="151" name="Text 149"/>
          <p:cNvSpPr/>
          <p:nvPr/>
        </p:nvSpPr>
        <p:spPr>
          <a:xfrm>
            <a:off x="1993392" y="5760720"/>
            <a:ext cx="5303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Q37</a:t>
            </a:r>
            <a:endParaRPr lang="en-US" sz="950" dirty="0"/>
          </a:p>
        </p:txBody>
      </p:sp>
      <p:sp>
        <p:nvSpPr>
          <p:cNvPr id="152" name="Text 150"/>
          <p:cNvSpPr/>
          <p:nvPr/>
        </p:nvSpPr>
        <p:spPr>
          <a:xfrm>
            <a:off x="2523744" y="576072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B3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  <p:sp>
        <p:nvSpPr>
          <p:cNvPr id="153" name="Shape 151"/>
          <p:cNvSpPr/>
          <p:nvPr/>
        </p:nvSpPr>
        <p:spPr>
          <a:xfrm>
            <a:off x="3730752" y="5760720"/>
            <a:ext cx="1627632" cy="59436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54" name="Shape 152"/>
          <p:cNvSpPr/>
          <p:nvPr/>
        </p:nvSpPr>
        <p:spPr>
          <a:xfrm>
            <a:off x="3730752" y="5760720"/>
            <a:ext cx="530352" cy="594360"/>
          </a:xfrm>
          <a:prstGeom prst="roundRect">
            <a:avLst>
              <a:gd name="adj" fmla="val 12069"/>
            </a:avLst>
          </a:prstGeom>
          <a:solidFill>
            <a:srgbClr val="4A1A8A"/>
          </a:solidFill>
          <a:ln/>
        </p:spPr>
      </p:sp>
      <p:sp>
        <p:nvSpPr>
          <p:cNvPr id="155" name="Text 153"/>
          <p:cNvSpPr/>
          <p:nvPr/>
        </p:nvSpPr>
        <p:spPr>
          <a:xfrm>
            <a:off x="3730752" y="5760720"/>
            <a:ext cx="5303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Q38</a:t>
            </a:r>
            <a:endParaRPr lang="en-US" sz="950" dirty="0"/>
          </a:p>
        </p:txBody>
      </p:sp>
      <p:sp>
        <p:nvSpPr>
          <p:cNvPr id="156" name="Text 154"/>
          <p:cNvSpPr/>
          <p:nvPr/>
        </p:nvSpPr>
        <p:spPr>
          <a:xfrm>
            <a:off x="4261104" y="576072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A1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200" dirty="0"/>
          </a:p>
        </p:txBody>
      </p:sp>
      <p:sp>
        <p:nvSpPr>
          <p:cNvPr id="157" name="Shape 155"/>
          <p:cNvSpPr/>
          <p:nvPr/>
        </p:nvSpPr>
        <p:spPr>
          <a:xfrm>
            <a:off x="5468112" y="5760720"/>
            <a:ext cx="1627632" cy="59436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58" name="Shape 156"/>
          <p:cNvSpPr/>
          <p:nvPr/>
        </p:nvSpPr>
        <p:spPr>
          <a:xfrm>
            <a:off x="5468112" y="5760720"/>
            <a:ext cx="530352" cy="594360"/>
          </a:xfrm>
          <a:prstGeom prst="roundRect">
            <a:avLst>
              <a:gd name="adj" fmla="val 12069"/>
            </a:avLst>
          </a:prstGeom>
          <a:solidFill>
            <a:srgbClr val="4A1A8A"/>
          </a:solidFill>
          <a:ln/>
        </p:spPr>
      </p:sp>
      <p:sp>
        <p:nvSpPr>
          <p:cNvPr id="159" name="Text 157"/>
          <p:cNvSpPr/>
          <p:nvPr/>
        </p:nvSpPr>
        <p:spPr>
          <a:xfrm>
            <a:off x="5468112" y="5760720"/>
            <a:ext cx="5303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Q39</a:t>
            </a:r>
            <a:endParaRPr lang="en-US" sz="950" dirty="0"/>
          </a:p>
        </p:txBody>
      </p:sp>
      <p:sp>
        <p:nvSpPr>
          <p:cNvPr id="160" name="Text 158"/>
          <p:cNvSpPr/>
          <p:nvPr/>
        </p:nvSpPr>
        <p:spPr>
          <a:xfrm>
            <a:off x="5998464" y="576072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A1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200" dirty="0"/>
          </a:p>
        </p:txBody>
      </p:sp>
      <p:sp>
        <p:nvSpPr>
          <p:cNvPr id="161" name="Shape 159"/>
          <p:cNvSpPr/>
          <p:nvPr/>
        </p:nvSpPr>
        <p:spPr>
          <a:xfrm>
            <a:off x="7205472" y="5760720"/>
            <a:ext cx="1627632" cy="59436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62" name="Shape 160"/>
          <p:cNvSpPr/>
          <p:nvPr/>
        </p:nvSpPr>
        <p:spPr>
          <a:xfrm>
            <a:off x="7205472" y="5760720"/>
            <a:ext cx="530352" cy="594360"/>
          </a:xfrm>
          <a:prstGeom prst="roundRect">
            <a:avLst>
              <a:gd name="adj" fmla="val 12069"/>
            </a:avLst>
          </a:prstGeom>
          <a:solidFill>
            <a:srgbClr val="4A1A8A"/>
          </a:solidFill>
          <a:ln/>
        </p:spPr>
      </p:sp>
      <p:sp>
        <p:nvSpPr>
          <p:cNvPr id="163" name="Text 161"/>
          <p:cNvSpPr/>
          <p:nvPr/>
        </p:nvSpPr>
        <p:spPr>
          <a:xfrm>
            <a:off x="7205472" y="5760720"/>
            <a:ext cx="5303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Q40</a:t>
            </a:r>
            <a:endParaRPr lang="en-US" sz="950" dirty="0"/>
          </a:p>
        </p:txBody>
      </p:sp>
      <p:sp>
        <p:nvSpPr>
          <p:cNvPr id="164" name="Text 162"/>
          <p:cNvSpPr/>
          <p:nvPr/>
        </p:nvSpPr>
        <p:spPr>
          <a:xfrm>
            <a:off x="7735824" y="576072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A1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200" dirty="0"/>
          </a:p>
        </p:txBody>
      </p:sp>
      <p:sp>
        <p:nvSpPr>
          <p:cNvPr id="165" name="Shape 163"/>
          <p:cNvSpPr/>
          <p:nvPr/>
        </p:nvSpPr>
        <p:spPr>
          <a:xfrm>
            <a:off x="256032" y="6446520"/>
            <a:ext cx="1627632" cy="59436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66" name="Shape 164"/>
          <p:cNvSpPr/>
          <p:nvPr/>
        </p:nvSpPr>
        <p:spPr>
          <a:xfrm>
            <a:off x="256032" y="6446520"/>
            <a:ext cx="530352" cy="594360"/>
          </a:xfrm>
          <a:prstGeom prst="roundRect">
            <a:avLst>
              <a:gd name="adj" fmla="val 12069"/>
            </a:avLst>
          </a:prstGeom>
          <a:solidFill>
            <a:srgbClr val="4A1A8A"/>
          </a:solidFill>
          <a:ln/>
        </p:spPr>
      </p:sp>
      <p:sp>
        <p:nvSpPr>
          <p:cNvPr id="167" name="Text 165"/>
          <p:cNvSpPr/>
          <p:nvPr/>
        </p:nvSpPr>
        <p:spPr>
          <a:xfrm>
            <a:off x="256032" y="6446520"/>
            <a:ext cx="5303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Q41</a:t>
            </a:r>
            <a:endParaRPr lang="en-US" sz="950" dirty="0"/>
          </a:p>
        </p:txBody>
      </p:sp>
      <p:sp>
        <p:nvSpPr>
          <p:cNvPr id="168" name="Text 166"/>
          <p:cNvSpPr/>
          <p:nvPr/>
        </p:nvSpPr>
        <p:spPr>
          <a:xfrm>
            <a:off x="786384" y="644652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A1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200" dirty="0"/>
          </a:p>
        </p:txBody>
      </p:sp>
      <p:sp>
        <p:nvSpPr>
          <p:cNvPr id="169" name="Shape 167"/>
          <p:cNvSpPr/>
          <p:nvPr/>
        </p:nvSpPr>
        <p:spPr>
          <a:xfrm>
            <a:off x="1993392" y="6446520"/>
            <a:ext cx="1627632" cy="59436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70" name="Shape 168"/>
          <p:cNvSpPr/>
          <p:nvPr/>
        </p:nvSpPr>
        <p:spPr>
          <a:xfrm>
            <a:off x="1993392" y="6446520"/>
            <a:ext cx="530352" cy="594360"/>
          </a:xfrm>
          <a:prstGeom prst="roundRect">
            <a:avLst>
              <a:gd name="adj" fmla="val 12069"/>
            </a:avLst>
          </a:prstGeom>
          <a:solidFill>
            <a:srgbClr val="7B3F00"/>
          </a:solidFill>
          <a:ln/>
        </p:spPr>
      </p:sp>
      <p:sp>
        <p:nvSpPr>
          <p:cNvPr id="171" name="Text 169"/>
          <p:cNvSpPr/>
          <p:nvPr/>
        </p:nvSpPr>
        <p:spPr>
          <a:xfrm>
            <a:off x="1993392" y="6446520"/>
            <a:ext cx="5303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Q42</a:t>
            </a:r>
            <a:endParaRPr lang="en-US" sz="950" dirty="0"/>
          </a:p>
        </p:txBody>
      </p:sp>
      <p:sp>
        <p:nvSpPr>
          <p:cNvPr id="172" name="Text 170"/>
          <p:cNvSpPr/>
          <p:nvPr/>
        </p:nvSpPr>
        <p:spPr>
          <a:xfrm>
            <a:off x="2523744" y="644652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B3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  <p:sp>
        <p:nvSpPr>
          <p:cNvPr id="173" name="Shape 171"/>
          <p:cNvSpPr/>
          <p:nvPr/>
        </p:nvSpPr>
        <p:spPr>
          <a:xfrm>
            <a:off x="3730752" y="6446520"/>
            <a:ext cx="1627632" cy="59436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74" name="Shape 172"/>
          <p:cNvSpPr/>
          <p:nvPr/>
        </p:nvSpPr>
        <p:spPr>
          <a:xfrm>
            <a:off x="3730752" y="6446520"/>
            <a:ext cx="530352" cy="594360"/>
          </a:xfrm>
          <a:prstGeom prst="roundRect">
            <a:avLst>
              <a:gd name="adj" fmla="val 12069"/>
            </a:avLst>
          </a:prstGeom>
          <a:solidFill>
            <a:srgbClr val="4A1A8A"/>
          </a:solidFill>
          <a:ln/>
        </p:spPr>
      </p:sp>
      <p:sp>
        <p:nvSpPr>
          <p:cNvPr id="175" name="Text 173"/>
          <p:cNvSpPr/>
          <p:nvPr/>
        </p:nvSpPr>
        <p:spPr>
          <a:xfrm>
            <a:off x="3730752" y="6446520"/>
            <a:ext cx="5303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Q43</a:t>
            </a:r>
            <a:endParaRPr lang="en-US" sz="950" dirty="0"/>
          </a:p>
        </p:txBody>
      </p:sp>
      <p:sp>
        <p:nvSpPr>
          <p:cNvPr id="176" name="Text 174"/>
          <p:cNvSpPr/>
          <p:nvPr/>
        </p:nvSpPr>
        <p:spPr>
          <a:xfrm>
            <a:off x="4261104" y="644652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A1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200" dirty="0"/>
          </a:p>
        </p:txBody>
      </p:sp>
      <p:sp>
        <p:nvSpPr>
          <p:cNvPr id="177" name="Shape 175"/>
          <p:cNvSpPr/>
          <p:nvPr/>
        </p:nvSpPr>
        <p:spPr>
          <a:xfrm>
            <a:off x="5468112" y="6446520"/>
            <a:ext cx="1627632" cy="59436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78" name="Shape 176"/>
          <p:cNvSpPr/>
          <p:nvPr/>
        </p:nvSpPr>
        <p:spPr>
          <a:xfrm>
            <a:off x="5468112" y="6446520"/>
            <a:ext cx="530352" cy="594360"/>
          </a:xfrm>
          <a:prstGeom prst="roundRect">
            <a:avLst>
              <a:gd name="adj" fmla="val 12069"/>
            </a:avLst>
          </a:prstGeom>
          <a:solidFill>
            <a:srgbClr val="7B3F00"/>
          </a:solidFill>
          <a:ln/>
        </p:spPr>
      </p:sp>
      <p:sp>
        <p:nvSpPr>
          <p:cNvPr id="179" name="Text 177"/>
          <p:cNvSpPr/>
          <p:nvPr/>
        </p:nvSpPr>
        <p:spPr>
          <a:xfrm>
            <a:off x="5468112" y="6446520"/>
            <a:ext cx="5303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Q44</a:t>
            </a:r>
            <a:endParaRPr lang="en-US" sz="950" dirty="0"/>
          </a:p>
        </p:txBody>
      </p:sp>
      <p:sp>
        <p:nvSpPr>
          <p:cNvPr id="180" name="Text 178"/>
          <p:cNvSpPr/>
          <p:nvPr/>
        </p:nvSpPr>
        <p:spPr>
          <a:xfrm>
            <a:off x="5998464" y="644652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B3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  <p:sp>
        <p:nvSpPr>
          <p:cNvPr id="181" name="Shape 179"/>
          <p:cNvSpPr/>
          <p:nvPr/>
        </p:nvSpPr>
        <p:spPr>
          <a:xfrm>
            <a:off x="7205472" y="6446520"/>
            <a:ext cx="1627632" cy="59436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82" name="Shape 180"/>
          <p:cNvSpPr/>
          <p:nvPr/>
        </p:nvSpPr>
        <p:spPr>
          <a:xfrm>
            <a:off x="7205472" y="6446520"/>
            <a:ext cx="530352" cy="594360"/>
          </a:xfrm>
          <a:prstGeom prst="roundRect">
            <a:avLst>
              <a:gd name="adj" fmla="val 12069"/>
            </a:avLst>
          </a:prstGeom>
          <a:solidFill>
            <a:srgbClr val="7B3F00"/>
          </a:solidFill>
          <a:ln/>
        </p:spPr>
      </p:sp>
      <p:sp>
        <p:nvSpPr>
          <p:cNvPr id="183" name="Text 181"/>
          <p:cNvSpPr/>
          <p:nvPr/>
        </p:nvSpPr>
        <p:spPr>
          <a:xfrm>
            <a:off x="7205472" y="6446520"/>
            <a:ext cx="5303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Q45</a:t>
            </a:r>
            <a:endParaRPr lang="en-US" sz="950" dirty="0"/>
          </a:p>
        </p:txBody>
      </p:sp>
      <p:sp>
        <p:nvSpPr>
          <p:cNvPr id="184" name="Text 182"/>
          <p:cNvSpPr/>
          <p:nvPr/>
        </p:nvSpPr>
        <p:spPr>
          <a:xfrm>
            <a:off x="7735824" y="644652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B3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  <p:sp>
        <p:nvSpPr>
          <p:cNvPr id="185" name="Shape 183"/>
          <p:cNvSpPr/>
          <p:nvPr/>
        </p:nvSpPr>
        <p:spPr>
          <a:xfrm>
            <a:off x="256032" y="7132320"/>
            <a:ext cx="1627632" cy="59436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86" name="Shape 184"/>
          <p:cNvSpPr/>
          <p:nvPr/>
        </p:nvSpPr>
        <p:spPr>
          <a:xfrm>
            <a:off x="256032" y="7132320"/>
            <a:ext cx="530352" cy="594360"/>
          </a:xfrm>
          <a:prstGeom prst="roundRect">
            <a:avLst>
              <a:gd name="adj" fmla="val 12069"/>
            </a:avLst>
          </a:prstGeom>
          <a:solidFill>
            <a:srgbClr val="4A1A8A"/>
          </a:solidFill>
          <a:ln/>
        </p:spPr>
      </p:sp>
      <p:sp>
        <p:nvSpPr>
          <p:cNvPr id="187" name="Text 185"/>
          <p:cNvSpPr/>
          <p:nvPr/>
        </p:nvSpPr>
        <p:spPr>
          <a:xfrm>
            <a:off x="256032" y="7132320"/>
            <a:ext cx="5303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Q46</a:t>
            </a:r>
            <a:endParaRPr lang="en-US" sz="950" dirty="0"/>
          </a:p>
        </p:txBody>
      </p:sp>
      <p:sp>
        <p:nvSpPr>
          <p:cNvPr id="188" name="Text 186"/>
          <p:cNvSpPr/>
          <p:nvPr/>
        </p:nvSpPr>
        <p:spPr>
          <a:xfrm>
            <a:off x="786384" y="713232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A1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200" dirty="0"/>
          </a:p>
        </p:txBody>
      </p:sp>
      <p:sp>
        <p:nvSpPr>
          <p:cNvPr id="189" name="Shape 187"/>
          <p:cNvSpPr/>
          <p:nvPr/>
        </p:nvSpPr>
        <p:spPr>
          <a:xfrm>
            <a:off x="1993392" y="7132320"/>
            <a:ext cx="1627632" cy="59436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90" name="Shape 188"/>
          <p:cNvSpPr/>
          <p:nvPr/>
        </p:nvSpPr>
        <p:spPr>
          <a:xfrm>
            <a:off x="1993392" y="7132320"/>
            <a:ext cx="530352" cy="594360"/>
          </a:xfrm>
          <a:prstGeom prst="roundRect">
            <a:avLst>
              <a:gd name="adj" fmla="val 12069"/>
            </a:avLst>
          </a:prstGeom>
          <a:solidFill>
            <a:srgbClr val="4A1A8A"/>
          </a:solidFill>
          <a:ln/>
        </p:spPr>
      </p:sp>
      <p:sp>
        <p:nvSpPr>
          <p:cNvPr id="191" name="Text 189"/>
          <p:cNvSpPr/>
          <p:nvPr/>
        </p:nvSpPr>
        <p:spPr>
          <a:xfrm>
            <a:off x="1993392" y="7132320"/>
            <a:ext cx="5303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Q47</a:t>
            </a:r>
            <a:endParaRPr lang="en-US" sz="950" dirty="0"/>
          </a:p>
        </p:txBody>
      </p:sp>
      <p:sp>
        <p:nvSpPr>
          <p:cNvPr id="192" name="Text 190"/>
          <p:cNvSpPr/>
          <p:nvPr/>
        </p:nvSpPr>
        <p:spPr>
          <a:xfrm>
            <a:off x="2523744" y="713232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A1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200" dirty="0"/>
          </a:p>
        </p:txBody>
      </p:sp>
      <p:sp>
        <p:nvSpPr>
          <p:cNvPr id="193" name="Shape 191"/>
          <p:cNvSpPr/>
          <p:nvPr/>
        </p:nvSpPr>
        <p:spPr>
          <a:xfrm>
            <a:off x="3730752" y="7132320"/>
            <a:ext cx="1627632" cy="59436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94" name="Shape 192"/>
          <p:cNvSpPr/>
          <p:nvPr/>
        </p:nvSpPr>
        <p:spPr>
          <a:xfrm>
            <a:off x="3730752" y="7132320"/>
            <a:ext cx="530352" cy="594360"/>
          </a:xfrm>
          <a:prstGeom prst="roundRect">
            <a:avLst>
              <a:gd name="adj" fmla="val 12069"/>
            </a:avLst>
          </a:prstGeom>
          <a:solidFill>
            <a:srgbClr val="7B3F00"/>
          </a:solidFill>
          <a:ln/>
        </p:spPr>
      </p:sp>
      <p:sp>
        <p:nvSpPr>
          <p:cNvPr id="195" name="Text 193"/>
          <p:cNvSpPr/>
          <p:nvPr/>
        </p:nvSpPr>
        <p:spPr>
          <a:xfrm>
            <a:off x="3730752" y="7132320"/>
            <a:ext cx="5303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Q48</a:t>
            </a:r>
            <a:endParaRPr lang="en-US" sz="950" dirty="0"/>
          </a:p>
        </p:txBody>
      </p:sp>
      <p:sp>
        <p:nvSpPr>
          <p:cNvPr id="196" name="Text 194"/>
          <p:cNvSpPr/>
          <p:nvPr/>
        </p:nvSpPr>
        <p:spPr>
          <a:xfrm>
            <a:off x="4261104" y="713232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B3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  <p:sp>
        <p:nvSpPr>
          <p:cNvPr id="197" name="Shape 195"/>
          <p:cNvSpPr/>
          <p:nvPr/>
        </p:nvSpPr>
        <p:spPr>
          <a:xfrm>
            <a:off x="5468112" y="7132320"/>
            <a:ext cx="1627632" cy="59436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98" name="Shape 196"/>
          <p:cNvSpPr/>
          <p:nvPr/>
        </p:nvSpPr>
        <p:spPr>
          <a:xfrm>
            <a:off x="5468112" y="7132320"/>
            <a:ext cx="530352" cy="594360"/>
          </a:xfrm>
          <a:prstGeom prst="roundRect">
            <a:avLst>
              <a:gd name="adj" fmla="val 12069"/>
            </a:avLst>
          </a:prstGeom>
          <a:solidFill>
            <a:srgbClr val="1B2B5E"/>
          </a:solidFill>
          <a:ln/>
        </p:spPr>
      </p:sp>
      <p:sp>
        <p:nvSpPr>
          <p:cNvPr id="199" name="Text 197"/>
          <p:cNvSpPr/>
          <p:nvPr/>
        </p:nvSpPr>
        <p:spPr>
          <a:xfrm>
            <a:off x="5468112" y="7132320"/>
            <a:ext cx="5303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Q49</a:t>
            </a:r>
            <a:endParaRPr lang="en-US" sz="950" dirty="0"/>
          </a:p>
        </p:txBody>
      </p:sp>
      <p:sp>
        <p:nvSpPr>
          <p:cNvPr id="200" name="Text 198"/>
          <p:cNvSpPr/>
          <p:nvPr/>
        </p:nvSpPr>
        <p:spPr>
          <a:xfrm>
            <a:off x="5998464" y="713232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201" name="Shape 199"/>
          <p:cNvSpPr/>
          <p:nvPr/>
        </p:nvSpPr>
        <p:spPr>
          <a:xfrm>
            <a:off x="7205472" y="7132320"/>
            <a:ext cx="1627632" cy="59436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02" name="Shape 200"/>
          <p:cNvSpPr/>
          <p:nvPr/>
        </p:nvSpPr>
        <p:spPr>
          <a:xfrm>
            <a:off x="7205472" y="7132320"/>
            <a:ext cx="530352" cy="594360"/>
          </a:xfrm>
          <a:prstGeom prst="roundRect">
            <a:avLst>
              <a:gd name="adj" fmla="val 12069"/>
            </a:avLst>
          </a:prstGeom>
          <a:solidFill>
            <a:srgbClr val="4A1A8A"/>
          </a:solidFill>
          <a:ln/>
        </p:spPr>
      </p:sp>
      <p:sp>
        <p:nvSpPr>
          <p:cNvPr id="203" name="Text 201"/>
          <p:cNvSpPr/>
          <p:nvPr/>
        </p:nvSpPr>
        <p:spPr>
          <a:xfrm>
            <a:off x="7205472" y="7132320"/>
            <a:ext cx="5303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Q50</a:t>
            </a:r>
            <a:endParaRPr lang="en-US" sz="950" dirty="0"/>
          </a:p>
        </p:txBody>
      </p:sp>
      <p:sp>
        <p:nvSpPr>
          <p:cNvPr id="204" name="Text 202"/>
          <p:cNvSpPr/>
          <p:nvPr/>
        </p:nvSpPr>
        <p:spPr>
          <a:xfrm>
            <a:off x="7735824" y="713232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A1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200" dirty="0"/>
          </a:p>
        </p:txBody>
      </p:sp>
      <p:sp>
        <p:nvSpPr>
          <p:cNvPr id="205" name="Shape 203"/>
          <p:cNvSpPr/>
          <p:nvPr/>
        </p:nvSpPr>
        <p:spPr>
          <a:xfrm>
            <a:off x="256032" y="7818120"/>
            <a:ext cx="1627632" cy="59436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06" name="Shape 204"/>
          <p:cNvSpPr/>
          <p:nvPr/>
        </p:nvSpPr>
        <p:spPr>
          <a:xfrm>
            <a:off x="256032" y="7818120"/>
            <a:ext cx="530352" cy="594360"/>
          </a:xfrm>
          <a:prstGeom prst="roundRect">
            <a:avLst>
              <a:gd name="adj" fmla="val 12069"/>
            </a:avLst>
          </a:prstGeom>
          <a:solidFill>
            <a:srgbClr val="4A1A8A"/>
          </a:solidFill>
          <a:ln/>
        </p:spPr>
      </p:sp>
      <p:sp>
        <p:nvSpPr>
          <p:cNvPr id="207" name="Text 205"/>
          <p:cNvSpPr/>
          <p:nvPr/>
        </p:nvSpPr>
        <p:spPr>
          <a:xfrm>
            <a:off x="256032" y="7818120"/>
            <a:ext cx="5303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Q51</a:t>
            </a:r>
            <a:endParaRPr lang="en-US" sz="950" dirty="0"/>
          </a:p>
        </p:txBody>
      </p:sp>
      <p:sp>
        <p:nvSpPr>
          <p:cNvPr id="208" name="Text 206"/>
          <p:cNvSpPr/>
          <p:nvPr/>
        </p:nvSpPr>
        <p:spPr>
          <a:xfrm>
            <a:off x="786384" y="781812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A1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200" dirty="0"/>
          </a:p>
        </p:txBody>
      </p:sp>
      <p:sp>
        <p:nvSpPr>
          <p:cNvPr id="209" name="Shape 207"/>
          <p:cNvSpPr/>
          <p:nvPr/>
        </p:nvSpPr>
        <p:spPr>
          <a:xfrm>
            <a:off x="1993392" y="7818120"/>
            <a:ext cx="1627632" cy="59436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10" name="Shape 208"/>
          <p:cNvSpPr/>
          <p:nvPr/>
        </p:nvSpPr>
        <p:spPr>
          <a:xfrm>
            <a:off x="1993392" y="7818120"/>
            <a:ext cx="530352" cy="594360"/>
          </a:xfrm>
          <a:prstGeom prst="roundRect">
            <a:avLst>
              <a:gd name="adj" fmla="val 12069"/>
            </a:avLst>
          </a:prstGeom>
          <a:solidFill>
            <a:srgbClr val="4A1A8A"/>
          </a:solidFill>
          <a:ln/>
        </p:spPr>
      </p:sp>
      <p:sp>
        <p:nvSpPr>
          <p:cNvPr id="211" name="Text 209"/>
          <p:cNvSpPr/>
          <p:nvPr/>
        </p:nvSpPr>
        <p:spPr>
          <a:xfrm>
            <a:off x="1993392" y="7818120"/>
            <a:ext cx="5303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Q52</a:t>
            </a:r>
            <a:endParaRPr lang="en-US" sz="950" dirty="0"/>
          </a:p>
        </p:txBody>
      </p:sp>
      <p:sp>
        <p:nvSpPr>
          <p:cNvPr id="212" name="Text 210"/>
          <p:cNvSpPr/>
          <p:nvPr/>
        </p:nvSpPr>
        <p:spPr>
          <a:xfrm>
            <a:off x="2523744" y="781812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A1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200" dirty="0"/>
          </a:p>
        </p:txBody>
      </p:sp>
      <p:sp>
        <p:nvSpPr>
          <p:cNvPr id="213" name="Shape 211"/>
          <p:cNvSpPr/>
          <p:nvPr/>
        </p:nvSpPr>
        <p:spPr>
          <a:xfrm>
            <a:off x="3730752" y="7818120"/>
            <a:ext cx="1627632" cy="59436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14" name="Shape 212"/>
          <p:cNvSpPr/>
          <p:nvPr/>
        </p:nvSpPr>
        <p:spPr>
          <a:xfrm>
            <a:off x="3730752" y="7818120"/>
            <a:ext cx="530352" cy="594360"/>
          </a:xfrm>
          <a:prstGeom prst="roundRect">
            <a:avLst>
              <a:gd name="adj" fmla="val 12069"/>
            </a:avLst>
          </a:prstGeom>
          <a:solidFill>
            <a:srgbClr val="7B3F00"/>
          </a:solidFill>
          <a:ln/>
        </p:spPr>
      </p:sp>
      <p:sp>
        <p:nvSpPr>
          <p:cNvPr id="215" name="Text 213"/>
          <p:cNvSpPr/>
          <p:nvPr/>
        </p:nvSpPr>
        <p:spPr>
          <a:xfrm>
            <a:off x="3730752" y="7818120"/>
            <a:ext cx="5303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Q53</a:t>
            </a:r>
            <a:endParaRPr lang="en-US" sz="950" dirty="0"/>
          </a:p>
        </p:txBody>
      </p:sp>
      <p:sp>
        <p:nvSpPr>
          <p:cNvPr id="216" name="Text 214"/>
          <p:cNvSpPr/>
          <p:nvPr/>
        </p:nvSpPr>
        <p:spPr>
          <a:xfrm>
            <a:off x="4261104" y="781812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B3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  <p:sp>
        <p:nvSpPr>
          <p:cNvPr id="217" name="Shape 215"/>
          <p:cNvSpPr/>
          <p:nvPr/>
        </p:nvSpPr>
        <p:spPr>
          <a:xfrm>
            <a:off x="5468112" y="7818120"/>
            <a:ext cx="1627632" cy="59436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18" name="Shape 216"/>
          <p:cNvSpPr/>
          <p:nvPr/>
        </p:nvSpPr>
        <p:spPr>
          <a:xfrm>
            <a:off x="5468112" y="7818120"/>
            <a:ext cx="530352" cy="594360"/>
          </a:xfrm>
          <a:prstGeom prst="roundRect">
            <a:avLst>
              <a:gd name="adj" fmla="val 12069"/>
            </a:avLst>
          </a:prstGeom>
          <a:solidFill>
            <a:srgbClr val="4A1A8A"/>
          </a:solidFill>
          <a:ln/>
        </p:spPr>
      </p:sp>
      <p:sp>
        <p:nvSpPr>
          <p:cNvPr id="219" name="Text 217"/>
          <p:cNvSpPr/>
          <p:nvPr/>
        </p:nvSpPr>
        <p:spPr>
          <a:xfrm>
            <a:off x="5468112" y="7818120"/>
            <a:ext cx="5303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Q54</a:t>
            </a:r>
            <a:endParaRPr lang="en-US" sz="950" dirty="0"/>
          </a:p>
        </p:txBody>
      </p:sp>
      <p:sp>
        <p:nvSpPr>
          <p:cNvPr id="220" name="Text 218"/>
          <p:cNvSpPr/>
          <p:nvPr/>
        </p:nvSpPr>
        <p:spPr>
          <a:xfrm>
            <a:off x="5998464" y="781812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A1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200" dirty="0"/>
          </a:p>
        </p:txBody>
      </p:sp>
      <p:sp>
        <p:nvSpPr>
          <p:cNvPr id="221" name="Shape 219"/>
          <p:cNvSpPr/>
          <p:nvPr/>
        </p:nvSpPr>
        <p:spPr>
          <a:xfrm>
            <a:off x="7205472" y="7818120"/>
            <a:ext cx="1627632" cy="59436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22" name="Shape 220"/>
          <p:cNvSpPr/>
          <p:nvPr/>
        </p:nvSpPr>
        <p:spPr>
          <a:xfrm>
            <a:off x="7205472" y="7818120"/>
            <a:ext cx="530352" cy="594360"/>
          </a:xfrm>
          <a:prstGeom prst="roundRect">
            <a:avLst>
              <a:gd name="adj" fmla="val 12069"/>
            </a:avLst>
          </a:prstGeom>
          <a:solidFill>
            <a:srgbClr val="1B2B5E"/>
          </a:solidFill>
          <a:ln/>
        </p:spPr>
      </p:sp>
      <p:sp>
        <p:nvSpPr>
          <p:cNvPr id="223" name="Text 221"/>
          <p:cNvSpPr/>
          <p:nvPr/>
        </p:nvSpPr>
        <p:spPr>
          <a:xfrm>
            <a:off x="7205472" y="7818120"/>
            <a:ext cx="5303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Q55</a:t>
            </a:r>
            <a:endParaRPr lang="en-US" sz="950" dirty="0"/>
          </a:p>
        </p:txBody>
      </p:sp>
      <p:sp>
        <p:nvSpPr>
          <p:cNvPr id="224" name="Text 222"/>
          <p:cNvSpPr/>
          <p:nvPr/>
        </p:nvSpPr>
        <p:spPr>
          <a:xfrm>
            <a:off x="7735824" y="781812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225" name="Text 223"/>
          <p:cNvSpPr/>
          <p:nvPr/>
        </p:nvSpPr>
        <p:spPr>
          <a:xfrm>
            <a:off x="0" y="484632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MACCESS INC.  |  PPO #122729  |  INSTRUCTOR COPY — DO NOT DISTRIBUTE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ANSWER KEY — CONFIDENTIAL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0" y="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 to Arrest — BSIS Certification Course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56032" y="594360"/>
            <a:ext cx="8631936" cy="1389888"/>
          </a:xfrm>
          <a:prstGeom prst="roundRect">
            <a:avLst>
              <a:gd name="adj" fmla="val 59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9184" y="722376"/>
            <a:ext cx="502920" cy="502920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7" name="Text 5"/>
          <p:cNvSpPr/>
          <p:nvPr/>
        </p:nvSpPr>
        <p:spPr>
          <a:xfrm>
            <a:off x="329184" y="7223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32688" y="6858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— Legal Framework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035040" y="6858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BPC §7583.7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32688" y="941832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California law requires security guards to complete Power to Arrest training before receiving a guard card?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32688" y="147218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A. California Penal Code §837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864608" y="147218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B. Business and Professions Code §7583.7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932688" y="171907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C. Title 16 California Code of Regulations §643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864608" y="171907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D. California Penal Code §847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119872" y="1399032"/>
            <a:ext cx="658368" cy="502920"/>
          </a:xfrm>
          <a:prstGeom prst="roundRect">
            <a:avLst>
              <a:gd name="adj" fmla="val 10909"/>
            </a:avLst>
          </a:prstGeom>
          <a:solidFill>
            <a:srgbClr val="1A5C3A"/>
          </a:solidFill>
          <a:ln/>
        </p:spPr>
      </p:sp>
      <p:sp>
        <p:nvSpPr>
          <p:cNvPr id="16" name="Text 14"/>
          <p:cNvSpPr/>
          <p:nvPr/>
        </p:nvSpPr>
        <p:spPr>
          <a:xfrm>
            <a:off x="8119872" y="1399032"/>
            <a:ext cx="658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256032" y="2075688"/>
            <a:ext cx="8631936" cy="1389888"/>
          </a:xfrm>
          <a:prstGeom prst="roundRect">
            <a:avLst>
              <a:gd name="adj" fmla="val 59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9184" y="2203704"/>
            <a:ext cx="502920" cy="502920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19" name="Text 17"/>
          <p:cNvSpPr/>
          <p:nvPr/>
        </p:nvSpPr>
        <p:spPr>
          <a:xfrm>
            <a:off x="329184" y="22037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32688" y="216712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— Legal Framework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035040" y="216712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BPC §7583.7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932688" y="2423160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score must a student achieve on the BSIS Power to Arrest exam to receive a Certificate of Completion?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32688" y="295351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A. 70%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64608" y="295351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B. 80%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932688" y="320040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C. 90%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864608" y="320040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D. 100%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8119872" y="2880360"/>
            <a:ext cx="658368" cy="502920"/>
          </a:xfrm>
          <a:prstGeom prst="roundRect">
            <a:avLst>
              <a:gd name="adj" fmla="val 10909"/>
            </a:avLst>
          </a:prstGeom>
          <a:solidFill>
            <a:srgbClr val="1A5C3A"/>
          </a:solidFill>
          <a:ln/>
        </p:spPr>
      </p:sp>
      <p:sp>
        <p:nvSpPr>
          <p:cNvPr id="28" name="Text 26"/>
          <p:cNvSpPr/>
          <p:nvPr/>
        </p:nvSpPr>
        <p:spPr>
          <a:xfrm>
            <a:off x="8119872" y="2880360"/>
            <a:ext cx="658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256032" y="3557016"/>
            <a:ext cx="8631936" cy="1389888"/>
          </a:xfrm>
          <a:prstGeom prst="roundRect">
            <a:avLst>
              <a:gd name="adj" fmla="val 59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9184" y="3685032"/>
            <a:ext cx="502920" cy="502920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31" name="Text 29"/>
          <p:cNvSpPr/>
          <p:nvPr/>
        </p:nvSpPr>
        <p:spPr>
          <a:xfrm>
            <a:off x="329184" y="36850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932688" y="364845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— Legal Framework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035040" y="36484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DCA PTA Manual July 2023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932688" y="3904488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manual is required to be used for Power to Arrest and Appropriate Use of Force training?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932688" y="443484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A. California Security Officer Handbook 2022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864608" y="443484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B. DCA Power to Arrest and Appropriate Use of Force Training Manual, July 2023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932688" y="468172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C. BSIS Regulatory Guide Title 16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864608" y="468172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D. California Penal Code Annotated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8119872" y="4361688"/>
            <a:ext cx="658368" cy="502920"/>
          </a:xfrm>
          <a:prstGeom prst="roundRect">
            <a:avLst>
              <a:gd name="adj" fmla="val 10909"/>
            </a:avLst>
          </a:prstGeom>
          <a:solidFill>
            <a:srgbClr val="1A5C3A"/>
          </a:solidFill>
          <a:ln/>
        </p:spPr>
      </p:sp>
      <p:sp>
        <p:nvSpPr>
          <p:cNvPr id="40" name="Text 38"/>
          <p:cNvSpPr/>
          <p:nvPr/>
        </p:nvSpPr>
        <p:spPr>
          <a:xfrm>
            <a:off x="8119872" y="4361688"/>
            <a:ext cx="658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ANSWER KEY — CONFIDENTIAL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0" y="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 to Arrest — BSIS Certification Course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56032" y="594360"/>
            <a:ext cx="8631936" cy="1389888"/>
          </a:xfrm>
          <a:prstGeom prst="roundRect">
            <a:avLst>
              <a:gd name="adj" fmla="val 59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9184" y="722376"/>
            <a:ext cx="502920" cy="502920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7" name="Text 5"/>
          <p:cNvSpPr/>
          <p:nvPr/>
        </p:nvSpPr>
        <p:spPr>
          <a:xfrm>
            <a:off x="329184" y="7223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32688" y="6858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— Legal Framework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035040" y="6858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BPC §7583.7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32688" y="941832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security guard in California, your arrest authority comes from the same law that applies to: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32688" y="147218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A. A sworn police officer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864608" y="147218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B. A licensed investigator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932688" y="171907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C. A private citizen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864608" y="171907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D. A government contractor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119872" y="1399032"/>
            <a:ext cx="658368" cy="502920"/>
          </a:xfrm>
          <a:prstGeom prst="roundRect">
            <a:avLst>
              <a:gd name="adj" fmla="val 10909"/>
            </a:avLst>
          </a:prstGeom>
          <a:solidFill>
            <a:srgbClr val="1A5C3A"/>
          </a:solidFill>
          <a:ln/>
        </p:spPr>
      </p:sp>
      <p:sp>
        <p:nvSpPr>
          <p:cNvPr id="16" name="Text 14"/>
          <p:cNvSpPr/>
          <p:nvPr/>
        </p:nvSpPr>
        <p:spPr>
          <a:xfrm>
            <a:off x="8119872" y="1399032"/>
            <a:ext cx="658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256032" y="2075688"/>
            <a:ext cx="8631936" cy="1389888"/>
          </a:xfrm>
          <a:prstGeom prst="roundRect">
            <a:avLst>
              <a:gd name="adj" fmla="val 59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9184" y="2203704"/>
            <a:ext cx="502920" cy="502920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19" name="Text 17"/>
          <p:cNvSpPr/>
          <p:nvPr/>
        </p:nvSpPr>
        <p:spPr>
          <a:xfrm>
            <a:off x="329184" y="22037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32688" y="216712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— Legal Framework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035040" y="216712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 652 (Jan 1 2026)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932688" y="2423160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SB 652 effective January 1, 2026, the full 8-hour PTA + AUF training must be delivered by: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32688" y="295351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A. Any two BSIS-approved providers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64608" y="295351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B. The applicant's employer only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932688" y="320040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C. A single BSIS-approved course provider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864608" y="320040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D. An online provider plus a separate in-person facility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8119872" y="2880360"/>
            <a:ext cx="658368" cy="502920"/>
          </a:xfrm>
          <a:prstGeom prst="roundRect">
            <a:avLst>
              <a:gd name="adj" fmla="val 10909"/>
            </a:avLst>
          </a:prstGeom>
          <a:solidFill>
            <a:srgbClr val="1A5C3A"/>
          </a:solidFill>
          <a:ln/>
        </p:spPr>
      </p:sp>
      <p:sp>
        <p:nvSpPr>
          <p:cNvPr id="28" name="Text 26"/>
          <p:cNvSpPr/>
          <p:nvPr/>
        </p:nvSpPr>
        <p:spPr>
          <a:xfrm>
            <a:off x="8119872" y="2880360"/>
            <a:ext cx="658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256032" y="3557016"/>
            <a:ext cx="8631936" cy="1389888"/>
          </a:xfrm>
          <a:prstGeom prst="roundRect">
            <a:avLst>
              <a:gd name="adj" fmla="val 59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9184" y="3685032"/>
            <a:ext cx="502920" cy="502920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31" name="Text 29"/>
          <p:cNvSpPr/>
          <p:nvPr/>
        </p:nvSpPr>
        <p:spPr>
          <a:xfrm>
            <a:off x="329184" y="36850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932688" y="364845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— Legal Framework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035040" y="36484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 652 | BPC §7583.6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932688" y="3904488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long before a guard card application must the 8-hour PTA/AUF training be completed?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932688" y="443484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A. 30 days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864608" y="443484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B. 3 months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932688" y="468172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C. 6 months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864608" y="468172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D. 1 year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8119872" y="4361688"/>
            <a:ext cx="658368" cy="502920"/>
          </a:xfrm>
          <a:prstGeom prst="roundRect">
            <a:avLst>
              <a:gd name="adj" fmla="val 10909"/>
            </a:avLst>
          </a:prstGeom>
          <a:solidFill>
            <a:srgbClr val="1A5C3A"/>
          </a:solidFill>
          <a:ln/>
        </p:spPr>
      </p:sp>
      <p:sp>
        <p:nvSpPr>
          <p:cNvPr id="40" name="Text 38"/>
          <p:cNvSpPr/>
          <p:nvPr/>
        </p:nvSpPr>
        <p:spPr>
          <a:xfrm>
            <a:off x="8119872" y="4361688"/>
            <a:ext cx="658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ANSWER KEY — CONFIDENTIAL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0" y="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 to Arrest — BSIS Certification Course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56032" y="594360"/>
            <a:ext cx="8631936" cy="1389888"/>
          </a:xfrm>
          <a:prstGeom prst="roundRect">
            <a:avLst>
              <a:gd name="adj" fmla="val 59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9184" y="722376"/>
            <a:ext cx="502920" cy="502920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7" name="Text 5"/>
          <p:cNvSpPr/>
          <p:nvPr/>
        </p:nvSpPr>
        <p:spPr>
          <a:xfrm>
            <a:off x="329184" y="7223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32688" y="6858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— Legal Framework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035040" y="6858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BPC §7583.7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32688" y="941832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MACCESS INC. is authorized to deliver this certification as a licensed: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32688" y="147218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A. Peace officer agency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864608" y="147218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B. Private Patrol Operator — PPO #122729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932688" y="171907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C. Federal security contractor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864608" y="171907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D. BSIS examination center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119872" y="1399032"/>
            <a:ext cx="658368" cy="502920"/>
          </a:xfrm>
          <a:prstGeom prst="roundRect">
            <a:avLst>
              <a:gd name="adj" fmla="val 10909"/>
            </a:avLst>
          </a:prstGeom>
          <a:solidFill>
            <a:srgbClr val="1A5C3A"/>
          </a:solidFill>
          <a:ln/>
        </p:spPr>
      </p:sp>
      <p:sp>
        <p:nvSpPr>
          <p:cNvPr id="16" name="Text 14"/>
          <p:cNvSpPr/>
          <p:nvPr/>
        </p:nvSpPr>
        <p:spPr>
          <a:xfrm>
            <a:off x="8119872" y="1399032"/>
            <a:ext cx="658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256032" y="2075688"/>
            <a:ext cx="8631936" cy="1389888"/>
          </a:xfrm>
          <a:prstGeom prst="roundRect">
            <a:avLst>
              <a:gd name="adj" fmla="val 59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9184" y="2203704"/>
            <a:ext cx="502920" cy="502920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19" name="Text 17"/>
          <p:cNvSpPr/>
          <p:nvPr/>
        </p:nvSpPr>
        <p:spPr>
          <a:xfrm>
            <a:off x="329184" y="22037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32688" y="216712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— Citizen Arrest Authority (PC §837)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035040" y="216712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§837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932688" y="2423160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California Penal Code §837 lists how many conditions under which a private person may make a citizen's arrest?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32688" y="295351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A. Two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64608" y="295351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B. Three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932688" y="320040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C. Four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864608" y="320040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D. Five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8119872" y="2880360"/>
            <a:ext cx="658368" cy="502920"/>
          </a:xfrm>
          <a:prstGeom prst="roundRect">
            <a:avLst>
              <a:gd name="adj" fmla="val 10909"/>
            </a:avLst>
          </a:prstGeom>
          <a:solidFill>
            <a:srgbClr val="1A5C3A"/>
          </a:solidFill>
          <a:ln/>
        </p:spPr>
      </p:sp>
      <p:sp>
        <p:nvSpPr>
          <p:cNvPr id="28" name="Text 26"/>
          <p:cNvSpPr/>
          <p:nvPr/>
        </p:nvSpPr>
        <p:spPr>
          <a:xfrm>
            <a:off x="8119872" y="2880360"/>
            <a:ext cx="658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256032" y="3557016"/>
            <a:ext cx="8631936" cy="1389888"/>
          </a:xfrm>
          <a:prstGeom prst="roundRect">
            <a:avLst>
              <a:gd name="adj" fmla="val 59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9184" y="3685032"/>
            <a:ext cx="502920" cy="502920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31" name="Text 29"/>
          <p:cNvSpPr/>
          <p:nvPr/>
        </p:nvSpPr>
        <p:spPr>
          <a:xfrm>
            <a:off x="329184" y="36850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932688" y="364845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— Citizen Arrest Authority (PC §837)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035040" y="36484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§837(1)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932688" y="3904488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PC §837(1), a security guard may make a citizen's arrest when a public offense is: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932688" y="443484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A. Reported by a witness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864608" y="443484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B. Suspected based on prior criminal history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932688" y="468172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C. Captured on CCTV footage only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864608" y="468172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D. Committed or attempted in the guard's direct presence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8119872" y="4361688"/>
            <a:ext cx="658368" cy="502920"/>
          </a:xfrm>
          <a:prstGeom prst="roundRect">
            <a:avLst>
              <a:gd name="adj" fmla="val 10909"/>
            </a:avLst>
          </a:prstGeom>
          <a:solidFill>
            <a:srgbClr val="1A5C3A"/>
          </a:solidFill>
          <a:ln/>
        </p:spPr>
      </p:sp>
      <p:sp>
        <p:nvSpPr>
          <p:cNvPr id="40" name="Text 38"/>
          <p:cNvSpPr/>
          <p:nvPr/>
        </p:nvSpPr>
        <p:spPr>
          <a:xfrm>
            <a:off x="8119872" y="4361688"/>
            <a:ext cx="658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ANSWER KEY — CONFIDENTIAL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0" y="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 to Arrest — BSIS Certification Course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56032" y="594360"/>
            <a:ext cx="8631936" cy="1389888"/>
          </a:xfrm>
          <a:prstGeom prst="roundRect">
            <a:avLst>
              <a:gd name="adj" fmla="val 59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9184" y="722376"/>
            <a:ext cx="502920" cy="502920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7" name="Text 5"/>
          <p:cNvSpPr/>
          <p:nvPr/>
        </p:nvSpPr>
        <p:spPr>
          <a:xfrm>
            <a:off x="329184" y="7223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32688" y="6858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— Citizen Arrest Authority (PC §837)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035040" y="6858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§837(2)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32688" y="941832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PC §837(2), a guard may arrest someone for a felony not committed in their presence if: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32688" y="147218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A. A supervisor authorizes the arrest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864608" y="147218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B. The guard has a hunch the person is guilty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932688" y="171907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C. The guard knows the person committed the felony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864608" y="171907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D. The property owner requests the arrest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119872" y="1399032"/>
            <a:ext cx="658368" cy="502920"/>
          </a:xfrm>
          <a:prstGeom prst="roundRect">
            <a:avLst>
              <a:gd name="adj" fmla="val 10909"/>
            </a:avLst>
          </a:prstGeom>
          <a:solidFill>
            <a:srgbClr val="1A5C3A"/>
          </a:solidFill>
          <a:ln/>
        </p:spPr>
      </p:sp>
      <p:sp>
        <p:nvSpPr>
          <p:cNvPr id="16" name="Text 14"/>
          <p:cNvSpPr/>
          <p:nvPr/>
        </p:nvSpPr>
        <p:spPr>
          <a:xfrm>
            <a:off x="8119872" y="1399032"/>
            <a:ext cx="658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256032" y="2075688"/>
            <a:ext cx="8631936" cy="1389888"/>
          </a:xfrm>
          <a:prstGeom prst="roundRect">
            <a:avLst>
              <a:gd name="adj" fmla="val 59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9184" y="2203704"/>
            <a:ext cx="502920" cy="502920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19" name="Text 17"/>
          <p:cNvSpPr/>
          <p:nvPr/>
        </p:nvSpPr>
        <p:spPr>
          <a:xfrm>
            <a:off x="329184" y="22037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32688" y="216712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— Citizen Arrest Authority (PC §837)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035040" y="216712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§837(3)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932688" y="2423160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§837(3) requires that for a reasonable-cause felony arrest, a felony must: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32688" y="295351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A. Be suspected but not confirmed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64608" y="295351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B. Have actually been committed in fact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932688" y="320040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C. Have been reported to police first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864608" y="320040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D. Involve violence or weapons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8119872" y="2880360"/>
            <a:ext cx="658368" cy="502920"/>
          </a:xfrm>
          <a:prstGeom prst="roundRect">
            <a:avLst>
              <a:gd name="adj" fmla="val 10909"/>
            </a:avLst>
          </a:prstGeom>
          <a:solidFill>
            <a:srgbClr val="1A5C3A"/>
          </a:solidFill>
          <a:ln/>
        </p:spPr>
      </p:sp>
      <p:sp>
        <p:nvSpPr>
          <p:cNvPr id="28" name="Text 26"/>
          <p:cNvSpPr/>
          <p:nvPr/>
        </p:nvSpPr>
        <p:spPr>
          <a:xfrm>
            <a:off x="8119872" y="2880360"/>
            <a:ext cx="658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256032" y="3557016"/>
            <a:ext cx="8631936" cy="1389888"/>
          </a:xfrm>
          <a:prstGeom prst="roundRect">
            <a:avLst>
              <a:gd name="adj" fmla="val 59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9184" y="3685032"/>
            <a:ext cx="502920" cy="502920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31" name="Text 29"/>
          <p:cNvSpPr/>
          <p:nvPr/>
        </p:nvSpPr>
        <p:spPr>
          <a:xfrm>
            <a:off x="329184" y="36850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932688" y="364845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— Citizen Arrest Authority (PC §837)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035040" y="36484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§837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932688" y="3904488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guard receives a report that someone stole from the store yesterday. The guard did not witness it. Can the guard make a citizen's arrest for this misdemeanor?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932688" y="443484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A. Yes — any theft justifies arrest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864608" y="443484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B. Yes — with supervisor approval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932688" y="468172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C. No — misdemeanor arrest requires personal observation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864608" y="468172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D. No — only police can arrest for theft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8119872" y="4361688"/>
            <a:ext cx="658368" cy="502920"/>
          </a:xfrm>
          <a:prstGeom prst="roundRect">
            <a:avLst>
              <a:gd name="adj" fmla="val 10909"/>
            </a:avLst>
          </a:prstGeom>
          <a:solidFill>
            <a:srgbClr val="1A5C3A"/>
          </a:solidFill>
          <a:ln/>
        </p:spPr>
      </p:sp>
      <p:sp>
        <p:nvSpPr>
          <p:cNvPr id="40" name="Text 38"/>
          <p:cNvSpPr/>
          <p:nvPr/>
        </p:nvSpPr>
        <p:spPr>
          <a:xfrm>
            <a:off x="8119872" y="4361688"/>
            <a:ext cx="658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ANSWER KEY — CONFIDENTIAL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0" y="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 to Arrest — BSIS Certification Course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56032" y="594360"/>
            <a:ext cx="8631936" cy="1389888"/>
          </a:xfrm>
          <a:prstGeom prst="roundRect">
            <a:avLst>
              <a:gd name="adj" fmla="val 59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9184" y="722376"/>
            <a:ext cx="502920" cy="502920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7" name="Text 5"/>
          <p:cNvSpPr/>
          <p:nvPr/>
        </p:nvSpPr>
        <p:spPr>
          <a:xfrm>
            <a:off x="329184" y="7223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32688" y="6858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— Citizen Arrest Authority (PC §837)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035040" y="6858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§837(3)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32688" y="941832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PC §837 arrest condition carries the greatest risk of personal liability if used incorrectly?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32688" y="147218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A. §837(1) — offense in presence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864608" y="147218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B. §837(2) — felony committed by that person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932688" y="171907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C. §837(3) — reasonable cause for felony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864608" y="171907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D. All conditions carry equal risk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119872" y="1399032"/>
            <a:ext cx="658368" cy="502920"/>
          </a:xfrm>
          <a:prstGeom prst="roundRect">
            <a:avLst>
              <a:gd name="adj" fmla="val 10909"/>
            </a:avLst>
          </a:prstGeom>
          <a:solidFill>
            <a:srgbClr val="1A5C3A"/>
          </a:solidFill>
          <a:ln/>
        </p:spPr>
      </p:sp>
      <p:sp>
        <p:nvSpPr>
          <p:cNvPr id="16" name="Text 14"/>
          <p:cNvSpPr/>
          <p:nvPr/>
        </p:nvSpPr>
        <p:spPr>
          <a:xfrm>
            <a:off x="8119872" y="1399032"/>
            <a:ext cx="658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256032" y="2075688"/>
            <a:ext cx="8631936" cy="1389888"/>
          </a:xfrm>
          <a:prstGeom prst="roundRect">
            <a:avLst>
              <a:gd name="adj" fmla="val 59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9184" y="2203704"/>
            <a:ext cx="502920" cy="502920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19" name="Text 17"/>
          <p:cNvSpPr/>
          <p:nvPr/>
        </p:nvSpPr>
        <p:spPr>
          <a:xfrm>
            <a:off x="329184" y="22037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32688" y="216712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— Citizen Arrest Authority (PC §837)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035040" y="216712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§837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932688" y="2423160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security guard witnesses a person vandalizing a car in the parking lot. Which PC §837 condition applies?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32688" y="295351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A. §837(1) — public offense in presence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64608" y="295351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B. §837(2) — felony committed by the person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932688" y="320040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C. §837(3) — reasonable cause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864608" y="320040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D. None — vandalism cannot justify arrest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8119872" y="2880360"/>
            <a:ext cx="658368" cy="502920"/>
          </a:xfrm>
          <a:prstGeom prst="roundRect">
            <a:avLst>
              <a:gd name="adj" fmla="val 10909"/>
            </a:avLst>
          </a:prstGeom>
          <a:solidFill>
            <a:srgbClr val="1A5C3A"/>
          </a:solidFill>
          <a:ln/>
        </p:spPr>
      </p:sp>
      <p:sp>
        <p:nvSpPr>
          <p:cNvPr id="28" name="Text 26"/>
          <p:cNvSpPr/>
          <p:nvPr/>
        </p:nvSpPr>
        <p:spPr>
          <a:xfrm>
            <a:off x="8119872" y="2880360"/>
            <a:ext cx="658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256032" y="3557016"/>
            <a:ext cx="8631936" cy="1389888"/>
          </a:xfrm>
          <a:prstGeom prst="roundRect">
            <a:avLst>
              <a:gd name="adj" fmla="val 59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9184" y="3685032"/>
            <a:ext cx="502920" cy="502920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31" name="Text 29"/>
          <p:cNvSpPr/>
          <p:nvPr/>
        </p:nvSpPr>
        <p:spPr>
          <a:xfrm>
            <a:off x="329184" y="36850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932688" y="364845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— Citizen Arrest Authority (PC §837)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035040" y="36484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§837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932688" y="3904488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"Reasonable cause" under PC §837 means: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932688" y="443484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A. A gut feeling the person looks suspicious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864608" y="443484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B. Objective facts supporting a belief the person committed a felony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932688" y="468172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C. A witness statement alone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864608" y="468172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D. Prior criminal history of the person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8119872" y="4361688"/>
            <a:ext cx="658368" cy="502920"/>
          </a:xfrm>
          <a:prstGeom prst="roundRect">
            <a:avLst>
              <a:gd name="adj" fmla="val 10909"/>
            </a:avLst>
          </a:prstGeom>
          <a:solidFill>
            <a:srgbClr val="1A5C3A"/>
          </a:solidFill>
          <a:ln/>
        </p:spPr>
      </p:sp>
      <p:sp>
        <p:nvSpPr>
          <p:cNvPr id="40" name="Text 38"/>
          <p:cNvSpPr/>
          <p:nvPr/>
        </p:nvSpPr>
        <p:spPr>
          <a:xfrm>
            <a:off x="8119872" y="4361688"/>
            <a:ext cx="658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ANSWER KEY — CONFIDENTIAL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0" y="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 to Arrest — BSIS Certification Course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56032" y="594360"/>
            <a:ext cx="8631936" cy="1389888"/>
          </a:xfrm>
          <a:prstGeom prst="roundRect">
            <a:avLst>
              <a:gd name="adj" fmla="val 59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9184" y="722376"/>
            <a:ext cx="502920" cy="502920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7" name="Text 5"/>
          <p:cNvSpPr/>
          <p:nvPr/>
        </p:nvSpPr>
        <p:spPr>
          <a:xfrm>
            <a:off x="329184" y="7223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32688" y="6858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— Citizen Arrest Authority (PC §837)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035040" y="6858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§837 | PC §490.5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32688" y="941832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Shopkeeper's Privilege under PC §490.5 allows detention for shoplifting when there is: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32688" y="147218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A. Suspicion based on appearance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864608" y="147218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B. Probable cause based on direct observation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932688" y="171907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C. A manager's verbal authorization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864608" y="171907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D. A description matching prior theft reports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119872" y="1399032"/>
            <a:ext cx="658368" cy="502920"/>
          </a:xfrm>
          <a:prstGeom prst="roundRect">
            <a:avLst>
              <a:gd name="adj" fmla="val 10909"/>
            </a:avLst>
          </a:prstGeom>
          <a:solidFill>
            <a:srgbClr val="1A5C3A"/>
          </a:solidFill>
          <a:ln/>
        </p:spPr>
      </p:sp>
      <p:sp>
        <p:nvSpPr>
          <p:cNvPr id="16" name="Text 14"/>
          <p:cNvSpPr/>
          <p:nvPr/>
        </p:nvSpPr>
        <p:spPr>
          <a:xfrm>
            <a:off x="8119872" y="1399032"/>
            <a:ext cx="658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256032" y="2075688"/>
            <a:ext cx="8631936" cy="1389888"/>
          </a:xfrm>
          <a:prstGeom prst="roundRect">
            <a:avLst>
              <a:gd name="adj" fmla="val 59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9184" y="2203704"/>
            <a:ext cx="502920" cy="502920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19" name="Text 17"/>
          <p:cNvSpPr/>
          <p:nvPr/>
        </p:nvSpPr>
        <p:spPr>
          <a:xfrm>
            <a:off x="329184" y="22037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32688" y="216712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— Limitations &amp; Prohibited Actions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035040" y="216712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§538d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932688" y="2423160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security guard who represents themselves as a police officer may face criminal charges under: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32688" y="295351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A. PC §602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64608" y="295351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B. BPC §480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932688" y="320040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C. PC §538d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864608" y="320040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D. PC §836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8119872" y="2880360"/>
            <a:ext cx="658368" cy="502920"/>
          </a:xfrm>
          <a:prstGeom prst="roundRect">
            <a:avLst>
              <a:gd name="adj" fmla="val 10909"/>
            </a:avLst>
          </a:prstGeom>
          <a:solidFill>
            <a:srgbClr val="1A5C3A"/>
          </a:solidFill>
          <a:ln/>
        </p:spPr>
      </p:sp>
      <p:sp>
        <p:nvSpPr>
          <p:cNvPr id="28" name="Text 26"/>
          <p:cNvSpPr/>
          <p:nvPr/>
        </p:nvSpPr>
        <p:spPr>
          <a:xfrm>
            <a:off x="8119872" y="2880360"/>
            <a:ext cx="658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256032" y="3557016"/>
            <a:ext cx="8631936" cy="1389888"/>
          </a:xfrm>
          <a:prstGeom prst="roundRect">
            <a:avLst>
              <a:gd name="adj" fmla="val 59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9184" y="3685032"/>
            <a:ext cx="502920" cy="502920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31" name="Text 29"/>
          <p:cNvSpPr/>
          <p:nvPr/>
        </p:nvSpPr>
        <p:spPr>
          <a:xfrm>
            <a:off x="329184" y="36850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932688" y="364845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— Limitations &amp; Prohibited Actions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035040" y="36484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§837 | 4th Amendment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932688" y="3904488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security guard's search authority during a lawful detention is limited to: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932688" y="443484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A. A full search of the person's clothing and bags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864608" y="443484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B. An unlimited search on private property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932688" y="468172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C. A safety pat-down for weapons only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864608" y="468172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D. Any search authorized by the property owner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8119872" y="4361688"/>
            <a:ext cx="658368" cy="502920"/>
          </a:xfrm>
          <a:prstGeom prst="roundRect">
            <a:avLst>
              <a:gd name="adj" fmla="val 10909"/>
            </a:avLst>
          </a:prstGeom>
          <a:solidFill>
            <a:srgbClr val="1A5C3A"/>
          </a:solidFill>
          <a:ln/>
        </p:spPr>
      </p:sp>
      <p:sp>
        <p:nvSpPr>
          <p:cNvPr id="40" name="Text 38"/>
          <p:cNvSpPr/>
          <p:nvPr/>
        </p:nvSpPr>
        <p:spPr>
          <a:xfrm>
            <a:off x="8119872" y="4361688"/>
            <a:ext cx="658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ANSWER KEY — CONFIDENTIAL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0" y="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 to Arrest — BSIS Certification Course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56032" y="594360"/>
            <a:ext cx="8631936" cy="1389888"/>
          </a:xfrm>
          <a:prstGeom prst="roundRect">
            <a:avLst>
              <a:gd name="adj" fmla="val 59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9184" y="722376"/>
            <a:ext cx="502920" cy="502920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7" name="Text 5"/>
          <p:cNvSpPr/>
          <p:nvPr/>
        </p:nvSpPr>
        <p:spPr>
          <a:xfrm>
            <a:off x="329184" y="7223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32688" y="6858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— Limitations &amp; Prohibited Actions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035040" y="6858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§236 | PC §847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32688" y="941832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Courts generally view a detention lasting more than ___ minutes without police notification as potentially false imprisonment.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32688" y="147218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A. 5–10 minutes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864608" y="147218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B. 20–30 minutes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932688" y="171907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C. 45–60 minutes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864608" y="171907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D. 2 hours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119872" y="1399032"/>
            <a:ext cx="658368" cy="502920"/>
          </a:xfrm>
          <a:prstGeom prst="roundRect">
            <a:avLst>
              <a:gd name="adj" fmla="val 10909"/>
            </a:avLst>
          </a:prstGeom>
          <a:solidFill>
            <a:srgbClr val="1A5C3A"/>
          </a:solidFill>
          <a:ln/>
        </p:spPr>
      </p:sp>
      <p:sp>
        <p:nvSpPr>
          <p:cNvPr id="16" name="Text 14"/>
          <p:cNvSpPr/>
          <p:nvPr/>
        </p:nvSpPr>
        <p:spPr>
          <a:xfrm>
            <a:off x="8119872" y="1399032"/>
            <a:ext cx="658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256032" y="2075688"/>
            <a:ext cx="8631936" cy="1389888"/>
          </a:xfrm>
          <a:prstGeom prst="roundRect">
            <a:avLst>
              <a:gd name="adj" fmla="val 59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9184" y="2203704"/>
            <a:ext cx="502920" cy="502920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19" name="Text 17"/>
          <p:cNvSpPr/>
          <p:nvPr/>
        </p:nvSpPr>
        <p:spPr>
          <a:xfrm>
            <a:off x="329184" y="22037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32688" y="216712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— Limitations &amp; Prohibited Actions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035040" y="216712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§837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932688" y="2423160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security guard's arrest authority extends: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32688" y="295351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A. Anywhere in the city they are assigned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64608" y="295351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B. Throughout the entire county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932688" y="320040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C. Statewide under their BSIS license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864608" y="320040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D. Only on the property they are hired to protect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8119872" y="2880360"/>
            <a:ext cx="658368" cy="502920"/>
          </a:xfrm>
          <a:prstGeom prst="roundRect">
            <a:avLst>
              <a:gd name="adj" fmla="val 10909"/>
            </a:avLst>
          </a:prstGeom>
          <a:solidFill>
            <a:srgbClr val="1A5C3A"/>
          </a:solidFill>
          <a:ln/>
        </p:spPr>
      </p:sp>
      <p:sp>
        <p:nvSpPr>
          <p:cNvPr id="28" name="Text 26"/>
          <p:cNvSpPr/>
          <p:nvPr/>
        </p:nvSpPr>
        <p:spPr>
          <a:xfrm>
            <a:off x="8119872" y="2880360"/>
            <a:ext cx="658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256032" y="3557016"/>
            <a:ext cx="8631936" cy="1389888"/>
          </a:xfrm>
          <a:prstGeom prst="roundRect">
            <a:avLst>
              <a:gd name="adj" fmla="val 59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9184" y="3685032"/>
            <a:ext cx="502920" cy="502920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31" name="Text 29"/>
          <p:cNvSpPr/>
          <p:nvPr/>
        </p:nvSpPr>
        <p:spPr>
          <a:xfrm>
            <a:off x="329184" y="36850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932688" y="364845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— Limitations &amp; Prohibited Actions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035040" y="36484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§236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932688" y="3904488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Detaining someone without a lawful basis under PC §837 constitutes: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932688" y="443484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A. Lawful preventive detention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864608" y="443484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B. False imprisonment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932688" y="468172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C. Authorized security action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864608" y="468172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D. Investigative detention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8119872" y="4361688"/>
            <a:ext cx="658368" cy="502920"/>
          </a:xfrm>
          <a:prstGeom prst="roundRect">
            <a:avLst>
              <a:gd name="adj" fmla="val 10909"/>
            </a:avLst>
          </a:prstGeom>
          <a:solidFill>
            <a:srgbClr val="1A5C3A"/>
          </a:solidFill>
          <a:ln/>
        </p:spPr>
      </p:sp>
      <p:sp>
        <p:nvSpPr>
          <p:cNvPr id="40" name="Text 38"/>
          <p:cNvSpPr/>
          <p:nvPr/>
        </p:nvSpPr>
        <p:spPr>
          <a:xfrm>
            <a:off x="8119872" y="4361688"/>
            <a:ext cx="658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ANSWER KEY — CONFIDENTIAL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0" y="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 to Arrest — BSIS Certification Course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56032" y="594360"/>
            <a:ext cx="8631936" cy="1389888"/>
          </a:xfrm>
          <a:prstGeom prst="roundRect">
            <a:avLst>
              <a:gd name="adj" fmla="val 59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9184" y="722376"/>
            <a:ext cx="502920" cy="502920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7" name="Text 5"/>
          <p:cNvSpPr/>
          <p:nvPr/>
        </p:nvSpPr>
        <p:spPr>
          <a:xfrm>
            <a:off x="329184" y="7223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32688" y="6858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— Limitations &amp; Prohibited Actions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035040" y="6858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§242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32688" y="941832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security guard handcuffs someone without a lawful basis for arrest. This action could constitute: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32688" y="147218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A. Lawful restraint under BPC §7583.7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864608" y="147218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B. False imprisonment and assault under California law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932688" y="171907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C. Authorized preventive security action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864608" y="171907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D. A civil matter only with no criminal exposure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119872" y="1399032"/>
            <a:ext cx="658368" cy="502920"/>
          </a:xfrm>
          <a:prstGeom prst="roundRect">
            <a:avLst>
              <a:gd name="adj" fmla="val 10909"/>
            </a:avLst>
          </a:prstGeom>
          <a:solidFill>
            <a:srgbClr val="1A5C3A"/>
          </a:solidFill>
          <a:ln/>
        </p:spPr>
      </p:sp>
      <p:sp>
        <p:nvSpPr>
          <p:cNvPr id="16" name="Text 14"/>
          <p:cNvSpPr/>
          <p:nvPr/>
        </p:nvSpPr>
        <p:spPr>
          <a:xfrm>
            <a:off x="8119872" y="1399032"/>
            <a:ext cx="658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256032" y="2075688"/>
            <a:ext cx="8631936" cy="1389888"/>
          </a:xfrm>
          <a:prstGeom prst="roundRect">
            <a:avLst>
              <a:gd name="adj" fmla="val 59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9184" y="2203704"/>
            <a:ext cx="502920" cy="502920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19" name="Text 17"/>
          <p:cNvSpPr/>
          <p:nvPr/>
        </p:nvSpPr>
        <p:spPr>
          <a:xfrm>
            <a:off x="329184" y="22037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32688" y="216712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— Limitations &amp; Prohibited Actions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035040" y="216712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§837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932688" y="2423160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guard detains a person based solely on their race and a manager's vague concern. This detention is: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32688" y="295351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A. Lawful under employer authority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64608" y="295351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B. Lawful if the manager signed a form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932688" y="320040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C. Unlawful — race alone is never reasonable suspicion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864608" y="320040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D. Lawful for 30 minutes pending investigation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8119872" y="2880360"/>
            <a:ext cx="658368" cy="502920"/>
          </a:xfrm>
          <a:prstGeom prst="roundRect">
            <a:avLst>
              <a:gd name="adj" fmla="val 10909"/>
            </a:avLst>
          </a:prstGeom>
          <a:solidFill>
            <a:srgbClr val="1A5C3A"/>
          </a:solidFill>
          <a:ln/>
        </p:spPr>
      </p:sp>
      <p:sp>
        <p:nvSpPr>
          <p:cNvPr id="28" name="Text 26"/>
          <p:cNvSpPr/>
          <p:nvPr/>
        </p:nvSpPr>
        <p:spPr>
          <a:xfrm>
            <a:off x="8119872" y="2880360"/>
            <a:ext cx="658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256032" y="3557016"/>
            <a:ext cx="8631936" cy="1389888"/>
          </a:xfrm>
          <a:prstGeom prst="roundRect">
            <a:avLst>
              <a:gd name="adj" fmla="val 59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9184" y="3685032"/>
            <a:ext cx="502920" cy="502920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31" name="Text 29"/>
          <p:cNvSpPr/>
          <p:nvPr/>
        </p:nvSpPr>
        <p:spPr>
          <a:xfrm>
            <a:off x="329184" y="36850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932688" y="364845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— Security vs. Law Enforcement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035040" y="36484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§830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932688" y="3904488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California peace officer authority is derived from: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932688" y="443484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A. Penal Code §837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864608" y="443484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B. Business and Professions Code §7583.7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932688" y="468172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C. Penal Code §830 et seq.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864608" y="468172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D. Title 16 CCR §643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8119872" y="4361688"/>
            <a:ext cx="658368" cy="502920"/>
          </a:xfrm>
          <a:prstGeom prst="roundRect">
            <a:avLst>
              <a:gd name="adj" fmla="val 10909"/>
            </a:avLst>
          </a:prstGeom>
          <a:solidFill>
            <a:srgbClr val="1A5C3A"/>
          </a:solidFill>
          <a:ln/>
        </p:spPr>
      </p:sp>
      <p:sp>
        <p:nvSpPr>
          <p:cNvPr id="40" name="Text 38"/>
          <p:cNvSpPr/>
          <p:nvPr/>
        </p:nvSpPr>
        <p:spPr>
          <a:xfrm>
            <a:off x="8119872" y="4361688"/>
            <a:ext cx="658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ANSWER KEY — CONFIDENTIAL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0" y="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 to Arrest — BSIS Certification Course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56032" y="594360"/>
            <a:ext cx="8631936" cy="1389888"/>
          </a:xfrm>
          <a:prstGeom prst="roundRect">
            <a:avLst>
              <a:gd name="adj" fmla="val 59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9184" y="722376"/>
            <a:ext cx="502920" cy="502920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7" name="Text 5"/>
          <p:cNvSpPr/>
          <p:nvPr/>
        </p:nvSpPr>
        <p:spPr>
          <a:xfrm>
            <a:off x="329184" y="7223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32688" y="6858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— Security vs. Law Enforcement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035040" y="6858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§837 | PC §830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32688" y="941832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power does a peace officer have that a security guard does NOT?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32688" y="147218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A. The power to observe and report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864608" y="147218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B. The power to make a citizen's arrest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932688" y="171907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C. The power to conduct lawful searches based on probable cause developed through investigation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864608" y="171907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D. The power to ask a person their name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119872" y="1399032"/>
            <a:ext cx="658368" cy="502920"/>
          </a:xfrm>
          <a:prstGeom prst="roundRect">
            <a:avLst>
              <a:gd name="adj" fmla="val 10909"/>
            </a:avLst>
          </a:prstGeom>
          <a:solidFill>
            <a:srgbClr val="1A5C3A"/>
          </a:solidFill>
          <a:ln/>
        </p:spPr>
      </p:sp>
      <p:sp>
        <p:nvSpPr>
          <p:cNvPr id="16" name="Text 14"/>
          <p:cNvSpPr/>
          <p:nvPr/>
        </p:nvSpPr>
        <p:spPr>
          <a:xfrm>
            <a:off x="8119872" y="1399032"/>
            <a:ext cx="658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256032" y="2075688"/>
            <a:ext cx="8631936" cy="1389888"/>
          </a:xfrm>
          <a:prstGeom prst="roundRect">
            <a:avLst>
              <a:gd name="adj" fmla="val 59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9184" y="2203704"/>
            <a:ext cx="502920" cy="502920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19" name="Text 17"/>
          <p:cNvSpPr/>
          <p:nvPr/>
        </p:nvSpPr>
        <p:spPr>
          <a:xfrm>
            <a:off x="329184" y="22037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32688" y="216712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— Security vs. Law Enforcement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035040" y="216712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§847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932688" y="2423160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making a citizen's arrest, a security guard must deliver the person to a peace officer: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32688" y="295351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A. Within 24 hours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64608" y="295351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B. At the end of the guard's shift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932688" y="320040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C. After completing an incident report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864608" y="320040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D. Without unnecessary delay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8119872" y="2880360"/>
            <a:ext cx="658368" cy="502920"/>
          </a:xfrm>
          <a:prstGeom prst="roundRect">
            <a:avLst>
              <a:gd name="adj" fmla="val 10909"/>
            </a:avLst>
          </a:prstGeom>
          <a:solidFill>
            <a:srgbClr val="1A5C3A"/>
          </a:solidFill>
          <a:ln/>
        </p:spPr>
      </p:sp>
      <p:sp>
        <p:nvSpPr>
          <p:cNvPr id="28" name="Text 26"/>
          <p:cNvSpPr/>
          <p:nvPr/>
        </p:nvSpPr>
        <p:spPr>
          <a:xfrm>
            <a:off x="8119872" y="2880360"/>
            <a:ext cx="658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256032" y="3557016"/>
            <a:ext cx="8631936" cy="1389888"/>
          </a:xfrm>
          <a:prstGeom prst="roundRect">
            <a:avLst>
              <a:gd name="adj" fmla="val 59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9184" y="3685032"/>
            <a:ext cx="502920" cy="502920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31" name="Text 29"/>
          <p:cNvSpPr/>
          <p:nvPr/>
        </p:nvSpPr>
        <p:spPr>
          <a:xfrm>
            <a:off x="329184" y="36850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932688" y="364845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— Security vs. Law Enforcement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035040" y="36484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§847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932688" y="3904488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police officer accepts custody from a security guard who made a citizen's arrest, who is legally the arresting party?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932688" y="443484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A. The police officer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864608" y="443484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B. Both equally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932688" y="468172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C. The property owner who authorized the guard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864608" y="468172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D. The security guard — the private person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8119872" y="4361688"/>
            <a:ext cx="658368" cy="502920"/>
          </a:xfrm>
          <a:prstGeom prst="roundRect">
            <a:avLst>
              <a:gd name="adj" fmla="val 10909"/>
            </a:avLst>
          </a:prstGeom>
          <a:solidFill>
            <a:srgbClr val="1A5C3A"/>
          </a:solidFill>
          <a:ln/>
        </p:spPr>
      </p:sp>
      <p:sp>
        <p:nvSpPr>
          <p:cNvPr id="40" name="Text 38"/>
          <p:cNvSpPr/>
          <p:nvPr/>
        </p:nvSpPr>
        <p:spPr>
          <a:xfrm>
            <a:off x="8119872" y="4361688"/>
            <a:ext cx="658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ANSWER KEY — CONFIDENTIAL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0" y="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 to Arrest — BSIS Certification Course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56032" y="594360"/>
            <a:ext cx="8631936" cy="1389888"/>
          </a:xfrm>
          <a:prstGeom prst="roundRect">
            <a:avLst>
              <a:gd name="adj" fmla="val 59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9184" y="722376"/>
            <a:ext cx="502920" cy="502920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7" name="Text 5"/>
          <p:cNvSpPr/>
          <p:nvPr/>
        </p:nvSpPr>
        <p:spPr>
          <a:xfrm>
            <a:off x="329184" y="7223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32688" y="6858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— Security vs. Law Enforcement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035040" y="6858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BPC §7582.1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32688" y="941832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California security guards are classified under the law as: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32688" y="147218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A. Peace officers with limited jurisdiction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864608" y="147218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B. Private persons — no additional authority from their badge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932688" y="171907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C. Federal contractors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864608" y="171907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D. Agents of the property owner with police powers on private property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119872" y="1399032"/>
            <a:ext cx="658368" cy="502920"/>
          </a:xfrm>
          <a:prstGeom prst="roundRect">
            <a:avLst>
              <a:gd name="adj" fmla="val 10909"/>
            </a:avLst>
          </a:prstGeom>
          <a:solidFill>
            <a:srgbClr val="1A5C3A"/>
          </a:solidFill>
          <a:ln/>
        </p:spPr>
      </p:sp>
      <p:sp>
        <p:nvSpPr>
          <p:cNvPr id="16" name="Text 14"/>
          <p:cNvSpPr/>
          <p:nvPr/>
        </p:nvSpPr>
        <p:spPr>
          <a:xfrm>
            <a:off x="8119872" y="1399032"/>
            <a:ext cx="658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256032" y="2075688"/>
            <a:ext cx="8631936" cy="1389888"/>
          </a:xfrm>
          <a:prstGeom prst="roundRect">
            <a:avLst>
              <a:gd name="adj" fmla="val 59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9184" y="2203704"/>
            <a:ext cx="502920" cy="502920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19" name="Text 17"/>
          <p:cNvSpPr/>
          <p:nvPr/>
        </p:nvSpPr>
        <p:spPr>
          <a:xfrm>
            <a:off x="329184" y="22037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32688" y="216712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— Liability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035040" y="216712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§236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932688" y="2423160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imprisonment under California Penal Code §236 is defined as: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32688" y="295351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A. Arresting someone for a misdemeanor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64608" y="295351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B. Detaining someone for more than one hour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932688" y="320040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C. The unlawful violation of the personal liberty of another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864608" y="320040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D. Any physical contact with a detained person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8119872" y="2880360"/>
            <a:ext cx="658368" cy="502920"/>
          </a:xfrm>
          <a:prstGeom prst="roundRect">
            <a:avLst>
              <a:gd name="adj" fmla="val 10909"/>
            </a:avLst>
          </a:prstGeom>
          <a:solidFill>
            <a:srgbClr val="1A5C3A"/>
          </a:solidFill>
          <a:ln/>
        </p:spPr>
      </p:sp>
      <p:sp>
        <p:nvSpPr>
          <p:cNvPr id="28" name="Text 26"/>
          <p:cNvSpPr/>
          <p:nvPr/>
        </p:nvSpPr>
        <p:spPr>
          <a:xfrm>
            <a:off x="8119872" y="2880360"/>
            <a:ext cx="658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256032" y="3557016"/>
            <a:ext cx="8631936" cy="1389888"/>
          </a:xfrm>
          <a:prstGeom prst="roundRect">
            <a:avLst>
              <a:gd name="adj" fmla="val 59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9184" y="3685032"/>
            <a:ext cx="502920" cy="502920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31" name="Text 29"/>
          <p:cNvSpPr/>
          <p:nvPr/>
        </p:nvSpPr>
        <p:spPr>
          <a:xfrm>
            <a:off x="329184" y="36850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932688" y="364845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— Liability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035040" y="36484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§207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932688" y="3904488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security guard unlawfully detains someone AND moves them to another location, the charge could escalate to: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932688" y="443484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A. Disorderly conduct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864608" y="443484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B. Assault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932688" y="468172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C. Kidnapping under PC §207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864608" y="468172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D. Trespassing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8119872" y="4361688"/>
            <a:ext cx="658368" cy="502920"/>
          </a:xfrm>
          <a:prstGeom prst="roundRect">
            <a:avLst>
              <a:gd name="adj" fmla="val 10909"/>
            </a:avLst>
          </a:prstGeom>
          <a:solidFill>
            <a:srgbClr val="1A5C3A"/>
          </a:solidFill>
          <a:ln/>
        </p:spPr>
      </p:sp>
      <p:sp>
        <p:nvSpPr>
          <p:cNvPr id="40" name="Text 38"/>
          <p:cNvSpPr/>
          <p:nvPr/>
        </p:nvSpPr>
        <p:spPr>
          <a:xfrm>
            <a:off x="8119872" y="4361688"/>
            <a:ext cx="658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ANSWER KEY — CONFIDENTIAL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0" y="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 to Arrest — BSIS Certification Course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56032" y="594360"/>
            <a:ext cx="8631936" cy="1389888"/>
          </a:xfrm>
          <a:prstGeom prst="roundRect">
            <a:avLst>
              <a:gd name="adj" fmla="val 59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9184" y="722376"/>
            <a:ext cx="502920" cy="502920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7" name="Text 5"/>
          <p:cNvSpPr/>
          <p:nvPr/>
        </p:nvSpPr>
        <p:spPr>
          <a:xfrm>
            <a:off x="329184" y="7223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32688" y="6858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— Liability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035040" y="6858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BPC §480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32688" y="941832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guard who makes an unlawful arrest could face BSIS consequences including: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32688" y="147218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A. A written warning only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864608" y="147218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B. Guard card suspension or revocation under BPC §480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932688" y="171907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C. Mandatory additional training only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864608" y="171907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D. No regulatory consequences — only civil liability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119872" y="1399032"/>
            <a:ext cx="658368" cy="502920"/>
          </a:xfrm>
          <a:prstGeom prst="roundRect">
            <a:avLst>
              <a:gd name="adj" fmla="val 10909"/>
            </a:avLst>
          </a:prstGeom>
          <a:solidFill>
            <a:srgbClr val="1A5C3A"/>
          </a:solidFill>
          <a:ln/>
        </p:spPr>
      </p:sp>
      <p:sp>
        <p:nvSpPr>
          <p:cNvPr id="16" name="Text 14"/>
          <p:cNvSpPr/>
          <p:nvPr/>
        </p:nvSpPr>
        <p:spPr>
          <a:xfrm>
            <a:off x="8119872" y="1399032"/>
            <a:ext cx="658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256032" y="2075688"/>
            <a:ext cx="8631936" cy="1389888"/>
          </a:xfrm>
          <a:prstGeom prst="roundRect">
            <a:avLst>
              <a:gd name="adj" fmla="val 59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9184" y="2203704"/>
            <a:ext cx="502920" cy="502920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19" name="Text 17"/>
          <p:cNvSpPr/>
          <p:nvPr/>
        </p:nvSpPr>
        <p:spPr>
          <a:xfrm>
            <a:off x="329184" y="22037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32688" y="216712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— Liability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035040" y="216712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Vicarious Liability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932688" y="2423160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MACCESS INC. as the PPO may be held liable for a guard's wrongful arrest under the doctrine of: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32688" y="295351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A. Strict product liability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64608" y="295351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B. Qualified immunity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932688" y="320040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C. Vicarious liability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864608" y="320040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D. Contributory negligence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8119872" y="2880360"/>
            <a:ext cx="658368" cy="502920"/>
          </a:xfrm>
          <a:prstGeom prst="roundRect">
            <a:avLst>
              <a:gd name="adj" fmla="val 10909"/>
            </a:avLst>
          </a:prstGeom>
          <a:solidFill>
            <a:srgbClr val="1A5C3A"/>
          </a:solidFill>
          <a:ln/>
        </p:spPr>
      </p:sp>
      <p:sp>
        <p:nvSpPr>
          <p:cNvPr id="28" name="Text 26"/>
          <p:cNvSpPr/>
          <p:nvPr/>
        </p:nvSpPr>
        <p:spPr>
          <a:xfrm>
            <a:off x="8119872" y="2880360"/>
            <a:ext cx="658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256032" y="3557016"/>
            <a:ext cx="8631936" cy="1389888"/>
          </a:xfrm>
          <a:prstGeom prst="roundRect">
            <a:avLst>
              <a:gd name="adj" fmla="val 59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9184" y="3685032"/>
            <a:ext cx="502920" cy="502920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31" name="Text 29"/>
          <p:cNvSpPr/>
          <p:nvPr/>
        </p:nvSpPr>
        <p:spPr>
          <a:xfrm>
            <a:off x="329184" y="36850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932688" y="364845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— Liability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035040" y="36484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§242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932688" y="3904488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guard uses excessive force during a detention. Which criminal charge most directly applies?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932688" y="443484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A. Trespassing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864608" y="443484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B. Battery under PC §242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932688" y="468172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C. Vandalism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864608" y="468172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D. Disturbing the peace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8119872" y="4361688"/>
            <a:ext cx="658368" cy="502920"/>
          </a:xfrm>
          <a:prstGeom prst="roundRect">
            <a:avLst>
              <a:gd name="adj" fmla="val 10909"/>
            </a:avLst>
          </a:prstGeom>
          <a:solidFill>
            <a:srgbClr val="1A5C3A"/>
          </a:solidFill>
          <a:ln/>
        </p:spPr>
      </p:sp>
      <p:sp>
        <p:nvSpPr>
          <p:cNvPr id="40" name="Text 38"/>
          <p:cNvSpPr/>
          <p:nvPr/>
        </p:nvSpPr>
        <p:spPr>
          <a:xfrm>
            <a:off x="8119872" y="4361688"/>
            <a:ext cx="658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ANSWER KEY — CONFIDENTIAL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0" y="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 to Arrest — BSIS Certification Course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56032" y="594360"/>
            <a:ext cx="8631936" cy="1389888"/>
          </a:xfrm>
          <a:prstGeom prst="roundRect">
            <a:avLst>
              <a:gd name="adj" fmla="val 59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9184" y="722376"/>
            <a:ext cx="502920" cy="502920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7" name="Text 5"/>
          <p:cNvSpPr/>
          <p:nvPr/>
        </p:nvSpPr>
        <p:spPr>
          <a:xfrm>
            <a:off x="329184" y="7223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32688" y="6858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— Liability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035040" y="6858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BPC §7583.2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32688" y="941832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BSIS must be notified when a security guard is involved in certain incidents including use of force per: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32688" y="147218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A. PC §837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864608" y="147218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B. Title 16 CCR §600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932688" y="171907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C. BPC §7583.2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864608" y="171907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D. PC §242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119872" y="1399032"/>
            <a:ext cx="658368" cy="502920"/>
          </a:xfrm>
          <a:prstGeom prst="roundRect">
            <a:avLst>
              <a:gd name="adj" fmla="val 10909"/>
            </a:avLst>
          </a:prstGeom>
          <a:solidFill>
            <a:srgbClr val="1A5C3A"/>
          </a:solidFill>
          <a:ln/>
        </p:spPr>
      </p:sp>
      <p:sp>
        <p:nvSpPr>
          <p:cNvPr id="16" name="Text 14"/>
          <p:cNvSpPr/>
          <p:nvPr/>
        </p:nvSpPr>
        <p:spPr>
          <a:xfrm>
            <a:off x="8119872" y="1399032"/>
            <a:ext cx="658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256032" y="2075688"/>
            <a:ext cx="8631936" cy="1389888"/>
          </a:xfrm>
          <a:prstGeom prst="roundRect">
            <a:avLst>
              <a:gd name="adj" fmla="val 59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9184" y="2203704"/>
            <a:ext cx="502920" cy="502920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19" name="Text 17"/>
          <p:cNvSpPr/>
          <p:nvPr/>
        </p:nvSpPr>
        <p:spPr>
          <a:xfrm>
            <a:off x="329184" y="22037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32688" y="216712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 — Trespass &amp; Property Law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035040" y="216712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§602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932688" y="2423160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California Penal Code §602, trespass is generally classified as a: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32688" y="295351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A. Felony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64608" y="295351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B. Infraction only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932688" y="320040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C. Civil violation only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864608" y="320040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D. Misdemeanor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8119872" y="2880360"/>
            <a:ext cx="658368" cy="502920"/>
          </a:xfrm>
          <a:prstGeom prst="roundRect">
            <a:avLst>
              <a:gd name="adj" fmla="val 10909"/>
            </a:avLst>
          </a:prstGeom>
          <a:solidFill>
            <a:srgbClr val="1A5C3A"/>
          </a:solidFill>
          <a:ln/>
        </p:spPr>
      </p:sp>
      <p:sp>
        <p:nvSpPr>
          <p:cNvPr id="28" name="Text 26"/>
          <p:cNvSpPr/>
          <p:nvPr/>
        </p:nvSpPr>
        <p:spPr>
          <a:xfrm>
            <a:off x="8119872" y="2880360"/>
            <a:ext cx="658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256032" y="3557016"/>
            <a:ext cx="8631936" cy="1389888"/>
          </a:xfrm>
          <a:prstGeom prst="roundRect">
            <a:avLst>
              <a:gd name="adj" fmla="val 59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9184" y="3685032"/>
            <a:ext cx="502920" cy="502920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31" name="Text 29"/>
          <p:cNvSpPr/>
          <p:nvPr/>
        </p:nvSpPr>
        <p:spPr>
          <a:xfrm>
            <a:off x="329184" y="36850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932688" y="364845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 — Trespass &amp; Property Law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035040" y="36484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§602 | PC §837(1)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932688" y="3904488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 refuses to leave private property after a lawful order. Under PC §837(1), an arrest may be lawful because: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932688" y="443484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A. The property owner requested it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864608" y="443484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B. Guards always have authority to arrest trespassers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932688" y="468172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C. The refusal constitutes a public offense in the guard's presence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864608" y="468172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D. BSIS license authorizes this action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8119872" y="4361688"/>
            <a:ext cx="658368" cy="502920"/>
          </a:xfrm>
          <a:prstGeom prst="roundRect">
            <a:avLst>
              <a:gd name="adj" fmla="val 10909"/>
            </a:avLst>
          </a:prstGeom>
          <a:solidFill>
            <a:srgbClr val="1A5C3A"/>
          </a:solidFill>
          <a:ln/>
        </p:spPr>
      </p:sp>
      <p:sp>
        <p:nvSpPr>
          <p:cNvPr id="40" name="Text 38"/>
          <p:cNvSpPr/>
          <p:nvPr/>
        </p:nvSpPr>
        <p:spPr>
          <a:xfrm>
            <a:off x="8119872" y="4361688"/>
            <a:ext cx="658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ANSWER KEY — CONFIDENTIAL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0" y="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 to Arrest — BSIS Certification Course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56032" y="594360"/>
            <a:ext cx="8631936" cy="1389888"/>
          </a:xfrm>
          <a:prstGeom prst="roundRect">
            <a:avLst>
              <a:gd name="adj" fmla="val 59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9184" y="722376"/>
            <a:ext cx="502920" cy="502920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7" name="Text 5"/>
          <p:cNvSpPr/>
          <p:nvPr/>
        </p:nvSpPr>
        <p:spPr>
          <a:xfrm>
            <a:off x="329184" y="7223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32688" y="6858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 — Trespass &amp; Property Law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035040" y="6858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Civil Rights Law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32688" y="941832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removing someone from a public accommodation, a security guard must have a reason that is: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32688" y="147218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A. The same authority as on private property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864608" y="147218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B. Written and approved by the property manager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932688" y="171907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C. Specific and legitimate — unrelated to any protected characteristic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864608" y="171907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D. Approved by law enforcement in advance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119872" y="1399032"/>
            <a:ext cx="658368" cy="502920"/>
          </a:xfrm>
          <a:prstGeom prst="roundRect">
            <a:avLst>
              <a:gd name="adj" fmla="val 10909"/>
            </a:avLst>
          </a:prstGeom>
          <a:solidFill>
            <a:srgbClr val="1A5C3A"/>
          </a:solidFill>
          <a:ln/>
        </p:spPr>
      </p:sp>
      <p:sp>
        <p:nvSpPr>
          <p:cNvPr id="16" name="Text 14"/>
          <p:cNvSpPr/>
          <p:nvPr/>
        </p:nvSpPr>
        <p:spPr>
          <a:xfrm>
            <a:off x="8119872" y="1399032"/>
            <a:ext cx="658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256032" y="2075688"/>
            <a:ext cx="8631936" cy="1389888"/>
          </a:xfrm>
          <a:prstGeom prst="roundRect">
            <a:avLst>
              <a:gd name="adj" fmla="val 59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9184" y="2203704"/>
            <a:ext cx="502920" cy="502920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19" name="Text 17"/>
          <p:cNvSpPr/>
          <p:nvPr/>
        </p:nvSpPr>
        <p:spPr>
          <a:xfrm>
            <a:off x="329184" y="22037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32688" y="216712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 — Trespass &amp; Property Law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035040" y="216712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§602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932688" y="2423160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trespass enforcement on open land, what is generally required before detaining a person?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32688" y="295351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A. A written order from a judge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64608" y="295351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B. A prior BSIS incident report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932688" y="320040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C. Police authorization in writing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864608" y="320040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D. Clear posting or fencing and a verbal warning first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8119872" y="2880360"/>
            <a:ext cx="658368" cy="502920"/>
          </a:xfrm>
          <a:prstGeom prst="roundRect">
            <a:avLst>
              <a:gd name="adj" fmla="val 10909"/>
            </a:avLst>
          </a:prstGeom>
          <a:solidFill>
            <a:srgbClr val="1A5C3A"/>
          </a:solidFill>
          <a:ln/>
        </p:spPr>
      </p:sp>
      <p:sp>
        <p:nvSpPr>
          <p:cNvPr id="28" name="Text 26"/>
          <p:cNvSpPr/>
          <p:nvPr/>
        </p:nvSpPr>
        <p:spPr>
          <a:xfrm>
            <a:off x="8119872" y="2880360"/>
            <a:ext cx="658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256032" y="3557016"/>
            <a:ext cx="8631936" cy="1389888"/>
          </a:xfrm>
          <a:prstGeom prst="roundRect">
            <a:avLst>
              <a:gd name="adj" fmla="val 59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9184" y="3685032"/>
            <a:ext cx="502920" cy="502920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31" name="Text 29"/>
          <p:cNvSpPr/>
          <p:nvPr/>
        </p:nvSpPr>
        <p:spPr>
          <a:xfrm>
            <a:off x="329184" y="36850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932688" y="364845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7 — Ethics, Communication &amp; Documentation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035040" y="36484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16 CCR §643(b)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932688" y="3904488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Title 16 CCR §643(b), a Certificate of Completion must be issued for each course completed by: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932688" y="443484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A. BSIS directly to the guard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864608" y="443484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B. The applicant's attorney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932688" y="468172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C. The property owner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864608" y="468172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D. The training entity or company providing the training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8119872" y="4361688"/>
            <a:ext cx="658368" cy="502920"/>
          </a:xfrm>
          <a:prstGeom prst="roundRect">
            <a:avLst>
              <a:gd name="adj" fmla="val 10909"/>
            </a:avLst>
          </a:prstGeom>
          <a:solidFill>
            <a:srgbClr val="1A5C3A"/>
          </a:solidFill>
          <a:ln/>
        </p:spPr>
      </p:sp>
      <p:sp>
        <p:nvSpPr>
          <p:cNvPr id="40" name="Text 38"/>
          <p:cNvSpPr/>
          <p:nvPr/>
        </p:nvSpPr>
        <p:spPr>
          <a:xfrm>
            <a:off x="8119872" y="4361688"/>
            <a:ext cx="658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ANSWER KEY — CONFIDENTIAL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0" y="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 to Arrest — BSIS Certification Course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56032" y="594360"/>
            <a:ext cx="8631936" cy="1389888"/>
          </a:xfrm>
          <a:prstGeom prst="roundRect">
            <a:avLst>
              <a:gd name="adj" fmla="val 59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9184" y="722376"/>
            <a:ext cx="502920" cy="502920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7" name="Text 5"/>
          <p:cNvSpPr/>
          <p:nvPr/>
        </p:nvSpPr>
        <p:spPr>
          <a:xfrm>
            <a:off x="329184" y="7223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32688" y="6858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7 — Ethics, Communication &amp; Documentation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035040" y="6858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BSIS PTA Manual §8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32688" y="941832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incident report should ideally be completed: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32688" y="147218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A. At the end of the guard's shift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864608" y="147218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B. The following business day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932688" y="171907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C. Only when requested by a supervisor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864608" y="171907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D. Within 1 hour of the incident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119872" y="1399032"/>
            <a:ext cx="658368" cy="502920"/>
          </a:xfrm>
          <a:prstGeom prst="roundRect">
            <a:avLst>
              <a:gd name="adj" fmla="val 10909"/>
            </a:avLst>
          </a:prstGeom>
          <a:solidFill>
            <a:srgbClr val="1A5C3A"/>
          </a:solidFill>
          <a:ln/>
        </p:spPr>
      </p:sp>
      <p:sp>
        <p:nvSpPr>
          <p:cNvPr id="16" name="Text 14"/>
          <p:cNvSpPr/>
          <p:nvPr/>
        </p:nvSpPr>
        <p:spPr>
          <a:xfrm>
            <a:off x="8119872" y="1399032"/>
            <a:ext cx="658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256032" y="2075688"/>
            <a:ext cx="8631936" cy="1389888"/>
          </a:xfrm>
          <a:prstGeom prst="roundRect">
            <a:avLst>
              <a:gd name="adj" fmla="val 59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9184" y="2203704"/>
            <a:ext cx="502920" cy="502920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19" name="Text 17"/>
          <p:cNvSpPr/>
          <p:nvPr/>
        </p:nvSpPr>
        <p:spPr>
          <a:xfrm>
            <a:off x="329184" y="22037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32688" y="216712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7 — Ethics, Communication &amp; Documentation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035040" y="216712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BSIS Ethics Standards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932688" y="2423160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security guard who falsifies an incident report may face: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32688" y="295351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A. A verbal warning only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64608" y="295351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B. A civil fine only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932688" y="320040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C. No consequences if the incident was minor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864608" y="320040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D. Termination and BSIS license revocation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8119872" y="2880360"/>
            <a:ext cx="658368" cy="502920"/>
          </a:xfrm>
          <a:prstGeom prst="roundRect">
            <a:avLst>
              <a:gd name="adj" fmla="val 10909"/>
            </a:avLst>
          </a:prstGeom>
          <a:solidFill>
            <a:srgbClr val="1A5C3A"/>
          </a:solidFill>
          <a:ln/>
        </p:spPr>
      </p:sp>
      <p:sp>
        <p:nvSpPr>
          <p:cNvPr id="28" name="Text 26"/>
          <p:cNvSpPr/>
          <p:nvPr/>
        </p:nvSpPr>
        <p:spPr>
          <a:xfrm>
            <a:off x="8119872" y="2880360"/>
            <a:ext cx="658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256032" y="3557016"/>
            <a:ext cx="8631936" cy="1389888"/>
          </a:xfrm>
          <a:prstGeom prst="roundRect">
            <a:avLst>
              <a:gd name="adj" fmla="val 59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9184" y="3685032"/>
            <a:ext cx="502920" cy="502920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31" name="Text 29"/>
          <p:cNvSpPr/>
          <p:nvPr/>
        </p:nvSpPr>
        <p:spPr>
          <a:xfrm>
            <a:off x="329184" y="36850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932688" y="364845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7 — Ethics, Communication &amp; Documentation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035040" y="36484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BSIS Ethics Standards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932688" y="3904488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security guard's enforcement decisions must be free from bias based on: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932688" y="443484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A. The guard's professional intuition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864608" y="443484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B. Employer policies regardless of law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932688" y="468172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C. Race, gender, appearance, or other protected characteristics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864608" y="468172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D. The property owner's personal preferences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8119872" y="4361688"/>
            <a:ext cx="658368" cy="502920"/>
          </a:xfrm>
          <a:prstGeom prst="roundRect">
            <a:avLst>
              <a:gd name="adj" fmla="val 10909"/>
            </a:avLst>
          </a:prstGeom>
          <a:solidFill>
            <a:srgbClr val="1A5C3A"/>
          </a:solidFill>
          <a:ln/>
        </p:spPr>
      </p:sp>
      <p:sp>
        <p:nvSpPr>
          <p:cNvPr id="40" name="Text 38"/>
          <p:cNvSpPr/>
          <p:nvPr/>
        </p:nvSpPr>
        <p:spPr>
          <a:xfrm>
            <a:off x="8119872" y="4361688"/>
            <a:ext cx="658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ANSWER KEY — CONFIDENTIAL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0" y="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 to Arrest — BSIS Certification Course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56032" y="594360"/>
            <a:ext cx="8631936" cy="1389888"/>
          </a:xfrm>
          <a:prstGeom prst="roundRect">
            <a:avLst>
              <a:gd name="adj" fmla="val 59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9184" y="722376"/>
            <a:ext cx="502920" cy="502920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7" name="Text 5"/>
          <p:cNvSpPr/>
          <p:nvPr/>
        </p:nvSpPr>
        <p:spPr>
          <a:xfrm>
            <a:off x="329184" y="7223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32688" y="6858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7 — Ethics, Communication &amp; Documentation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035040" y="6858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BSIS PTA Manual §8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32688" y="941832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security guard announces a citizen's arrest, they should: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32688" y="147218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A. Remain silent to avoid legal exposure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864608" y="147218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B. Wait for police to make any statement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932688" y="171907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C. Only announce after police arrive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864608" y="171907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D. Clearly state the basis for the arrest in plain language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119872" y="1399032"/>
            <a:ext cx="658368" cy="502920"/>
          </a:xfrm>
          <a:prstGeom prst="roundRect">
            <a:avLst>
              <a:gd name="adj" fmla="val 10909"/>
            </a:avLst>
          </a:prstGeom>
          <a:solidFill>
            <a:srgbClr val="1A5C3A"/>
          </a:solidFill>
          <a:ln/>
        </p:spPr>
      </p:sp>
      <p:sp>
        <p:nvSpPr>
          <p:cNvPr id="16" name="Text 14"/>
          <p:cNvSpPr/>
          <p:nvPr/>
        </p:nvSpPr>
        <p:spPr>
          <a:xfrm>
            <a:off x="8119872" y="1399032"/>
            <a:ext cx="658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256032" y="2075688"/>
            <a:ext cx="8631936" cy="1389888"/>
          </a:xfrm>
          <a:prstGeom prst="roundRect">
            <a:avLst>
              <a:gd name="adj" fmla="val 59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9184" y="2203704"/>
            <a:ext cx="502920" cy="502920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19" name="Text 17"/>
          <p:cNvSpPr/>
          <p:nvPr/>
        </p:nvSpPr>
        <p:spPr>
          <a:xfrm>
            <a:off x="329184" y="22037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32688" y="216712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7 — Ethics, Communication &amp; Documentation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035040" y="216712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16 CCR §643(b)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932688" y="2423160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records must be maintained by the PPO and made available to BSIS for: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32688" y="295351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A. 6 months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64608" y="295351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B. 1 year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932688" y="320040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C. Audit upon request — for the duration of employment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864608" y="320040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D. 5 years after termination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8119872" y="2880360"/>
            <a:ext cx="658368" cy="502920"/>
          </a:xfrm>
          <a:prstGeom prst="roundRect">
            <a:avLst>
              <a:gd name="adj" fmla="val 10909"/>
            </a:avLst>
          </a:prstGeom>
          <a:solidFill>
            <a:srgbClr val="1A5C3A"/>
          </a:solidFill>
          <a:ln/>
        </p:spPr>
      </p:sp>
      <p:sp>
        <p:nvSpPr>
          <p:cNvPr id="28" name="Text 26"/>
          <p:cNvSpPr/>
          <p:nvPr/>
        </p:nvSpPr>
        <p:spPr>
          <a:xfrm>
            <a:off x="8119872" y="2880360"/>
            <a:ext cx="658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256032" y="3557016"/>
            <a:ext cx="8631936" cy="1389888"/>
          </a:xfrm>
          <a:prstGeom prst="roundRect">
            <a:avLst>
              <a:gd name="adj" fmla="val 59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9184" y="3685032"/>
            <a:ext cx="502920" cy="502920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31" name="Text 29"/>
          <p:cNvSpPr/>
          <p:nvPr/>
        </p:nvSpPr>
        <p:spPr>
          <a:xfrm>
            <a:off x="329184" y="36850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932688" y="364845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8 — Emergency Response &amp; Officer Safety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035040" y="36484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BSIS PTA Manual §9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932688" y="3904488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security guard discovers a medical emergency, their FIRST action should be: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932688" y="443484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A. Notify their supervisor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864608" y="443484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B. Begin medical treatment immediately regardless of training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932688" y="468172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C. Assess the scene for personal safety, then call 911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864608" y="468172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D. Secure the area and wait for police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8119872" y="4361688"/>
            <a:ext cx="658368" cy="502920"/>
          </a:xfrm>
          <a:prstGeom prst="roundRect">
            <a:avLst>
              <a:gd name="adj" fmla="val 10909"/>
            </a:avLst>
          </a:prstGeom>
          <a:solidFill>
            <a:srgbClr val="1A5C3A"/>
          </a:solidFill>
          <a:ln/>
        </p:spPr>
      </p:sp>
      <p:sp>
        <p:nvSpPr>
          <p:cNvPr id="40" name="Text 38"/>
          <p:cNvSpPr/>
          <p:nvPr/>
        </p:nvSpPr>
        <p:spPr>
          <a:xfrm>
            <a:off x="8119872" y="4361688"/>
            <a:ext cx="658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ANSWER KEY — CONFIDENTIAL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0" y="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 to Arrest — BSIS Certification Course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56032" y="594360"/>
            <a:ext cx="8631936" cy="1389888"/>
          </a:xfrm>
          <a:prstGeom prst="roundRect">
            <a:avLst>
              <a:gd name="adj" fmla="val 59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9184" y="722376"/>
            <a:ext cx="502920" cy="502920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7" name="Text 5"/>
          <p:cNvSpPr/>
          <p:nvPr/>
        </p:nvSpPr>
        <p:spPr>
          <a:xfrm>
            <a:off x="329184" y="7223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32688" y="6858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8 — Emergency Response &amp; Officer Safety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035040" y="6858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DHS Run-Hide-Fight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32688" y="941832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an active shooter situation, the recommended priority order of actions is: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32688" y="147218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A. Hide, Fight, Run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864608" y="147218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B. Fight, Hide, Run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932688" y="171907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C. Call 911, Hide, Fight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864608" y="171907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D. Run, Hide, Fight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119872" y="1399032"/>
            <a:ext cx="658368" cy="502920"/>
          </a:xfrm>
          <a:prstGeom prst="roundRect">
            <a:avLst>
              <a:gd name="adj" fmla="val 10909"/>
            </a:avLst>
          </a:prstGeom>
          <a:solidFill>
            <a:srgbClr val="1A5C3A"/>
          </a:solidFill>
          <a:ln/>
        </p:spPr>
      </p:sp>
      <p:sp>
        <p:nvSpPr>
          <p:cNvPr id="16" name="Text 14"/>
          <p:cNvSpPr/>
          <p:nvPr/>
        </p:nvSpPr>
        <p:spPr>
          <a:xfrm>
            <a:off x="8119872" y="1399032"/>
            <a:ext cx="658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256032" y="2075688"/>
            <a:ext cx="8631936" cy="1389888"/>
          </a:xfrm>
          <a:prstGeom prst="roundRect">
            <a:avLst>
              <a:gd name="adj" fmla="val 59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9184" y="2203704"/>
            <a:ext cx="502920" cy="502920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19" name="Text 17"/>
          <p:cNvSpPr/>
          <p:nvPr/>
        </p:nvSpPr>
        <p:spPr>
          <a:xfrm>
            <a:off x="329184" y="22037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32688" y="216712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8 — Emergency Response &amp; Officer Safety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035040" y="216712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BSIS PTA Manual §10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932688" y="2423160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Blood-borne pathogen precautions require a security guard to: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32688" y="295351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A. Refuse all physical contact with subjects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64608" y="295351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B. Request a hazmat team for all incidents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932688" y="320040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C. Document exposure only after the fact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864608" y="320040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D. Wear gloves before any physical contact that may involve blood or bodily fluids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8119872" y="2880360"/>
            <a:ext cx="658368" cy="502920"/>
          </a:xfrm>
          <a:prstGeom prst="roundRect">
            <a:avLst>
              <a:gd name="adj" fmla="val 10909"/>
            </a:avLst>
          </a:prstGeom>
          <a:solidFill>
            <a:srgbClr val="1A5C3A"/>
          </a:solidFill>
          <a:ln/>
        </p:spPr>
      </p:sp>
      <p:sp>
        <p:nvSpPr>
          <p:cNvPr id="28" name="Text 26"/>
          <p:cNvSpPr/>
          <p:nvPr/>
        </p:nvSpPr>
        <p:spPr>
          <a:xfrm>
            <a:off x="8119872" y="2880360"/>
            <a:ext cx="658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256032" y="3557016"/>
            <a:ext cx="8631936" cy="1389888"/>
          </a:xfrm>
          <a:prstGeom prst="roundRect">
            <a:avLst>
              <a:gd name="adj" fmla="val 59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9184" y="3685032"/>
            <a:ext cx="502920" cy="502920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31" name="Text 29"/>
          <p:cNvSpPr/>
          <p:nvPr/>
        </p:nvSpPr>
        <p:spPr>
          <a:xfrm>
            <a:off x="329184" y="36850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932688" y="364845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8 — Emergency Response &amp; Officer Safety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035040" y="36484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BSIS PTA Manual §10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932688" y="3904488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law enforcement arrives at a scene where a security guard has made a citizen's arrest, the guard should: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932688" y="443484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A. Continue managing the situation until formally relieved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864608" y="443484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B. Announce their BSIS authority first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932688" y="468172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C. Keep hands visible and follow all officer commands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864608" y="468172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D. Present their guard card immediately and speak first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8119872" y="4361688"/>
            <a:ext cx="658368" cy="502920"/>
          </a:xfrm>
          <a:prstGeom prst="roundRect">
            <a:avLst>
              <a:gd name="adj" fmla="val 10909"/>
            </a:avLst>
          </a:prstGeom>
          <a:solidFill>
            <a:srgbClr val="1A5C3A"/>
          </a:solidFill>
          <a:ln/>
        </p:spPr>
      </p:sp>
      <p:sp>
        <p:nvSpPr>
          <p:cNvPr id="40" name="Text 38"/>
          <p:cNvSpPr/>
          <p:nvPr/>
        </p:nvSpPr>
        <p:spPr>
          <a:xfrm>
            <a:off x="8119872" y="4361688"/>
            <a:ext cx="658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ANSWER KEY — CONFIDENTIAL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0" y="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 to Arrest — BSIS Certification Course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56032" y="594360"/>
            <a:ext cx="8631936" cy="1389888"/>
          </a:xfrm>
          <a:prstGeom prst="roundRect">
            <a:avLst>
              <a:gd name="adj" fmla="val 59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9184" y="722376"/>
            <a:ext cx="502920" cy="502920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7" name="Text 5"/>
          <p:cNvSpPr/>
          <p:nvPr/>
        </p:nvSpPr>
        <p:spPr>
          <a:xfrm>
            <a:off x="329184" y="7223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32688" y="6858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8 — Emergency Response &amp; Officer Safety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035040" y="6858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BSIS PTA Manual §10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32688" y="941832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Situational awareness means: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32688" y="147218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A. Watching only the primary entry point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864608" y="147218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B. Knowing your exits and continuously monitoring your environment for threats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932688" y="171907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C. Focusing on the most suspicious-looking individual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864608" y="171907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D. Staying stationary to observe from one position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119872" y="1399032"/>
            <a:ext cx="658368" cy="502920"/>
          </a:xfrm>
          <a:prstGeom prst="roundRect">
            <a:avLst>
              <a:gd name="adj" fmla="val 10909"/>
            </a:avLst>
          </a:prstGeom>
          <a:solidFill>
            <a:srgbClr val="1A5C3A"/>
          </a:solidFill>
          <a:ln/>
        </p:spPr>
      </p:sp>
      <p:sp>
        <p:nvSpPr>
          <p:cNvPr id="16" name="Text 14"/>
          <p:cNvSpPr/>
          <p:nvPr/>
        </p:nvSpPr>
        <p:spPr>
          <a:xfrm>
            <a:off x="8119872" y="1399032"/>
            <a:ext cx="658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256032" y="2075688"/>
            <a:ext cx="8631936" cy="1389888"/>
          </a:xfrm>
          <a:prstGeom prst="roundRect">
            <a:avLst>
              <a:gd name="adj" fmla="val 59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9184" y="2203704"/>
            <a:ext cx="502920" cy="502920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19" name="Text 17"/>
          <p:cNvSpPr/>
          <p:nvPr/>
        </p:nvSpPr>
        <p:spPr>
          <a:xfrm>
            <a:off x="329184" y="22037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32688" y="216712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9 — Knowledge Check &amp; Exam Prep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035040" y="216712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§847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932688" y="2423160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security guard makes a lawful citizen's arrest. How long may the guard hold the person before law enforcement must be contacted?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32688" y="295351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A. Up to 4 hours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64608" y="295351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B. Until the end of the shift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932688" y="320040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C. Up to 24 hours if police are unavailable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864608" y="320040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D. Without unnecessary delay — no extended holding permitted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8119872" y="2880360"/>
            <a:ext cx="658368" cy="502920"/>
          </a:xfrm>
          <a:prstGeom prst="roundRect">
            <a:avLst>
              <a:gd name="adj" fmla="val 10909"/>
            </a:avLst>
          </a:prstGeom>
          <a:solidFill>
            <a:srgbClr val="1A5C3A"/>
          </a:solidFill>
          <a:ln/>
        </p:spPr>
      </p:sp>
      <p:sp>
        <p:nvSpPr>
          <p:cNvPr id="28" name="Text 26"/>
          <p:cNvSpPr/>
          <p:nvPr/>
        </p:nvSpPr>
        <p:spPr>
          <a:xfrm>
            <a:off x="8119872" y="2880360"/>
            <a:ext cx="658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256032" y="3557016"/>
            <a:ext cx="8631936" cy="1389888"/>
          </a:xfrm>
          <a:prstGeom prst="roundRect">
            <a:avLst>
              <a:gd name="adj" fmla="val 59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9184" y="3685032"/>
            <a:ext cx="502920" cy="502920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31" name="Text 29"/>
          <p:cNvSpPr/>
          <p:nvPr/>
        </p:nvSpPr>
        <p:spPr>
          <a:xfrm>
            <a:off x="329184" y="36850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932688" y="364845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9 — Knowledge Check &amp; Exam Prep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035040" y="36484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§837 | PC §836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932688" y="3904488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BEST distinguishes a security guard's arrest authority from a police officer's?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932688" y="443484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A. Guards can only arrest on weekdays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864608" y="443484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B. Guards cannot use handcuffs under any circumstances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932688" y="468172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C. Guards must have a supervisor present for all arrests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864608" y="468172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D. Guards cannot arrest based on probable cause developed through their own investigation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8119872" y="4361688"/>
            <a:ext cx="658368" cy="502920"/>
          </a:xfrm>
          <a:prstGeom prst="roundRect">
            <a:avLst>
              <a:gd name="adj" fmla="val 10909"/>
            </a:avLst>
          </a:prstGeom>
          <a:solidFill>
            <a:srgbClr val="1A5C3A"/>
          </a:solidFill>
          <a:ln/>
        </p:spPr>
      </p:sp>
      <p:sp>
        <p:nvSpPr>
          <p:cNvPr id="40" name="Text 38"/>
          <p:cNvSpPr/>
          <p:nvPr/>
        </p:nvSpPr>
        <p:spPr>
          <a:xfrm>
            <a:off x="8119872" y="4361688"/>
            <a:ext cx="658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ANSWER KEY — CONFIDENTIAL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0" y="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 to Arrest — BSIS Certification Course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56032" y="594360"/>
            <a:ext cx="8631936" cy="1389888"/>
          </a:xfrm>
          <a:prstGeom prst="roundRect">
            <a:avLst>
              <a:gd name="adj" fmla="val 59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9184" y="722376"/>
            <a:ext cx="502920" cy="502920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7" name="Text 5"/>
          <p:cNvSpPr/>
          <p:nvPr/>
        </p:nvSpPr>
        <p:spPr>
          <a:xfrm>
            <a:off x="329184" y="7223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32688" y="6858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9 — Knowledge Check &amp; Exam Prep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035040" y="6858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§837(1) | PC §602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32688" y="941832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guard observes shoplifting in real time. The person drops the item and tries to leave. Best course of action?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32688" y="147218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A. Physically tackle the person to prevent escape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864608" y="147218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B. Follow the person into the parking lot and arrest there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932688" y="171907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C. Take no action — only managers can stop shoplifters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864608" y="171907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D. Detain on property with reasonable force and immediately call police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119872" y="1399032"/>
            <a:ext cx="658368" cy="502920"/>
          </a:xfrm>
          <a:prstGeom prst="roundRect">
            <a:avLst>
              <a:gd name="adj" fmla="val 10909"/>
            </a:avLst>
          </a:prstGeom>
          <a:solidFill>
            <a:srgbClr val="1A5C3A"/>
          </a:solidFill>
          <a:ln/>
        </p:spPr>
      </p:sp>
      <p:sp>
        <p:nvSpPr>
          <p:cNvPr id="16" name="Text 14"/>
          <p:cNvSpPr/>
          <p:nvPr/>
        </p:nvSpPr>
        <p:spPr>
          <a:xfrm>
            <a:off x="8119872" y="1399032"/>
            <a:ext cx="658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256032" y="2075688"/>
            <a:ext cx="8631936" cy="1389888"/>
          </a:xfrm>
          <a:prstGeom prst="roundRect">
            <a:avLst>
              <a:gd name="adj" fmla="val 59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9184" y="2203704"/>
            <a:ext cx="502920" cy="502920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19" name="Text 17"/>
          <p:cNvSpPr/>
          <p:nvPr/>
        </p:nvSpPr>
        <p:spPr>
          <a:xfrm>
            <a:off x="329184" y="22037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32688" y="216712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9 — Knowledge Check &amp; Exam Prep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035040" y="216712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§837 | BPC §7583.7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932688" y="2423160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security guard may NEVER make a citizen's arrest for a misdemeanor if: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32688" y="295351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A. The offense occurred on private property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64608" y="295351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B. The person is not a repeat offender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932688" y="320040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C. The guard did not personally witness the offense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864608" y="320040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D. The offense occurred after business hours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8119872" y="2880360"/>
            <a:ext cx="658368" cy="502920"/>
          </a:xfrm>
          <a:prstGeom prst="roundRect">
            <a:avLst>
              <a:gd name="adj" fmla="val 10909"/>
            </a:avLst>
          </a:prstGeom>
          <a:solidFill>
            <a:srgbClr val="1A5C3A"/>
          </a:solidFill>
          <a:ln/>
        </p:spPr>
      </p:sp>
      <p:sp>
        <p:nvSpPr>
          <p:cNvPr id="28" name="Text 26"/>
          <p:cNvSpPr/>
          <p:nvPr/>
        </p:nvSpPr>
        <p:spPr>
          <a:xfrm>
            <a:off x="8119872" y="2880360"/>
            <a:ext cx="658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256032" y="3557016"/>
            <a:ext cx="8631936" cy="1389888"/>
          </a:xfrm>
          <a:prstGeom prst="roundRect">
            <a:avLst>
              <a:gd name="adj" fmla="val 59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9184" y="3685032"/>
            <a:ext cx="502920" cy="502920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31" name="Text 29"/>
          <p:cNvSpPr/>
          <p:nvPr/>
        </p:nvSpPr>
        <p:spPr>
          <a:xfrm>
            <a:off x="329184" y="36850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932688" y="364845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9 — Knowledge Check &amp; Exam Prep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035040" y="36484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BPC §7583.7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932688" y="3904488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MACCESS INC.'s California Private Patrol Operator license number is: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932688" y="443484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A. #112233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864608" y="443484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B. #100001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932688" y="468172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C. #133445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864608" y="468172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D. #122729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8119872" y="4361688"/>
            <a:ext cx="658368" cy="502920"/>
          </a:xfrm>
          <a:prstGeom prst="roundRect">
            <a:avLst>
              <a:gd name="adj" fmla="val 10909"/>
            </a:avLst>
          </a:prstGeom>
          <a:solidFill>
            <a:srgbClr val="1A5C3A"/>
          </a:solidFill>
          <a:ln/>
        </p:spPr>
      </p:sp>
      <p:sp>
        <p:nvSpPr>
          <p:cNvPr id="40" name="Text 38"/>
          <p:cNvSpPr/>
          <p:nvPr/>
        </p:nvSpPr>
        <p:spPr>
          <a:xfrm>
            <a:off x="8119872" y="4361688"/>
            <a:ext cx="658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ANSWER KEY — CONFIDENTIAL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0" y="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 to Arrest — BSIS Certification Course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56032" y="594360"/>
            <a:ext cx="8631936" cy="1389888"/>
          </a:xfrm>
          <a:prstGeom prst="roundRect">
            <a:avLst>
              <a:gd name="adj" fmla="val 59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9184" y="722376"/>
            <a:ext cx="502920" cy="502920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7" name="Text 5"/>
          <p:cNvSpPr/>
          <p:nvPr/>
        </p:nvSpPr>
        <p:spPr>
          <a:xfrm>
            <a:off x="329184" y="7223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32688" y="6858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9 — Knowledge Check &amp; Exam Prep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035040" y="6858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§847 | BSIS Training Standards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32688" y="941832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 citizen's arrest, a guard who holds the subject for 2 hours without calling police may face: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32688" y="147218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A. No consequences if the arrest was lawful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864608" y="147218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B. Praise for thorough documentation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932688" y="171907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C. False imprisonment charges and BSIS disciplinary action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864608" y="171907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D. A supervisor review only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119872" y="1399032"/>
            <a:ext cx="658368" cy="502920"/>
          </a:xfrm>
          <a:prstGeom prst="roundRect">
            <a:avLst>
              <a:gd name="adj" fmla="val 10909"/>
            </a:avLst>
          </a:prstGeom>
          <a:solidFill>
            <a:srgbClr val="1A5C3A"/>
          </a:solidFill>
          <a:ln/>
        </p:spPr>
      </p:sp>
      <p:sp>
        <p:nvSpPr>
          <p:cNvPr id="16" name="Text 14"/>
          <p:cNvSpPr/>
          <p:nvPr/>
        </p:nvSpPr>
        <p:spPr>
          <a:xfrm>
            <a:off x="8119872" y="1399032"/>
            <a:ext cx="658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B5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GUIDE &amp; INSTRUCTOR INSTRUCTIONS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850392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960120"/>
            <a:ext cx="1737360" cy="5303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Passing Score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240280" y="960120"/>
            <a:ext cx="6492240" cy="5303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— all 55 questions must be answered correctly per BPC §7583.7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" y="1554480"/>
            <a:ext cx="850392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11480" y="1554480"/>
            <a:ext cx="1737360" cy="5303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Method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240280" y="1554480"/>
            <a:ext cx="6492240" cy="5303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point per correct answer. No partial credit. No penalty for wrong answers beyond the failed score.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" y="2148840"/>
            <a:ext cx="850392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11480" y="2148840"/>
            <a:ext cx="1737360" cy="5303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Retake Policy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240280" y="2148840"/>
            <a:ext cx="6492240" cy="5303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who fail must retake the full assessment. Recommend review of specific modules where errors occurred.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" y="2743200"/>
            <a:ext cx="850392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11480" y="2743200"/>
            <a:ext cx="1737360" cy="5303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240280" y="2743200"/>
            <a:ext cx="6492240" cy="5303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MACCESS INC. Certificate of Completion only to students achieving 100%. Sign and date each certificate.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3337560"/>
            <a:ext cx="850392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11480" y="3337560"/>
            <a:ext cx="1737360" cy="5303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Keeping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240280" y="3337560"/>
            <a:ext cx="6492240" cy="5303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 a copy of each student's completed assessment and certificate per Title 16 CCR §643(b). Records subject to BSIS audit.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3931920"/>
            <a:ext cx="850392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11480" y="3931920"/>
            <a:ext cx="1737360" cy="5303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Key Security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240280" y="3931920"/>
            <a:ext cx="6492240" cy="5303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document is for MACCESS INC. instructor and administrative use only. Do not share with students before, during, or after the assessment.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0040" y="4526280"/>
            <a:ext cx="850392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11480" y="4526280"/>
            <a:ext cx="1737360" cy="5303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Weighting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240280" y="4526280"/>
            <a:ext cx="6492240" cy="5303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are distributed across 9 modules. Review incorrect answers by module to identify knowledge gaps.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Powers to Arrest — BSIS Certification Course — Answer Key (Instructor Copy)</dc:title>
  <dc:subject>PptxGenJS Presentation</dc:subject>
  <dc:creator>MACCESS INC. — INTERNAL</dc:creator>
  <cp:lastModifiedBy>MACCESS INC. — INTERNAL</cp:lastModifiedBy>
  <cp:revision>1</cp:revision>
  <dcterms:created xsi:type="dcterms:W3CDTF">2026-06-27T19:38:58Z</dcterms:created>
  <dcterms:modified xsi:type="dcterms:W3CDTF">2026-06-27T19:38:58Z</dcterms:modified>
</cp:coreProperties>
</file>