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INTERNAL USE ONLY — DO NOT DISTRIBUTE TO STUDENTS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"/>
            <a:ext cx="411480" cy="365760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&amp; Company Copy — Retain Securely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Questions  |  Passing Score: 100%  |  BPC §7583.7  |  PPO #122729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2793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MACCESS INC.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BSIS-Authorized Training Provider  |  June 27,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B2B5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 — ALL ANSWERS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Questions  |  Pass: 100%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" y="932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32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" y="932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6384" y="932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993392" y="932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993392" y="932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1" name="Text 9"/>
          <p:cNvSpPr/>
          <p:nvPr/>
        </p:nvSpPr>
        <p:spPr>
          <a:xfrm>
            <a:off x="1993392" y="932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23744" y="932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730752" y="932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30752" y="932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15" name="Text 13"/>
          <p:cNvSpPr/>
          <p:nvPr/>
        </p:nvSpPr>
        <p:spPr>
          <a:xfrm>
            <a:off x="3730752" y="932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61104" y="932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468112" y="932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68112" y="932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9" name="Text 17"/>
          <p:cNvSpPr/>
          <p:nvPr/>
        </p:nvSpPr>
        <p:spPr>
          <a:xfrm>
            <a:off x="5468112" y="932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98464" y="932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205472" y="932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05472" y="932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23" name="Text 21"/>
          <p:cNvSpPr/>
          <p:nvPr/>
        </p:nvSpPr>
        <p:spPr>
          <a:xfrm>
            <a:off x="7205472" y="932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932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256032" y="1618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56032" y="1618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27" name="Text 25"/>
          <p:cNvSpPr/>
          <p:nvPr/>
        </p:nvSpPr>
        <p:spPr>
          <a:xfrm>
            <a:off x="256032" y="1618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1618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1993392" y="1618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993392" y="1618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1993392" y="1618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523744" y="1618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3730752" y="1618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730752" y="1618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35" name="Text 33"/>
          <p:cNvSpPr/>
          <p:nvPr/>
        </p:nvSpPr>
        <p:spPr>
          <a:xfrm>
            <a:off x="3730752" y="1618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61104" y="1618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5468112" y="1618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468112" y="1618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39" name="Text 37"/>
          <p:cNvSpPr/>
          <p:nvPr/>
        </p:nvSpPr>
        <p:spPr>
          <a:xfrm>
            <a:off x="5468112" y="1618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998464" y="1618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7205472" y="1618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205472" y="1618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43" name="Text 41"/>
          <p:cNvSpPr/>
          <p:nvPr/>
        </p:nvSpPr>
        <p:spPr>
          <a:xfrm>
            <a:off x="7205472" y="1618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735824" y="1618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45" name="Shape 43"/>
          <p:cNvSpPr/>
          <p:nvPr/>
        </p:nvSpPr>
        <p:spPr>
          <a:xfrm>
            <a:off x="256032" y="2304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256032" y="2304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47" name="Text 45"/>
          <p:cNvSpPr/>
          <p:nvPr/>
        </p:nvSpPr>
        <p:spPr>
          <a:xfrm>
            <a:off x="256032" y="2304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Q11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86384" y="2304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49" name="Shape 47"/>
          <p:cNvSpPr/>
          <p:nvPr/>
        </p:nvSpPr>
        <p:spPr>
          <a:xfrm>
            <a:off x="1993392" y="2304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993392" y="2304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51" name="Text 49"/>
          <p:cNvSpPr/>
          <p:nvPr/>
        </p:nvSpPr>
        <p:spPr>
          <a:xfrm>
            <a:off x="1993392" y="2304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523744" y="2304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3730752" y="2304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730752" y="2304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55" name="Text 53"/>
          <p:cNvSpPr/>
          <p:nvPr/>
        </p:nvSpPr>
        <p:spPr>
          <a:xfrm>
            <a:off x="3730752" y="2304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Q13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261104" y="2304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57" name="Shape 55"/>
          <p:cNvSpPr/>
          <p:nvPr/>
        </p:nvSpPr>
        <p:spPr>
          <a:xfrm>
            <a:off x="5468112" y="2304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468112" y="2304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A5C3A"/>
          </a:solidFill>
          <a:ln/>
        </p:spPr>
      </p:sp>
      <p:sp>
        <p:nvSpPr>
          <p:cNvPr id="59" name="Text 57"/>
          <p:cNvSpPr/>
          <p:nvPr/>
        </p:nvSpPr>
        <p:spPr>
          <a:xfrm>
            <a:off x="5468112" y="2304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Q14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998464" y="2304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61" name="Shape 59"/>
          <p:cNvSpPr/>
          <p:nvPr/>
        </p:nvSpPr>
        <p:spPr>
          <a:xfrm>
            <a:off x="7205472" y="2304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205472" y="2304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63" name="Text 61"/>
          <p:cNvSpPr/>
          <p:nvPr/>
        </p:nvSpPr>
        <p:spPr>
          <a:xfrm>
            <a:off x="7205472" y="2304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Q15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735824" y="2304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65" name="Shape 63"/>
          <p:cNvSpPr/>
          <p:nvPr/>
        </p:nvSpPr>
        <p:spPr>
          <a:xfrm>
            <a:off x="256032" y="2990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256032" y="2990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67" name="Text 65"/>
          <p:cNvSpPr/>
          <p:nvPr/>
        </p:nvSpPr>
        <p:spPr>
          <a:xfrm>
            <a:off x="256032" y="2990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Q16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786384" y="2990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69" name="Shape 67"/>
          <p:cNvSpPr/>
          <p:nvPr/>
        </p:nvSpPr>
        <p:spPr>
          <a:xfrm>
            <a:off x="1993392" y="2990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1993392" y="2990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71" name="Text 69"/>
          <p:cNvSpPr/>
          <p:nvPr/>
        </p:nvSpPr>
        <p:spPr>
          <a:xfrm>
            <a:off x="1993392" y="2990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Q17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2523744" y="2990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73" name="Shape 71"/>
          <p:cNvSpPr/>
          <p:nvPr/>
        </p:nvSpPr>
        <p:spPr>
          <a:xfrm>
            <a:off x="3730752" y="2990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3730752" y="2990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75" name="Text 73"/>
          <p:cNvSpPr/>
          <p:nvPr/>
        </p:nvSpPr>
        <p:spPr>
          <a:xfrm>
            <a:off x="3730752" y="2990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Q18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4261104" y="2990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77" name="Shape 75"/>
          <p:cNvSpPr/>
          <p:nvPr/>
        </p:nvSpPr>
        <p:spPr>
          <a:xfrm>
            <a:off x="5468112" y="2990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468112" y="2990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79" name="Text 77"/>
          <p:cNvSpPr/>
          <p:nvPr/>
        </p:nvSpPr>
        <p:spPr>
          <a:xfrm>
            <a:off x="5468112" y="2990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Q19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5998464" y="2990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7205472" y="2990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7205472" y="2990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83" name="Text 81"/>
          <p:cNvSpPr/>
          <p:nvPr/>
        </p:nvSpPr>
        <p:spPr>
          <a:xfrm>
            <a:off x="7205472" y="2990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Q20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735824" y="2990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85" name="Shape 83"/>
          <p:cNvSpPr/>
          <p:nvPr/>
        </p:nvSpPr>
        <p:spPr>
          <a:xfrm>
            <a:off x="256032" y="3675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256032" y="3675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87" name="Text 85"/>
          <p:cNvSpPr/>
          <p:nvPr/>
        </p:nvSpPr>
        <p:spPr>
          <a:xfrm>
            <a:off x="256032" y="3675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Q21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786384" y="3675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89" name="Shape 87"/>
          <p:cNvSpPr/>
          <p:nvPr/>
        </p:nvSpPr>
        <p:spPr>
          <a:xfrm>
            <a:off x="1993392" y="3675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1993392" y="3675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91" name="Text 89"/>
          <p:cNvSpPr/>
          <p:nvPr/>
        </p:nvSpPr>
        <p:spPr>
          <a:xfrm>
            <a:off x="1993392" y="3675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Q22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2523744" y="3675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93" name="Shape 91"/>
          <p:cNvSpPr/>
          <p:nvPr/>
        </p:nvSpPr>
        <p:spPr>
          <a:xfrm>
            <a:off x="3730752" y="3675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3730752" y="3675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95" name="Text 93"/>
          <p:cNvSpPr/>
          <p:nvPr/>
        </p:nvSpPr>
        <p:spPr>
          <a:xfrm>
            <a:off x="3730752" y="3675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Q23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4261104" y="3675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97" name="Shape 95"/>
          <p:cNvSpPr/>
          <p:nvPr/>
        </p:nvSpPr>
        <p:spPr>
          <a:xfrm>
            <a:off x="5468112" y="3675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5468112" y="3675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99" name="Text 97"/>
          <p:cNvSpPr/>
          <p:nvPr/>
        </p:nvSpPr>
        <p:spPr>
          <a:xfrm>
            <a:off x="5468112" y="3675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Q24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5998464" y="3675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01" name="Shape 99"/>
          <p:cNvSpPr/>
          <p:nvPr/>
        </p:nvSpPr>
        <p:spPr>
          <a:xfrm>
            <a:off x="7205472" y="3675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205472" y="3675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03" name="Text 101"/>
          <p:cNvSpPr/>
          <p:nvPr/>
        </p:nvSpPr>
        <p:spPr>
          <a:xfrm>
            <a:off x="7205472" y="3675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Q25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7735824" y="3675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05" name="Shape 103"/>
          <p:cNvSpPr/>
          <p:nvPr/>
        </p:nvSpPr>
        <p:spPr>
          <a:xfrm>
            <a:off x="256032" y="4361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256032" y="4361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07" name="Text 105"/>
          <p:cNvSpPr/>
          <p:nvPr/>
        </p:nvSpPr>
        <p:spPr>
          <a:xfrm>
            <a:off x="256032" y="4361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Q26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86384" y="4361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09" name="Shape 107"/>
          <p:cNvSpPr/>
          <p:nvPr/>
        </p:nvSpPr>
        <p:spPr>
          <a:xfrm>
            <a:off x="1993392" y="4361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0" name="Shape 108"/>
          <p:cNvSpPr/>
          <p:nvPr/>
        </p:nvSpPr>
        <p:spPr>
          <a:xfrm>
            <a:off x="1993392" y="4361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11" name="Text 109"/>
          <p:cNvSpPr/>
          <p:nvPr/>
        </p:nvSpPr>
        <p:spPr>
          <a:xfrm>
            <a:off x="1993392" y="4361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Q27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2523744" y="4361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13" name="Shape 111"/>
          <p:cNvSpPr/>
          <p:nvPr/>
        </p:nvSpPr>
        <p:spPr>
          <a:xfrm>
            <a:off x="3730752" y="4361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4" name="Shape 112"/>
          <p:cNvSpPr/>
          <p:nvPr/>
        </p:nvSpPr>
        <p:spPr>
          <a:xfrm>
            <a:off x="3730752" y="4361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115" name="Text 113"/>
          <p:cNvSpPr/>
          <p:nvPr/>
        </p:nvSpPr>
        <p:spPr>
          <a:xfrm>
            <a:off x="3730752" y="4361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Q28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4261104" y="4361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17" name="Shape 115"/>
          <p:cNvSpPr/>
          <p:nvPr/>
        </p:nvSpPr>
        <p:spPr>
          <a:xfrm>
            <a:off x="5468112" y="4361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5468112" y="4361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68112" y="4361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Q29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5998464" y="4361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21" name="Shape 119"/>
          <p:cNvSpPr/>
          <p:nvPr/>
        </p:nvSpPr>
        <p:spPr>
          <a:xfrm>
            <a:off x="7205472" y="4361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22" name="Shape 120"/>
          <p:cNvSpPr/>
          <p:nvPr/>
        </p:nvSpPr>
        <p:spPr>
          <a:xfrm>
            <a:off x="7205472" y="4361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23" name="Text 121"/>
          <p:cNvSpPr/>
          <p:nvPr/>
        </p:nvSpPr>
        <p:spPr>
          <a:xfrm>
            <a:off x="7205472" y="4361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Q30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7735824" y="4361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25" name="Shape 123"/>
          <p:cNvSpPr/>
          <p:nvPr/>
        </p:nvSpPr>
        <p:spPr>
          <a:xfrm>
            <a:off x="256032" y="5047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26" name="Shape 124"/>
          <p:cNvSpPr/>
          <p:nvPr/>
        </p:nvSpPr>
        <p:spPr>
          <a:xfrm>
            <a:off x="256032" y="5047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127" name="Text 125"/>
          <p:cNvSpPr/>
          <p:nvPr/>
        </p:nvSpPr>
        <p:spPr>
          <a:xfrm>
            <a:off x="256032" y="5047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Q31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786384" y="5047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29" name="Shape 127"/>
          <p:cNvSpPr/>
          <p:nvPr/>
        </p:nvSpPr>
        <p:spPr>
          <a:xfrm>
            <a:off x="1993392" y="5047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0" name="Shape 128"/>
          <p:cNvSpPr/>
          <p:nvPr/>
        </p:nvSpPr>
        <p:spPr>
          <a:xfrm>
            <a:off x="1993392" y="5047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31" name="Text 129"/>
          <p:cNvSpPr/>
          <p:nvPr/>
        </p:nvSpPr>
        <p:spPr>
          <a:xfrm>
            <a:off x="1993392" y="5047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Q32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2523744" y="5047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33" name="Shape 131"/>
          <p:cNvSpPr/>
          <p:nvPr/>
        </p:nvSpPr>
        <p:spPr>
          <a:xfrm>
            <a:off x="3730752" y="5047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4" name="Shape 132"/>
          <p:cNvSpPr/>
          <p:nvPr/>
        </p:nvSpPr>
        <p:spPr>
          <a:xfrm>
            <a:off x="3730752" y="5047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135" name="Text 133"/>
          <p:cNvSpPr/>
          <p:nvPr/>
        </p:nvSpPr>
        <p:spPr>
          <a:xfrm>
            <a:off x="3730752" y="5047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Q33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4261104" y="5047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37" name="Shape 135"/>
          <p:cNvSpPr/>
          <p:nvPr/>
        </p:nvSpPr>
        <p:spPr>
          <a:xfrm>
            <a:off x="5468112" y="5047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38" name="Shape 136"/>
          <p:cNvSpPr/>
          <p:nvPr/>
        </p:nvSpPr>
        <p:spPr>
          <a:xfrm>
            <a:off x="5468112" y="5047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39" name="Text 137"/>
          <p:cNvSpPr/>
          <p:nvPr/>
        </p:nvSpPr>
        <p:spPr>
          <a:xfrm>
            <a:off x="5468112" y="5047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Q34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5998464" y="5047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41" name="Shape 139"/>
          <p:cNvSpPr/>
          <p:nvPr/>
        </p:nvSpPr>
        <p:spPr>
          <a:xfrm>
            <a:off x="7205472" y="50474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42" name="Shape 140"/>
          <p:cNvSpPr/>
          <p:nvPr/>
        </p:nvSpPr>
        <p:spPr>
          <a:xfrm>
            <a:off x="7205472" y="50474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43" name="Text 141"/>
          <p:cNvSpPr/>
          <p:nvPr/>
        </p:nvSpPr>
        <p:spPr>
          <a:xfrm>
            <a:off x="7205472" y="50474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Q35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7735824" y="50474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45" name="Shape 143"/>
          <p:cNvSpPr/>
          <p:nvPr/>
        </p:nvSpPr>
        <p:spPr>
          <a:xfrm>
            <a:off x="256032" y="5733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256032" y="5733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47" name="Text 145"/>
          <p:cNvSpPr/>
          <p:nvPr/>
        </p:nvSpPr>
        <p:spPr>
          <a:xfrm>
            <a:off x="256032" y="5733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786384" y="5733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49" name="Shape 147"/>
          <p:cNvSpPr/>
          <p:nvPr/>
        </p:nvSpPr>
        <p:spPr>
          <a:xfrm>
            <a:off x="1993392" y="5733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50" name="Shape 148"/>
          <p:cNvSpPr/>
          <p:nvPr/>
        </p:nvSpPr>
        <p:spPr>
          <a:xfrm>
            <a:off x="1993392" y="5733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51" name="Text 149"/>
          <p:cNvSpPr/>
          <p:nvPr/>
        </p:nvSpPr>
        <p:spPr>
          <a:xfrm>
            <a:off x="1993392" y="5733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Q37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2523744" y="5733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53" name="Shape 151"/>
          <p:cNvSpPr/>
          <p:nvPr/>
        </p:nvSpPr>
        <p:spPr>
          <a:xfrm>
            <a:off x="3730752" y="5733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54" name="Shape 152"/>
          <p:cNvSpPr/>
          <p:nvPr/>
        </p:nvSpPr>
        <p:spPr>
          <a:xfrm>
            <a:off x="3730752" y="5733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55" name="Text 153"/>
          <p:cNvSpPr/>
          <p:nvPr/>
        </p:nvSpPr>
        <p:spPr>
          <a:xfrm>
            <a:off x="3730752" y="5733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Q38</a:t>
            </a:r>
            <a:endParaRPr lang="en-US" sz="950" dirty="0"/>
          </a:p>
        </p:txBody>
      </p:sp>
      <p:sp>
        <p:nvSpPr>
          <p:cNvPr id="156" name="Text 154"/>
          <p:cNvSpPr/>
          <p:nvPr/>
        </p:nvSpPr>
        <p:spPr>
          <a:xfrm>
            <a:off x="4261104" y="5733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57" name="Shape 155"/>
          <p:cNvSpPr/>
          <p:nvPr/>
        </p:nvSpPr>
        <p:spPr>
          <a:xfrm>
            <a:off x="5468112" y="5733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58" name="Shape 156"/>
          <p:cNvSpPr/>
          <p:nvPr/>
        </p:nvSpPr>
        <p:spPr>
          <a:xfrm>
            <a:off x="5468112" y="5733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59" name="Text 157"/>
          <p:cNvSpPr/>
          <p:nvPr/>
        </p:nvSpPr>
        <p:spPr>
          <a:xfrm>
            <a:off x="5468112" y="5733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Q39</a:t>
            </a:r>
            <a:endParaRPr lang="en-US" sz="950" dirty="0"/>
          </a:p>
        </p:txBody>
      </p:sp>
      <p:sp>
        <p:nvSpPr>
          <p:cNvPr id="160" name="Text 158"/>
          <p:cNvSpPr/>
          <p:nvPr/>
        </p:nvSpPr>
        <p:spPr>
          <a:xfrm>
            <a:off x="5998464" y="5733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61" name="Shape 159"/>
          <p:cNvSpPr/>
          <p:nvPr/>
        </p:nvSpPr>
        <p:spPr>
          <a:xfrm>
            <a:off x="7205472" y="57332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62" name="Shape 160"/>
          <p:cNvSpPr/>
          <p:nvPr/>
        </p:nvSpPr>
        <p:spPr>
          <a:xfrm>
            <a:off x="7205472" y="57332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63" name="Text 161"/>
          <p:cNvSpPr/>
          <p:nvPr/>
        </p:nvSpPr>
        <p:spPr>
          <a:xfrm>
            <a:off x="7205472" y="57332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Q40</a:t>
            </a:r>
            <a:endParaRPr lang="en-US" sz="950" dirty="0"/>
          </a:p>
        </p:txBody>
      </p:sp>
      <p:sp>
        <p:nvSpPr>
          <p:cNvPr id="164" name="Text 162"/>
          <p:cNvSpPr/>
          <p:nvPr/>
        </p:nvSpPr>
        <p:spPr>
          <a:xfrm>
            <a:off x="7735824" y="57332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65" name="Shape 163"/>
          <p:cNvSpPr/>
          <p:nvPr/>
        </p:nvSpPr>
        <p:spPr>
          <a:xfrm>
            <a:off x="256032" y="6419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66" name="Shape 164"/>
          <p:cNvSpPr/>
          <p:nvPr/>
        </p:nvSpPr>
        <p:spPr>
          <a:xfrm>
            <a:off x="256032" y="6419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67" name="Text 165"/>
          <p:cNvSpPr/>
          <p:nvPr/>
        </p:nvSpPr>
        <p:spPr>
          <a:xfrm>
            <a:off x="256032" y="6419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Q41</a:t>
            </a:r>
            <a:endParaRPr lang="en-US" sz="950" dirty="0"/>
          </a:p>
        </p:txBody>
      </p:sp>
      <p:sp>
        <p:nvSpPr>
          <p:cNvPr id="168" name="Text 166"/>
          <p:cNvSpPr/>
          <p:nvPr/>
        </p:nvSpPr>
        <p:spPr>
          <a:xfrm>
            <a:off x="786384" y="6419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69" name="Shape 167"/>
          <p:cNvSpPr/>
          <p:nvPr/>
        </p:nvSpPr>
        <p:spPr>
          <a:xfrm>
            <a:off x="1993392" y="6419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0" name="Shape 168"/>
          <p:cNvSpPr/>
          <p:nvPr/>
        </p:nvSpPr>
        <p:spPr>
          <a:xfrm>
            <a:off x="1993392" y="6419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71" name="Text 169"/>
          <p:cNvSpPr/>
          <p:nvPr/>
        </p:nvSpPr>
        <p:spPr>
          <a:xfrm>
            <a:off x="1993392" y="6419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Q42</a:t>
            </a:r>
            <a:endParaRPr lang="en-US" sz="950" dirty="0"/>
          </a:p>
        </p:txBody>
      </p:sp>
      <p:sp>
        <p:nvSpPr>
          <p:cNvPr id="172" name="Text 170"/>
          <p:cNvSpPr/>
          <p:nvPr/>
        </p:nvSpPr>
        <p:spPr>
          <a:xfrm>
            <a:off x="2523744" y="6419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3" name="Shape 171"/>
          <p:cNvSpPr/>
          <p:nvPr/>
        </p:nvSpPr>
        <p:spPr>
          <a:xfrm>
            <a:off x="3730752" y="6419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4" name="Shape 172"/>
          <p:cNvSpPr/>
          <p:nvPr/>
        </p:nvSpPr>
        <p:spPr>
          <a:xfrm>
            <a:off x="3730752" y="6419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75" name="Text 173"/>
          <p:cNvSpPr/>
          <p:nvPr/>
        </p:nvSpPr>
        <p:spPr>
          <a:xfrm>
            <a:off x="3730752" y="6419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Q43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4261104" y="6419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77" name="Shape 175"/>
          <p:cNvSpPr/>
          <p:nvPr/>
        </p:nvSpPr>
        <p:spPr>
          <a:xfrm>
            <a:off x="5468112" y="6419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8" name="Shape 176"/>
          <p:cNvSpPr/>
          <p:nvPr/>
        </p:nvSpPr>
        <p:spPr>
          <a:xfrm>
            <a:off x="5468112" y="6419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79" name="Text 177"/>
          <p:cNvSpPr/>
          <p:nvPr/>
        </p:nvSpPr>
        <p:spPr>
          <a:xfrm>
            <a:off x="5468112" y="6419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Q44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5998464" y="6419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81" name="Shape 179"/>
          <p:cNvSpPr/>
          <p:nvPr/>
        </p:nvSpPr>
        <p:spPr>
          <a:xfrm>
            <a:off x="7205472" y="64190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2" name="Shape 180"/>
          <p:cNvSpPr/>
          <p:nvPr/>
        </p:nvSpPr>
        <p:spPr>
          <a:xfrm>
            <a:off x="7205472" y="64190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83" name="Text 181"/>
          <p:cNvSpPr/>
          <p:nvPr/>
        </p:nvSpPr>
        <p:spPr>
          <a:xfrm>
            <a:off x="7205472" y="64190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Q45</a:t>
            </a:r>
            <a:endParaRPr lang="en-US" sz="950" dirty="0"/>
          </a:p>
        </p:txBody>
      </p:sp>
      <p:sp>
        <p:nvSpPr>
          <p:cNvPr id="184" name="Text 182"/>
          <p:cNvSpPr/>
          <p:nvPr/>
        </p:nvSpPr>
        <p:spPr>
          <a:xfrm>
            <a:off x="7735824" y="64190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85" name="Shape 183"/>
          <p:cNvSpPr/>
          <p:nvPr/>
        </p:nvSpPr>
        <p:spPr>
          <a:xfrm>
            <a:off x="256032" y="7104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6" name="Shape 184"/>
          <p:cNvSpPr/>
          <p:nvPr/>
        </p:nvSpPr>
        <p:spPr>
          <a:xfrm>
            <a:off x="256032" y="7104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87" name="Text 185"/>
          <p:cNvSpPr/>
          <p:nvPr/>
        </p:nvSpPr>
        <p:spPr>
          <a:xfrm>
            <a:off x="256032" y="7104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Q46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786384" y="7104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89" name="Shape 187"/>
          <p:cNvSpPr/>
          <p:nvPr/>
        </p:nvSpPr>
        <p:spPr>
          <a:xfrm>
            <a:off x="1993392" y="7104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90" name="Shape 188"/>
          <p:cNvSpPr/>
          <p:nvPr/>
        </p:nvSpPr>
        <p:spPr>
          <a:xfrm>
            <a:off x="1993392" y="7104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191" name="Text 189"/>
          <p:cNvSpPr/>
          <p:nvPr/>
        </p:nvSpPr>
        <p:spPr>
          <a:xfrm>
            <a:off x="1993392" y="7104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Q47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2523744" y="7104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93" name="Shape 191"/>
          <p:cNvSpPr/>
          <p:nvPr/>
        </p:nvSpPr>
        <p:spPr>
          <a:xfrm>
            <a:off x="3730752" y="7104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94" name="Shape 192"/>
          <p:cNvSpPr/>
          <p:nvPr/>
        </p:nvSpPr>
        <p:spPr>
          <a:xfrm>
            <a:off x="3730752" y="7104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195" name="Text 193"/>
          <p:cNvSpPr/>
          <p:nvPr/>
        </p:nvSpPr>
        <p:spPr>
          <a:xfrm>
            <a:off x="3730752" y="7104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Q48</a:t>
            </a:r>
            <a:endParaRPr lang="en-US" sz="950" dirty="0"/>
          </a:p>
        </p:txBody>
      </p:sp>
      <p:sp>
        <p:nvSpPr>
          <p:cNvPr id="196" name="Text 194"/>
          <p:cNvSpPr/>
          <p:nvPr/>
        </p:nvSpPr>
        <p:spPr>
          <a:xfrm>
            <a:off x="4261104" y="7104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97" name="Shape 195"/>
          <p:cNvSpPr/>
          <p:nvPr/>
        </p:nvSpPr>
        <p:spPr>
          <a:xfrm>
            <a:off x="5468112" y="7104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98" name="Shape 196"/>
          <p:cNvSpPr/>
          <p:nvPr/>
        </p:nvSpPr>
        <p:spPr>
          <a:xfrm>
            <a:off x="5468112" y="7104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199" name="Text 197"/>
          <p:cNvSpPr/>
          <p:nvPr/>
        </p:nvSpPr>
        <p:spPr>
          <a:xfrm>
            <a:off x="5468112" y="7104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Q49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5998464" y="7104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01" name="Shape 199"/>
          <p:cNvSpPr/>
          <p:nvPr/>
        </p:nvSpPr>
        <p:spPr>
          <a:xfrm>
            <a:off x="7205472" y="71048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02" name="Shape 200"/>
          <p:cNvSpPr/>
          <p:nvPr/>
        </p:nvSpPr>
        <p:spPr>
          <a:xfrm>
            <a:off x="7205472" y="71048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203" name="Text 201"/>
          <p:cNvSpPr/>
          <p:nvPr/>
        </p:nvSpPr>
        <p:spPr>
          <a:xfrm>
            <a:off x="7205472" y="71048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Q50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7735824" y="71048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05" name="Shape 203"/>
          <p:cNvSpPr/>
          <p:nvPr/>
        </p:nvSpPr>
        <p:spPr>
          <a:xfrm>
            <a:off x="256032" y="7790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06" name="Shape 204"/>
          <p:cNvSpPr/>
          <p:nvPr/>
        </p:nvSpPr>
        <p:spPr>
          <a:xfrm>
            <a:off x="256032" y="7790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207" name="Text 205"/>
          <p:cNvSpPr/>
          <p:nvPr/>
        </p:nvSpPr>
        <p:spPr>
          <a:xfrm>
            <a:off x="256032" y="7790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Q51</a:t>
            </a:r>
            <a:endParaRPr lang="en-US" sz="950" dirty="0"/>
          </a:p>
        </p:txBody>
      </p:sp>
      <p:sp>
        <p:nvSpPr>
          <p:cNvPr id="208" name="Text 206"/>
          <p:cNvSpPr/>
          <p:nvPr/>
        </p:nvSpPr>
        <p:spPr>
          <a:xfrm>
            <a:off x="786384" y="7790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09" name="Shape 207"/>
          <p:cNvSpPr/>
          <p:nvPr/>
        </p:nvSpPr>
        <p:spPr>
          <a:xfrm>
            <a:off x="1993392" y="7790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10" name="Shape 208"/>
          <p:cNvSpPr/>
          <p:nvPr/>
        </p:nvSpPr>
        <p:spPr>
          <a:xfrm>
            <a:off x="1993392" y="7790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211" name="Text 209"/>
          <p:cNvSpPr/>
          <p:nvPr/>
        </p:nvSpPr>
        <p:spPr>
          <a:xfrm>
            <a:off x="1993392" y="7790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Q52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2523744" y="7790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13" name="Shape 211"/>
          <p:cNvSpPr/>
          <p:nvPr/>
        </p:nvSpPr>
        <p:spPr>
          <a:xfrm>
            <a:off x="3730752" y="7790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14" name="Shape 212"/>
          <p:cNvSpPr/>
          <p:nvPr/>
        </p:nvSpPr>
        <p:spPr>
          <a:xfrm>
            <a:off x="3730752" y="7790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7B3F00"/>
          </a:solidFill>
          <a:ln/>
        </p:spPr>
      </p:sp>
      <p:sp>
        <p:nvSpPr>
          <p:cNvPr id="215" name="Text 213"/>
          <p:cNvSpPr/>
          <p:nvPr/>
        </p:nvSpPr>
        <p:spPr>
          <a:xfrm>
            <a:off x="3730752" y="7790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Q53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4261104" y="7790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17" name="Shape 215"/>
          <p:cNvSpPr/>
          <p:nvPr/>
        </p:nvSpPr>
        <p:spPr>
          <a:xfrm>
            <a:off x="5468112" y="7790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18" name="Shape 216"/>
          <p:cNvSpPr/>
          <p:nvPr/>
        </p:nvSpPr>
        <p:spPr>
          <a:xfrm>
            <a:off x="5468112" y="7790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4A1A8A"/>
          </a:solidFill>
          <a:ln/>
        </p:spPr>
      </p:sp>
      <p:sp>
        <p:nvSpPr>
          <p:cNvPr id="219" name="Text 217"/>
          <p:cNvSpPr/>
          <p:nvPr/>
        </p:nvSpPr>
        <p:spPr>
          <a:xfrm>
            <a:off x="5468112" y="7790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Q54</a:t>
            </a:r>
            <a:endParaRPr lang="en-US" sz="950" dirty="0"/>
          </a:p>
        </p:txBody>
      </p:sp>
      <p:sp>
        <p:nvSpPr>
          <p:cNvPr id="220" name="Text 218"/>
          <p:cNvSpPr/>
          <p:nvPr/>
        </p:nvSpPr>
        <p:spPr>
          <a:xfrm>
            <a:off x="5998464" y="7790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1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21" name="Shape 219"/>
          <p:cNvSpPr/>
          <p:nvPr/>
        </p:nvSpPr>
        <p:spPr>
          <a:xfrm>
            <a:off x="7205472" y="7790688"/>
            <a:ext cx="16276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22" name="Shape 220"/>
          <p:cNvSpPr/>
          <p:nvPr/>
        </p:nvSpPr>
        <p:spPr>
          <a:xfrm>
            <a:off x="7205472" y="7790688"/>
            <a:ext cx="530352" cy="594360"/>
          </a:xfrm>
          <a:prstGeom prst="roundRect">
            <a:avLst>
              <a:gd name="adj" fmla="val 12069"/>
            </a:avLst>
          </a:prstGeom>
          <a:solidFill>
            <a:srgbClr val="1B2B5E"/>
          </a:solidFill>
          <a:ln/>
        </p:spPr>
      </p:sp>
      <p:sp>
        <p:nvSpPr>
          <p:cNvPr id="223" name="Text 221"/>
          <p:cNvSpPr/>
          <p:nvPr/>
        </p:nvSpPr>
        <p:spPr>
          <a:xfrm>
            <a:off x="7205472" y="7790688"/>
            <a:ext cx="530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Q55</a:t>
            </a:r>
            <a:endParaRPr lang="en-US" sz="950" dirty="0"/>
          </a:p>
        </p:txBody>
      </p:sp>
      <p:sp>
        <p:nvSpPr>
          <p:cNvPr id="224" name="Text 222"/>
          <p:cNvSpPr/>
          <p:nvPr/>
        </p:nvSpPr>
        <p:spPr>
          <a:xfrm>
            <a:off x="7735824" y="779068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25" name="Text 223"/>
          <p:cNvSpPr/>
          <p:nvPr/>
        </p:nvSpPr>
        <p:spPr>
          <a:xfrm>
            <a:off x="0" y="4846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MACCESS INC.  |  PPO #122729  |  INSTRUCTOR COPY — DO NOT DISTRIBUTE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Legal Framework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§7583.7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California law requires security guards to complete Power to Arrest training before receiving a guard card?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California Penal Code §837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Business and Professions Code §7583.7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Title 16 California Code of Regulations §643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California Penal Code §847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Legal Framework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§7583.7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score must a student achieve on the BSIS Power to Arrest exam to receive a Certificate of Completion?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70%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80%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90%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100%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Legal Framework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 PTA Manual July 2023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manual is required for Power to Arrest and Appropriate Use of Force training?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California Security Officer Handbook 2022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DCA Power to Arrest and Appropriate Use of Force Training Manual, July 2023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BSIS Regulatory Guide Title 16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California Penal Code Annotated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Legal Framework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§7583.7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security guard in California, your arrest authority comes from the same law that applies to: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 sworn police officer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A licensed investigator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A private citizen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 government contractor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Legal Framework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 652 (Jan 1 2026)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SB 652 effective January 1, 2026, the full 8-hour PTA + AUF training must be delivered by: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Any two BSIS-approved providers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The applicant's employer only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A single BSIS-approved course provider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An online provider plus a separate in-person facility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Legal Framework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 652 | BPC §7583.6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before a guard card application must the 8-hour PTA/AUF training be completed?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30 days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3 months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6 months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1 year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Legal Framework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§7583.7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MACCESS INC. is authorized to deliver this certification as a licensed: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Peace officer agency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Private Patrol Operator — PPO #122729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Federal security contractor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BSIS examination center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Penal Code §837 lists how many conditions under which a private person may make a citizen's arrest?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Two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Three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Four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Five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§837(1)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PC §837(1), a security guard may make a citizen's arrest when a public offense is: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Reported by a witness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Suspected based on prior criminal history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Captured on CCTV footage only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Committed or attempted in the guard's direct presence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§837(2)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PC §837(2), a guard may arrest someone for a felony not committed in their presence if: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 supervisor authorizes the arrest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The guard has a hunch the person is guilty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The guard knows the person committed the felony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The property owner requests the arrest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§837(3)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§837(3) requires that for a reasonable-cause felony arrest, a felony must: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Be suspected but not confirmed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Have actually been committed in fact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Have been reported to police first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Involve violence or weapons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receives a report that someone stole from the store yesterday but did not witness it. Can they make a citizen's arrest for this misdemeanor?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Yes — any theft justifies arrest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Yes — with supervisor approval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No — misdemeanor arrest requires personal observation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No — only police can arrest for theft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§837(3)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PC §837 arrest condition carries the greatest liability risk if used incorrectly?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§837(1) — offense in presence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§837(2) — felony by that person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§837(3) — reasonable cause for felony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All conditions carry equal risk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witnesses a person vandalizing a car. Which PC §837 condition applies?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A. §837(1) — public offense in presence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§837(2) — felony by the person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§837(3) — reasonable cause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None — vandalism cannot justify arrest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'Reasonable cause' under PC §837 means: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 gut feeling the person looks suspicious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Objective facts supporting a belief the person committed a felony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A witness statement alone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Prior criminal history of the person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Citizen Arrest Authority (PC §837)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§490.5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Shopkeeper's Privilege under PC §490.5 allows detention for shoplifting when there is: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Suspicion based on appearance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Probable cause based on direct observation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A manager's verbal authorization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 description matching prior reports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Limitations &amp; Prohibited Actions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§538d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guard who represents themselves as a police officer may face criminal charges under: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PC §602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BPC §480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PC §538d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PC §836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Limitations &amp; Prohibited Actions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 | 4th Amendment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guard's search authority during a lawful detention is limited to: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 full search of the person's clothing and bags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An unlimited search on private property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A safety pat-down for weapons only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Any search authorized by the property owner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Limitations &amp; Prohibited Actions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§236 | PC §847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Courts generally view a detention lasting more than ___ minutes without police notification as potentially false imprisonment.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5–10 minutes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20–30 minutes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45–60 minutes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2 hours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Limitations &amp; Prohibited Actions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guard's arrest authority extends only to: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Anywhere in the city they are assigned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The entire county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Statewide under their BSIS license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The property they are hired to protect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Limitations &amp; Prohibited Actions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§236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Detaining someone without a lawful basis under PC §837 constitutes: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Lawful preventive detention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False imprisonment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Authorized security action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Investigative detention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Limitations &amp; Prohibited Actions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§242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guard handcuffs someone without a lawful basis for arrest. This could constitute: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Lawful restraint under BPC §7583.7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False imprisonment and assault under California law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Authorized preventive security action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 civil matter only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Limitations &amp; Prohibited Actions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detains a person based solely on race and a vague manager concern. This detention is: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Lawful under employer authority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Lawful with signed manager form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Unlawful — race alone is never reasonable suspicion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Lawful for 30 minutes pending investigation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Security vs. Law Enforcement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§830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peace officer authority is derived from: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Penal Code §837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Business and Professions Code §7583.7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Penal Code §830 et seq.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Title 16 CCR §643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Security vs. Law Enforcement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 | PC §830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power does a peace officer have that a security guard does NOT?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The power to observe and report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The power to make a citizen's arrest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The power to conduct lawful searches based on probable cause through investigation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The power to ask a person their name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Security vs. Law Enforcement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§847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making a citizen's arrest, a security guard must deliver the person to a peace officer: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Within 24 hours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At the end of the guard's shift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After completing an incident report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Without unnecessary delay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Security vs. Law Enforcement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§847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police officer accepts custody from a guard who made a citizen's arrest, who is legally the arresting party?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The police officer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Both equally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The property owner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The security guard — the private person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Security vs. Law Enforcement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§7582.1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security guards are classified under the law as: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Peace officers with limited jurisdiction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Private persons — no additional authority from their badge or license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Federal contractors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Agents of the property owner with police powers on private property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Liability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§236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imprisonment under California Penal Code §236 is defined as: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Arresting someone for a misdemeanor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Detaining someone for more than one hour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The unlawful violation of the personal liberty of another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Any physical contact with a detained person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Liability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§207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security guard unlawfully detains someone AND moves them to another location, the charge could escalate to: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Disorderly conduct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Assault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Kidnapping under PC §207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Trespassing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Liability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§480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who makes an unlawful arrest could face BSIS consequences including: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 written warning only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Guard card suspension or revocation under BPC §480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Mandatory additional training only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No regulatory consequences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Liability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Vicarious Liability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MACCESS INC. as the PPO may be held liable for a guard's wrongful arrest under the doctrine of: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Strict product liability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Qualified immunity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Vicarious liability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Contributory negligence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Liability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§242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uses excessive force during a detention. Which charge most directly applies?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Trespassing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Battery under PC §242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Vandalism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Disturbing the peace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Liability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§7583.2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must be notified when a guard is involved in use-of-force incidents per: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PC §837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Title 16 CCR §600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BPC §7583.2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PC §242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Trespass &amp; Property Law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§602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California Penal Code §602, trespass is generally classified as a: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Felony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Infraction only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Civil violation only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Misdemeanor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Trespass &amp; Property Law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§602 | PC §837(1)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refuses to leave private property after a lawful order. An arrest may be lawful because: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The property owner requested it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Guards always have authority to arrest trespassers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The refusal constitutes a public offense in the guard's presence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BSIS license authorizes this action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Trespass &amp; Property Law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Rights Law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removing someone from a public accommodation, a guard must have a reason that is: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The same as on private property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Written and signed by management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Specific and legitimate — unrelated to any protected characteristic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Approved by law enforcement in advance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Trespass &amp; Property Law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§602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trespass on open land, what is generally required before detaining someone?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 written judge's order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A prior BSIS incident report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Police authorization in writing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Clear posting or fencing and a verbal warning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Ethics, Communication &amp; Documentation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16 CCR §643(b)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Title 16 CCR §643(b), a Certificate of Completion must be issued by: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BSIS directly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The applicant's attorney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The property owner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The training entity or company providing the training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Ethics, Communication &amp; Documentation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PTA Manual §8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incident report should be completed: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At the end of the guard's shift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The following business day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Only when requested by a supervisor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Within 1 hour of the incident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Ethics, Communication &amp; Documentation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Ethics Standards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who falsifies an incident report may face: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A verbal warning only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A civil fine only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No consequences if the incident was minor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Termination and BSIS license revocation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Ethics, Communication &amp; Documentation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Ethics Standards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guard's enforcement decisions must be free from bias based on: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The guard's professional intuition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Employer policies regardless of law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Race, gender, appearance, or other protected characteristics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The property owner's personal preferences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Ethics, Communication &amp; Documentation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PTA Manual §8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announcing a citizen's arrest, a guard should: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Remain silent to avoid legal exposure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Wait for police to speak first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Only announce after police arrive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Clearly state the basis for the arrest in plain language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Ethics, Communication &amp; Documentation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16 CCR §643(b)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records must be maintained by the PPO and made available to BSIS: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For 6 months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For 1 year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Upon request for the duration of employment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For 5 years after termination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Emergency Response &amp; Officer Safety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PTA Manual §9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discovering a medical emergency, a guard's FIRST action should be: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Notify their supervisor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Begin medical treatment immediately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Assess the scene for personal safety, then call 911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Secure the area and wait for police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Emergency Response &amp; Officer Safety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DHS Run-Hide-Fight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active shooter situation, the recommended priority order is: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Hide, Fight, Run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Fight, Hide, Run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Call 911, Hide, Fight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Run, Hide, Fight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Emergency Response &amp; Officer Safety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PTA Manual §10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Blood-borne pathogen precautions require a guard to: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Refuse all physical contact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Request a hazmat team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Document exposure only after the fact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Wear gloves before any contact that may involve blood or bodily fluids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Emergency Response &amp; Officer Safety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PTA Manual §10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law enforcement arrives at a scene where a guard made a citizen's arrest, the guard should: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Continue managing the situation until formally relieved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Announce their BSIS authority first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Keep hands visible and follow all officer commands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Present their guard card first and speak first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Emergency Response &amp; Officer Safety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BSIS PTA Manual §10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Situational awareness means: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Watching only the primary entry point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Knowing your exits and continuously monitoring the environment for threats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Focusing on the most suspicious-looking individual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Staying stationary to observe from one position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Knowledge Check &amp; Exam Prep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§847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lawful citizen's arrest, how long may a guard hold the person before law enforcement must be contacted?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Up to 4 hours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Until the end of the shift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Up to 24 hours if police are unavailable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Without unnecessary delay — no extended holding permitted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Knowledge Check &amp; Exam Prep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 | PC §836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BEST distinguishes a guard's arrest authority from a police officer's?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Guards can only arrest on weekdays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Guards cannot use handcuffs under any circumstances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Guards must have a supervisor present for all arrests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Guards cannot arrest based on probable cause developed through their own investigation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Knowledge Check &amp; Exam Prep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§837(1) | PC §602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observes shoplifting in real time. The person drops the item and tries to leave. Best action?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Physically tackle the person to prevent escape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Follow into the parking lot and arrest there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Take no action — only managers can stop shoplifters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Detain on property with reasonable force and immediately call police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56032" y="205740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" y="218541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185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Knowledge Check &amp; Exam Prep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35040" y="2148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§837 | BPC §7583.7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32688" y="2404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guard may NEVER make a citizen's arrest for a misdemeanor if: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The offense occurred on private property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64608" y="2916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The person is not a repeat offender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3268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C. The guard did not personally witness the offense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64608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The offense occurred after business hours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19872" y="286207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28" name="Text 26"/>
          <p:cNvSpPr/>
          <p:nvPr/>
        </p:nvSpPr>
        <p:spPr>
          <a:xfrm>
            <a:off x="8119872" y="286207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56032" y="356616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" y="369417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31" name="Text 29"/>
          <p:cNvSpPr/>
          <p:nvPr/>
        </p:nvSpPr>
        <p:spPr>
          <a:xfrm>
            <a:off x="329184" y="3694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32688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Knowledge Check &amp; Exam Prep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 §7583.7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32688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MACCESS INC.'s California Private Patrol Operator license number is: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#112233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64608" y="44256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B. #100001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3268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#133445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64608" y="46725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D. #122729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19872" y="437083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8119872" y="437083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ANSWER KEY — CONFIDENTIAL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309360" y="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to Arrest — BSIS Certification Course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56032" y="548640"/>
            <a:ext cx="8631936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9184" y="676656"/>
            <a:ext cx="502920" cy="502920"/>
          </a:xfrm>
          <a:prstGeom prst="ellipse">
            <a:avLst/>
          </a:prstGeom>
          <a:solidFill>
            <a:srgbClr val="1B2B5E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" y="676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640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Knowledge Check &amp; Exam Prep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§847 | BSIS Training Standards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32688" y="89611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holds a subject for 2 hours without calling police after a citizen's arrest. They may face: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3268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A. No consequences if the arrest was lawful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64608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B. False imprisonment charges and BSIS disciplinary action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3268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C. A supervisor review only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64608" y="1655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D. Praise for thorough documentation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19872" y="1353312"/>
            <a:ext cx="658368" cy="502920"/>
          </a:xfrm>
          <a:prstGeom prst="roundRect">
            <a:avLst>
              <a:gd name="adj" fmla="val 10909"/>
            </a:avLst>
          </a:prstGeom>
          <a:solidFill>
            <a:srgbClr val="1A5C3A"/>
          </a:solidFill>
          <a:ln/>
        </p:spPr>
      </p:sp>
      <p:sp>
        <p:nvSpPr>
          <p:cNvPr id="16" name="Text 14"/>
          <p:cNvSpPr/>
          <p:nvPr/>
        </p:nvSpPr>
        <p:spPr>
          <a:xfrm>
            <a:off x="8119872" y="1353312"/>
            <a:ext cx="658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B2B5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GUIDE &amp; LIVE SCAN READINESS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32688"/>
            <a:ext cx="8503920" cy="521208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932688"/>
            <a:ext cx="173736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Score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40280" y="932688"/>
            <a:ext cx="649224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— all 55 questions correct required per BPC §7583.7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508760"/>
            <a:ext cx="8503920" cy="521208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508760"/>
            <a:ext cx="173736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Method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40280" y="1508760"/>
            <a:ext cx="649224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per correct answer. No partial credit. Full retake required if below passing score.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2084832"/>
            <a:ext cx="8503920" cy="521208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2084832"/>
            <a:ext cx="173736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40280" y="2084832"/>
            <a:ext cx="649224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MACCESS INC. Certificate of Completion only to students achieving 100%. Sign and date each certificate.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2660904"/>
            <a:ext cx="8503920" cy="521208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660904"/>
            <a:ext cx="173736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Keeping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2660904"/>
            <a:ext cx="649224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each student's assessment record per Title 16 CCR §643(b). Records subject to BSIS audit at any time.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36976"/>
            <a:ext cx="8503920" cy="521208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" y="3236976"/>
            <a:ext cx="173736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 Security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40280" y="3236976"/>
            <a:ext cx="649224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is for MACCESS INC. internal use only. Do not share with students before, during, or after the assessment.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3813048"/>
            <a:ext cx="8503920" cy="521208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3813048"/>
            <a:ext cx="173736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Scan — Status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40280" y="3813048"/>
            <a:ext cx="649224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— When BSIS Live Scan equipment is acquired, update LIVE_SCAN_CONFIG in the test script: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 enabled: true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 bsisORI: [your DOJ-assigned ORI]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 atiPrefix: [your ATI prefix]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Drop BSIS certificate template into PSLAW-Courses/live-scan/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 showUploadSlot: true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4389120"/>
            <a:ext cx="8503920" cy="521208"/>
          </a:xfrm>
          <a:prstGeom prst="roundRect">
            <a:avLst>
              <a:gd name="adj" fmla="val 122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1480" y="4389120"/>
            <a:ext cx="173736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Scan — Records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40280" y="4389120"/>
            <a:ext cx="6492240" cy="5212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active: each student's Live Scan receipt will be captured in the test module and submitted to the notificationEmail. Maintain all Live Scan ATI numbers alongside training records.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Powers to Arrest — BSIS Certification Course — Answer Key (Instructor Copy)</dc:title>
  <dc:subject>PptxGenJS Presentation</dc:subject>
  <dc:creator>MACCESS INC. — INTERNAL</dc:creator>
  <cp:lastModifiedBy>MACCESS INC. — INTERNAL</cp:lastModifiedBy>
  <cp:revision>1</cp:revision>
  <dcterms:created xsi:type="dcterms:W3CDTF">2026-06-27T19:52:35Z</dcterms:created>
  <dcterms:modified xsi:type="dcterms:W3CDTF">2026-06-27T19:52:35Z</dcterms:modified>
</cp:coreProperties>
</file>