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INSTRUCTOR USE ONLY — DO NOT DISTRIBUTE TO STUDENTS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4251960"/>
            <a:ext cx="9144000" cy="9144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Safety — BSIS Elective Course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2487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Copy — Retain Securely — Do Not Leave Unattended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Questions  |  Pass: 100%  |  BPC §7583.6(b)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43159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66360" y="43159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28,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— ALL ANSWERS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92240" y="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Q  |  Pass: 100%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896112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96112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89611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6384" y="89611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993392" y="896112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93392" y="896112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11" name="Text 9"/>
          <p:cNvSpPr/>
          <p:nvPr/>
        </p:nvSpPr>
        <p:spPr>
          <a:xfrm>
            <a:off x="1993392" y="89611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23744" y="89611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730752" y="896112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30752" y="896112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15" name="Text 13"/>
          <p:cNvSpPr/>
          <p:nvPr/>
        </p:nvSpPr>
        <p:spPr>
          <a:xfrm>
            <a:off x="3730752" y="89611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61104" y="89611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468112" y="896112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68112" y="896112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5468112" y="89611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98464" y="89611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205472" y="896112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205472" y="896112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23" name="Text 21"/>
          <p:cNvSpPr/>
          <p:nvPr/>
        </p:nvSpPr>
        <p:spPr>
          <a:xfrm>
            <a:off x="7205472" y="89611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35824" y="89611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256032" y="1609344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1609344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27" name="Text 25"/>
          <p:cNvSpPr/>
          <p:nvPr/>
        </p:nvSpPr>
        <p:spPr>
          <a:xfrm>
            <a:off x="256032" y="160934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86384" y="160934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1993392" y="1609344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993392" y="1609344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31" name="Text 29"/>
          <p:cNvSpPr/>
          <p:nvPr/>
        </p:nvSpPr>
        <p:spPr>
          <a:xfrm>
            <a:off x="1993392" y="160934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523744" y="160934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3730752" y="1609344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730752" y="1609344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35" name="Text 33"/>
          <p:cNvSpPr/>
          <p:nvPr/>
        </p:nvSpPr>
        <p:spPr>
          <a:xfrm>
            <a:off x="3730752" y="160934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261104" y="160934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5468112" y="1609344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68112" y="1609344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39" name="Text 37"/>
          <p:cNvSpPr/>
          <p:nvPr/>
        </p:nvSpPr>
        <p:spPr>
          <a:xfrm>
            <a:off x="5468112" y="160934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98464" y="160934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7205472" y="1609344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205472" y="1609344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43" name="Text 41"/>
          <p:cNvSpPr/>
          <p:nvPr/>
        </p:nvSpPr>
        <p:spPr>
          <a:xfrm>
            <a:off x="7205472" y="160934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735824" y="160934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256032" y="2322576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56032" y="2322576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47" name="Text 45"/>
          <p:cNvSpPr/>
          <p:nvPr/>
        </p:nvSpPr>
        <p:spPr>
          <a:xfrm>
            <a:off x="256032" y="2322576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86384" y="232257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49" name="Shape 47"/>
          <p:cNvSpPr/>
          <p:nvPr/>
        </p:nvSpPr>
        <p:spPr>
          <a:xfrm>
            <a:off x="1993392" y="2322576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1993392" y="2322576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51" name="Text 49"/>
          <p:cNvSpPr/>
          <p:nvPr/>
        </p:nvSpPr>
        <p:spPr>
          <a:xfrm>
            <a:off x="1993392" y="2322576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523744" y="232257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53" name="Shape 51"/>
          <p:cNvSpPr/>
          <p:nvPr/>
        </p:nvSpPr>
        <p:spPr>
          <a:xfrm>
            <a:off x="3730752" y="2322576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730752" y="2322576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55" name="Text 53"/>
          <p:cNvSpPr/>
          <p:nvPr/>
        </p:nvSpPr>
        <p:spPr>
          <a:xfrm>
            <a:off x="3730752" y="2322576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261104" y="232257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57" name="Shape 55"/>
          <p:cNvSpPr/>
          <p:nvPr/>
        </p:nvSpPr>
        <p:spPr>
          <a:xfrm>
            <a:off x="5468112" y="2322576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468112" y="2322576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59" name="Text 57"/>
          <p:cNvSpPr/>
          <p:nvPr/>
        </p:nvSpPr>
        <p:spPr>
          <a:xfrm>
            <a:off x="5468112" y="2322576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998464" y="232257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61" name="Shape 59"/>
          <p:cNvSpPr/>
          <p:nvPr/>
        </p:nvSpPr>
        <p:spPr>
          <a:xfrm>
            <a:off x="7205472" y="2322576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7205472" y="2322576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63" name="Text 61"/>
          <p:cNvSpPr/>
          <p:nvPr/>
        </p:nvSpPr>
        <p:spPr>
          <a:xfrm>
            <a:off x="7205472" y="2322576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735824" y="232257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65" name="Shape 63"/>
          <p:cNvSpPr/>
          <p:nvPr/>
        </p:nvSpPr>
        <p:spPr>
          <a:xfrm>
            <a:off x="256032" y="3035808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256032" y="3035808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8B1A1A"/>
          </a:solidFill>
          <a:ln/>
        </p:spPr>
      </p:sp>
      <p:sp>
        <p:nvSpPr>
          <p:cNvPr id="67" name="Text 65"/>
          <p:cNvSpPr/>
          <p:nvPr/>
        </p:nvSpPr>
        <p:spPr>
          <a:xfrm>
            <a:off x="256032" y="303580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Q16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86384" y="303580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69" name="Text 67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INSTRUCTOR COPY —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Safety — BSIS Elective Course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Assessment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Situational Awareness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baseline level of situational awareness that a security guard should maintain at all times while on duty is: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White — relaxed and at ease, conserving energy between incidents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Yellow — relaxed alertness, aware of surroundings without fixating on a specific threat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Orange — focused attention on a specific identified potential threat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Red — prepared to immediately take action against a confirmed threat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Assessment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Pre-Incident Indicators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 behavioral pre-incident threat indicators include: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Wearing clothing that is appropriate for the weather and the location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Entering through the main public entrance without stopping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Photographing the building's security cameras and documenting guard patrol patterns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Proceeding directly to a destination without any apparent hesitation or delay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Assessment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guard identifies a credible potential threat at their post, the first priority is: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Independently confront the identified threat to resolve it before it escalates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Notify dispatch or their supervisor and request backup before engaging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Document the observation in the shift log and continue patrol without intervening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Wait for the threat to escalate to a confirmed incident before reporting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Safety — BSIS Elective Course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Assessment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initial indicator to observe when approaching an unknown subject is: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The subject's facial expression and apparent emotional state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The subject's hands — hands are the primary source of potential threats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The subject's clothing style and apparent socioeconomic status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The subject's race and gender — the statistically highest risk factors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Subject Contact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recommended distance a guard should maintain from an unknown subject during an initial contact is: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1 to 2 feet — close enough to maintain full physical control if needed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6 to 10 feet — a reactionary gap that provides time to respond to a threat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15 or more feet — maximum distance to minimize all physical risk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At the guard's discretion — distance should be adjusted based on intuition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Subject Contact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approaching a potentially hostile subject, a guard should position themselves: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Directly in front of the subject — a commanding frontal stance establishes authority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Directly behind the subject — reduces the subject's ability to see the guard's approach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At a 45-degree angle to the subject — reduces target profile and improves reactionary options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Beside the subject with a hand placed on their shoulder to establish physical control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Safety — BSIS Elective Course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Subject Contact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 should NEVER approach a potentially threatening subject without first: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Completing a full written incident report documenting the basis for the contact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Obtaining explicit written authorization from the property owner or client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Ensuring they have a means of communication, a clear exit, and backup available or requested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Reviewing the subject's prior incident history with the property management team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&amp; Concealment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distinction between cover and concealment is that: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Cover hides you from view but does not stop projectiles; concealment provides ballistic protection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Concealment hides you from view but does not stop projectiles; cover provides a barrier that can stop projectiles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Cover and concealment are functionally identical — both provide equivalent protection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Cover applies only to firearms threats; concealment is effective against all other types of threats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Borne Pathogens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OSHA 29 CFR 1910.1030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OSHA blood borne pathogen standards, a security guard must assume that: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Only visibly blood-stained materials pose a transmission risk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All blood and body fluids from any person may be infectious — standard precautions apply universally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Gloves are only required when direct contact with blood is highly likely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HIV is the only blood borne pathogen of practical concern in a security context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Safety — BSIS Elective Course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Borne Pathogens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OSHA 29 CFR 1910.1030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minimum personal protective equipment (PPE) a guard must use before any contact with blood or body fluids is: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A full-face shield and protective gown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Disposable gloves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Safety glasses only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No PPE is required unless the blood is confirmed to be from an infected person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Borne Pathogens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OSHA | Cal/OSHA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guard is exposed to blood or body fluids during an incident, they should immediately: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Complete the incident report and mention the exposure as a footnote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Wait until the end of shift to report the exposure to their supervisor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Wash the affected area thoroughly with soap and water, notify their supervisor, and seek prompt medical evaluation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Disinfect the area with hand sanitizer and continue their shift without interruption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Hazards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Cal/OSHA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 detects a strong odor of natural gas at their post. The correct immediate action is: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Locate the source of the leak and attempt to seal it to prevent further dispersal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Use the radio to report the odor while simultaneously investigating the source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Evacuate the area immediately without using any electrical switches or radio — then call 911 from a safe distance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Document the observation in the shift log and notify the property manager at the next available opportunity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Safety — BSIS Elective Course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Awareness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beginning any shift, a security guard should: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Arrive at the post and begin patrol immediately to maximize coverage time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Complete a pre-shift check of all assigned equipment and confirm radio communication functionality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Wait for the outgoing guard to complete a comprehensive verbal and written shift briefing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Review only the written post orders — verbal briefings from outgoing guards are not required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Awareness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tactical practice of never allowing two guards in the same patrol area to position themselves in a straight line is called: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Situational mirroring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Tactical distancing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Tactical L positioning — reduces the risk of both guards being affected by a single threat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Zone suppression protocol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§7583.6 | Officer Safety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 observing a person engaging in pre-incident surveillance behavior — photographing access points and watching patrol patterns — should: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Confront the person immediately to deter the behavior before it progresses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Document the specific behaviors observed and contact their supervisor to determine the appropriate response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Ignore the behavior unless the person commits an overt act that constitutes a crime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Wait for confirmation of criminal intent before documenting or reporting the observation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Safety — BSIS Elective Course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License | BPC §7583.6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INC.'s California Private Patrol Operator license number — required to appear on all BSIS Certificates of Completion — is: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#112233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#100001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#133445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D. #122729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GUIDE &amp; INSTRUCTOR NOTES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Score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0" y="914400"/>
            <a:ext cx="6492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— all 16 questions correct required per BPC §7583.6(b)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1627632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627632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Assessment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1627632"/>
            <a:ext cx="6492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retake required. Student must review all course modules before retaking.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340864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2340864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2340864"/>
            <a:ext cx="6492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Certificate of Completion ONLY upon 100% score. Sign, date, and retain a copy.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3054096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054096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Retention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3054096"/>
            <a:ext cx="6492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each student's assessment record for duration of employment. Available to BSIS on request per Title 16 CCR §643(b).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767328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3767328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0" y="3767328"/>
            <a:ext cx="6492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answer key is for MACCESS INC. instructor use only. Never share with students before, during, or after assessment.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4480560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4480560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Scan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86000" y="4480560"/>
            <a:ext cx="6492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Scan integration is pending equipment acquisition. When active, completed LS records will be stored alongside training records.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Officer Safety — BSIS Elective Course — INSTRUCTOR ANSWER KEY</dc:title>
  <dc:subject>PptxGenJS Presentation</dc:subject>
  <dc:creator>MACCESS INC. — CONFIDENTIAL</dc:creator>
  <cp:lastModifiedBy>MACCESS INC. — CONFIDENTIAL</cp:lastModifiedBy>
  <cp:revision>1</cp:revision>
  <dcterms:created xsi:type="dcterms:W3CDTF">2026-06-28T16:08:56Z</dcterms:created>
  <dcterms:modified xsi:type="dcterms:W3CDTF">2026-06-28T16:08:56Z</dcterms:modified>
</cp:coreProperties>
</file>