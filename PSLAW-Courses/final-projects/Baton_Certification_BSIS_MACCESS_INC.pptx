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087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CERTIFICATION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852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Certified Training — Baton Permit Qualification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§§7583.33 | 7585.9 | 7585.13  |  4-Hr Elective + 8-Hr Permit Course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Compliance Notice — Who May Issue Baton Permits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§§7585.3–7585.14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1078992"/>
          </a:xfrm>
          <a:prstGeom prst="roundRect">
            <a:avLst>
              <a:gd name="adj" fmla="val 7627"/>
            </a:avLst>
          </a:prstGeom>
          <a:solidFill>
            <a:srgbClr val="FFF3CD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457200" cy="1078992"/>
          </a:xfrm>
          <a:prstGeom prst="roundRect">
            <a:avLst>
              <a:gd name="adj" fmla="val 18000"/>
            </a:avLst>
          </a:prstGeom>
          <a:solidFill>
            <a:srgbClr val="7B45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READ BEFORE ADMINISTERING THIS COURSE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2529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4-hour module is a BSIS elective course (BPC §7583.6(b)) that may be delivered by MACCESS INC. as a licensed PPO. However, the full 8-hour Baton Permit course and the issuance of a BSIS Baton Permit requires a BSIS-certified Baton Training Facility (TFB license) and a BSIS-certified Baton Instructor. MACCESS INC. must obtain TFB certification before issuing BSIS baton permits.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416052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011680"/>
            <a:ext cx="3941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4-Hr Module Covers (PPO-Deliverable)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3977640" cy="2313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&amp; legal aspects of baton 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continuum — baton in context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types: side-handle, straight, expandable, ASP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areas and prohibited strike zones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and baton handling fundamentals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requirements, permit rules, recordkeeping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toward 32-hr BSIS elective credit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011680"/>
            <a:ext cx="4114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01168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01168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BSIS Baton Permit Requires (TFB Only)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414016"/>
            <a:ext cx="3931920" cy="2313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 total instruction (BPC §7585.13)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BSIS-certified Baton Training Facility (TFB license)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BSIS-certified Baton Instructor on site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24-question BSIS written exam (pass ≥ 20/24)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 of all vital body areas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permit issued by certified instructor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submitted to BSIS within 5 working days
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&amp; Legal Aspects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Baton Use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and employer responsibilities | Criminal, civil, and vicarious liability | BPC §7583.33 | PC §22001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Basis — Who May Carry a Baton in California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 | PC §22001 (formerly PC §12002)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Law — Baton Carry Requirements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§22001 (formerly §12002): strictly limits who may lawfully carry a baton to specially trained individuals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§7583.33: any security guard who carries a baton on duty MUST have: (1) a valid BSIS security guard registration, AND (2) a valid BSIS baton permit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without permit: criminal violation of PC §22001 — a felony charge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liability: a PPO that allows a guard to carry a baton without a permit may be fined by BSIS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In-house/proprietary guards: also required to have both a guard card and baton permit (BPC §7585.14)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permit expires every 2 years — renewal requires 8-hr refresher (recent BSIS update)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7B4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Responsibility of Armed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baton is a defensive tool — to protect yourself and others, NOT to punish or intimidate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Discretion: a guard must exercise restraint and judgment — the ability to use force does not mean it is appropriate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trust: guards who carry batons are held to a higher standard — misuse damages the entire profession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baton is NOT an offensive weapon — using it offensively is a crime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is this the minimum force needed? Will force be proportionate to the threat?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attempt verbal de-escalation before drawing or using your baton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Criminal, Civil &amp; Vicarious Liability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§§7583.15 | 7585.19 | PC §§242 | 245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51760" cy="39776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65176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468880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 — Battery: unlawful use of force on a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§245 — Assault with a deadly weapon (baton can qualify)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§22001 — Carrying baton without permit: felony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prosecution is independent of civil suits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force: guard card suspension or revocation (BPC §7583.15)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§7583.15: Director of DCA may immediately suspend a guard deemed a public safety hazard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90672" y="822960"/>
            <a:ext cx="2651760" cy="39776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822960"/>
            <a:ext cx="2651760" cy="365760"/>
          </a:xfrm>
          <a:prstGeom prst="roundRect">
            <a:avLst>
              <a:gd name="adj" fmla="val 22500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8229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82112" y="1225296"/>
            <a:ext cx="2468880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force tort: compensatory + punitive damages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Wrongful death: if baton use results in death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infliction of emotional distress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violations: improper use against person with disability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liability does not require criminal conviction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failure to document use of force increases civil exposure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07024" y="822960"/>
            <a:ext cx="2825496" cy="397764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822960"/>
            <a:ext cx="2825496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822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Vicarious Liability (PPO)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8464" y="1225296"/>
            <a:ext cx="2642616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Respondeat superior: MACCESS INC. may be liable for guard's actions within scope of employment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hiring: failure to verify baton permit before assignment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training: failure to ensure proper baton training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§7585.19: facility/instructor fines — $100–$1,000 per violation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must report certain use-of-force incidents to BSIS per BPC §§7583.2 and 7574.37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 continuum | When the baton is justified | Avoidance | De-escalation | Deadly force | BPC §7583.7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Continuum — Baton in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Objectively Reasonable Standard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046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877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PRESENCE &amp; COMMUNICATION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17043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calm demeanor, verbal commands — always first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17904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17904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1A7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5179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1591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VERBAL DIRECTION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1883664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direct instructions: 'Stop. Step back. Leave the area.'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31136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1B4A8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311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 CONTROL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596896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Guiding, escort techniques — compliant subject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44368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2E3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 CONTROL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31012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locks, control holds — actively resistant subject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57600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7B45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3730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BATON — LESS LETHAL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023360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baton use — active aggression, imminent threat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370832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370832"/>
            <a:ext cx="502920" cy="640080"/>
          </a:xfrm>
          <a:prstGeom prst="roundRect">
            <a:avLst>
              <a:gd name="adj" fmla="val 12727"/>
            </a:avLst>
          </a:prstGeom>
          <a:solidFill>
            <a:srgbClr val="8B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708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DEADLY FORCE — LAST RESORT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473659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or serious bodily injury imminent — only if no other option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use is justified only at Level 5 or above — ALWAYS attempt lower levels first. De-escalate immediately when threat subsides.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De-escalation, Avoidance &amp; Justification for Baton 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§7583.7(b)(6) | BSIS Baton Manual Ch.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Baton Use IS Justified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physical aggression toward you or another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threat of serious bodily injury — objectively reasonable belief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is armed with an object and threatening imminent attack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subjects creating an elevated threat that verbal/soft control cannot address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justifications evaluated by the 'objectively reasonable officer' standard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threat stops: baton use must stop immediately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Baton Use Is NOT Justified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resistance alone — refusal to move, sitting, etc.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abuse or profanity — words alone do not justify force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protection alone — baton cannot be used solely to protect property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Trespassing without physical threat — call police; use verbal commands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threat has ended — baton use post-submission is excessive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Punishing or intimidating a subject after control is established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of Deadly Force &amp; Escalation/De-escalation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8595360" cy="365760"/>
          </a:xfrm>
          <a:prstGeom prst="roundRect">
            <a:avLst>
              <a:gd name="adj" fmla="val 22500"/>
            </a:avLst>
          </a:prstGeom>
          <a:solidFill>
            <a:srgbClr val="2E3A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Avoidance, Escalation, and De-escalation of Force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841248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The best use-of-force outcome is avoiding force entirely — situational awareness, positioning, and early verbal intervention prevent most escalations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DE-ESCALATION: When a situation begins to escalate, your first tool is ALWAYS verbal de-escalation — speak calmly, use time and distance, call for backup, avoid cornering the subject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(when necessary): If de-escalation fails and a physical threat develops, escalate proportionately — do not jump to baton use without exhausting lower levels of the force continuum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DEADLY FORCE AND THE BATON: Strikes to the head, throat, spine, kidneys, and groin CAN cause death. Any strike to a vital area constitutes potential deadly force — only justified when you or another person faces imminent death or serious bodily injury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POST-FORCE: Once the subject is controlled, DE-ESCALATE immediately — no further force. Call for medical assistance if the subject is injured. Document everything.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Every use of the baton — even if contact is not made — must be documented in a written incident report within 1 hour. Notify your supervisor immediately.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Familiarization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Uses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batons | Physical characteristics | Authorized types for California security guards | BSIS Baton Manual Ch.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Types — California Authorized for Security Guards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3 | PC §22001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411480"/>
          </a:xfrm>
          <a:prstGeom prst="roundRect">
            <a:avLst>
              <a:gd name="adj" fmla="val 20000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22960"/>
            <a:ext cx="397764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Straight Baton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single-grip straight baton. Solid or hollow construction. Standard lengths: 22"–26". Grip is at one end. Requires straight-baton ring carrier.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411480"/>
          </a:xfrm>
          <a:prstGeom prst="roundRect">
            <a:avLst>
              <a:gd name="adj" fmla="val 20000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22960"/>
            <a:ext cx="397764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Straight Expandable (ASP)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2801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Telescoping straight baton — collapses for carry, expands on deployment. Common models: ASP, Monadnock Auto-Lock. Requires holster or specific ring.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4160520" cy="411480"/>
          </a:xfrm>
          <a:prstGeom prst="roundRect">
            <a:avLst>
              <a:gd name="adj" fmla="val 20000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80360"/>
            <a:ext cx="397764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Side-Handle Baton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3375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'T'-shaped baton with perpendicular handle. Allows blocking techniques not possible with straight baton. Requires side-handle ring. Common: PR-24®.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4160520" cy="411480"/>
          </a:xfrm>
          <a:prstGeom prst="roundRect">
            <a:avLst>
              <a:gd name="adj" fmla="val 20000"/>
            </a:avLst>
          </a:prstGeom>
          <a:solidFill>
            <a:srgbClr val="7B45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880360"/>
            <a:ext cx="397764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Side-Handle Expandable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3375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Telescoping version of the side-handle baton. Combines side-handle blocking capability with compact expandable design.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may only carry the baton type for which they were trained and certified. Switching types requires additional training.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Requirements &amp; Permit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 | BPC §7585.14 | BSIS Baton Fact Sheet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Requirements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must have VALID guard card on their person at all times while on duty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must have VALID BSIS baton permit in possession while carrying on duty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must be carried in an approved ring, holster, or carrier — never tucked in waistband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Off-duty: guards may NOT carry a baton — the permit is for on-duty carry only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firearms permit does NOT authorize baton carry — separate permit required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permit expires every 2 years — renewal = 8-hr refresher course before expiration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Rules &amp; Recordkeeping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permits issued only by BSIS-certified Baton Training Facilities (TFB license)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issued by the instructor, hand-delivered to student on completion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must be submitted to BSIS within 5 working days of course completion (BPC §7585.14)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permit: apply to BSIS directly with roster copy and $25 fee (BPC §7585.16)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permit: cannot be renewed — must apply for new initial permit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must verify each guard's permit before any baton-authorized assignment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for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Injuries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baton-related injuries in the field | When to call EMS | Documentation | BSIS Baton Manual Ch.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for Baton Injuries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4 | OSHA | Cal/OSHA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Response — Baton Injury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immediately for ANY baton contact resulting in visible injury or loss of consciousness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move an injured subject unless they are in immediate additional danger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responsiveness: verbal, then gentle shoulder tap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airway: head-tilt/chin-lift — check for breathing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bleeding: apply direct pressure with clean cloth or gloves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to head, spine, throat: assume spinal injury — do not move, call 911 immediately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Blood-borne pathogen precaution: ALWAYS glove up before contact with blood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Post-Incident Steps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supervisor immediately after any baton contact — even if no visible injury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written incident report within 1 hour — describe: threat, force used, target area, outcome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did you call EMS? When? What was the subject's condition when EMS arrived?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scene: do not alter or clean up until law enforcement clears the area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Cooperate with law enforcement — provide factual account, reference your written notes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reporting: PPO must report per BPC §7583.2 if injury occurred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all records: BSIS may audit per BPC §7585.15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B4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Handling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Stances | Grips | Target zones | Prohibited areas | Defensive techniques | BSIS Baton Manual Ch.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4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Stances, Grips &amp; Drawing the Baton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 | In-Person Practical Training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7B45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stance: feet shoulder-width, weight balanced, non-confrontational — baton in ring, hands visible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stance: dominant foot back, weight shifted, baton accessible but not drawn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deployment: baton drawn, non-dominant side forward, baton in dominant hand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stay outside of arm's reach — maintain reactionary gap of 6+ feet when possible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turn your back on an active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against wall or corner = poor tactical positioning — always maintain exit options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Grips &amp; Drawing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baton grip: dominant hand grasps handle firmly — thumb and fingers wrap fully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Side-handle grip: primary grip on main shaft, thumb on side handle for blocking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(ASP): firm flick of the wrist to deploy — check deployment before every shift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smooth, controlled — do not fumble or drop during draw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baton must stay in your control — do not allow subject to grab and disarm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Re-holstering: only after threat has fully resolved — keep eyes on subject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Zones &amp; Vital Areas to AVOID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 — CRITICAL COMPLIANCE REQUIREMENT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FECE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VITAL AREAS — PROHIBITED STRIKE ZONES (unless facing imminent death or serious bodily injury)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0F0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572768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508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50876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Temple, skull, jaw — can cause brain injury, skull fracture, death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2048256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1984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THROAT / NECK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98424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Carotid, trachea — can cause asphyxiation, cardiac arrest, death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59736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2523744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4597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2459736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Cervical, thoracic, lumbar — can cause permanent paralysis or death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35224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" y="2999232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29352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2935224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lower back — organ rupture, internal bleeding, shock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10712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0F0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" y="3474720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3410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410712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severe injury, nerve damage, shock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" y="3950208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38862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 / SOLAR PLEXUS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51760" y="388620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cardiac arrhythmia, respiratory arrest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361688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FF0F0"/>
          </a:solidFill>
          <a:ln/>
        </p:spPr>
      </p:sp>
      <p:sp>
        <p:nvSpPr>
          <p:cNvPr id="39" name="Shape 37"/>
          <p:cNvSpPr/>
          <p:nvPr/>
        </p:nvSpPr>
        <p:spPr>
          <a:xfrm>
            <a:off x="347472" y="4425696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" y="43616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 (joints)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51760" y="436168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permanent structural damage, disability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3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Target Areas &amp; Defensive Techniques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 — In-Person Practical Required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Target Strike Areas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PERONEAL NERVE: outer thigh/knee area — effective motor-nerve strike, low injury risk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NERVE: outer forearm — to disarm subject or break grip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THIGH: effective for motor disruption — avoid groin area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ARMS: bicep/tricep area — motor disruption, lower injury risk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 / LOWER LEG: good target for subject who is fleeing or kicking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strikes must remain proportionate to the threat — even authorized targets require justification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&amp; Control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Blocking: use baton to deflect incoming strike — side-handle baton excels at forearm blocks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holds: baton as leverage tool to control a resisting subject after lawful arrest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Jabbing: front-thrust strike — useful for maintaining distance from advancing subject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Pushing: baton used to create space — not a strike, less force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Striking: only when blocking and control techniques have failed or threat escalated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techniques must be demonstrated in in-person practical session (BPC §7585.9)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On-Duty Conduct, Documentation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Recordkeeping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on-post conduct | Incident reporting | BSIS records | Annual refresher | BPC §§7583.2 | 7585.15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On-Duty Conduct &amp; Professional Standards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§7583.15 | BSIS Ethics | MACCESS INC. Policy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On-Duty Standards for Baton-Carrying Guards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display or brandish the baton to intimidate — only draw when justified by threat level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tap baton against palm, surfaces, or equipment as a warning gesture — this is intimidation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baton in serviceable condition — inspect before every shift (expandable: test deployment)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loan your baton to another guard — the permit is individual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client site baton policies in post orders — some sites prohibit visible baton carry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professional demeanor at all times — the baton does not change your authority or your limits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— Baton 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deployment of the baton — even if no contact is made — must be reported in writing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content: date/time/location, nature of threat, level of force used, area of contact if any, outcome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supervisor immediately — MACCESS INC. policy and BPC §7583.2 require prompt reporting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must report to BSIS if injury occurred or if suspect was arrested (BPC §§7583.2, 7574.37)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all incident reports at the post level — available to BSIS auditors on request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Falsifying a baton incident report: $1,000 fine per violation (BPC §7585.19)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13/22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Examination — Overview &amp;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Training Manual — Administrative Procedures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Written Examination —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questions total — each question worth 1 point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score: minimum 20/24 (83%) PLUS correct identification of all vital body areas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met — passing the written alone is insufficient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open-book examination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administered by a BSIS-certified Baton Training Instructor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may be granted at instructor's discretion (failing score must be recorded)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sheets retained by facility for 2 years (BPC §7585.15)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65760"/>
          </a:xfrm>
          <a:prstGeom prst="roundRect">
            <a:avLst>
              <a:gd name="adj" fmla="val 22500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 — What You Must Identify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25296"/>
            <a:ext cx="3931920" cy="3456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Head (temple, skull, jaw)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Throat / Neck (carotid, trachea)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Spine (cervical, thoracic, lumbar)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Kidneys (posterior lower back)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Groin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Sternum / Solar Plexus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Knees (joint area)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correctly name ALL seven vital areas = automatic exam failure, regardless of written score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27432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BSIS Baton Certification — BPC §7583.33 | §7585.9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5486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Certification — BSIS Elective Module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880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written assessment. Pass = 20/24 + correct vital areas identification.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8-hr Baton Permit course and permit issuance requires BSIS-certified TFB and instructor.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BPC §§7583.33 | 7585.9 | 7585.13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Baton Certification — BSIS Course | MACCESS INC.</dc:title>
  <dc:subject>PptxGenJS Presentation</dc:subject>
  <dc:creator>MACCESS INC.</dc:creator>
  <cp:lastModifiedBy>MACCESS INC.</cp:lastModifiedBy>
  <cp:revision>1</cp:revision>
  <dcterms:created xsi:type="dcterms:W3CDTF">2026-06-28T16:50:56Z</dcterms:created>
  <dcterms:modified xsi:type="dcterms:W3CDTF">2026-06-28T16:50:56Z</dcterms:modified>
</cp:coreProperties>
</file>