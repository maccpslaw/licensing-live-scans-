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" cy="41148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ASSESSMENT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Questions  |  Passing Score: 100%  |  BSIS-Compliant Evaluation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question carefully. Select the single best answer. This assessment must be completed independently without reference materials.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License #122729  |  BSIS-Authorized Training Provider  |  June 27,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INSTRUCTIONS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874520" y="1143000"/>
            <a:ext cx="18288" cy="310896"/>
          </a:xfrm>
          <a:prstGeom prst="rect">
            <a:avLst/>
          </a:prstGeom>
          <a:solidFill>
            <a:srgbClr val="D0D8E8"/>
          </a:solidFill>
          <a:ln/>
        </p:spPr>
      </p:sp>
      <p:sp>
        <p:nvSpPr>
          <p:cNvPr id="7" name="Text 5"/>
          <p:cNvSpPr/>
          <p:nvPr/>
        </p:nvSpPr>
        <p:spPr>
          <a:xfrm>
            <a:off x="1965960" y="1051560"/>
            <a:ext cx="67665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multiple-choice questions — select ONE best answer per question (A, B, C, or 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618488"/>
            <a:ext cx="850392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618488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74520" y="1709928"/>
            <a:ext cx="18288" cy="310896"/>
          </a:xfrm>
          <a:prstGeom prst="rect">
            <a:avLst/>
          </a:prstGeom>
          <a:solidFill>
            <a:srgbClr val="D0D8E8"/>
          </a:solidFill>
          <a:ln/>
        </p:spPr>
      </p:sp>
      <p:sp>
        <p:nvSpPr>
          <p:cNvPr id="11" name="Text 9"/>
          <p:cNvSpPr/>
          <p:nvPr/>
        </p:nvSpPr>
        <p:spPr>
          <a:xfrm>
            <a:off x="1965960" y="1618488"/>
            <a:ext cx="67665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limit. Take the time you need to read each question carefully.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185416"/>
            <a:ext cx="850392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185416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Score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74520" y="2276856"/>
            <a:ext cx="18288" cy="310896"/>
          </a:xfrm>
          <a:prstGeom prst="rect">
            <a:avLst/>
          </a:prstGeom>
          <a:solidFill>
            <a:srgbClr val="D0D8E8"/>
          </a:solidFill>
          <a:ln/>
        </p:spPr>
      </p:sp>
      <p:sp>
        <p:nvSpPr>
          <p:cNvPr id="15" name="Text 13"/>
          <p:cNvSpPr/>
          <p:nvPr/>
        </p:nvSpPr>
        <p:spPr>
          <a:xfrm>
            <a:off x="1965960" y="2185416"/>
            <a:ext cx="67665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— all questions must be answered correctly to receive a Certificate of Completion per BPC §7583.7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52344"/>
            <a:ext cx="850392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752344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874520" y="2843784"/>
            <a:ext cx="18288" cy="310896"/>
          </a:xfrm>
          <a:prstGeom prst="rect">
            <a:avLst/>
          </a:prstGeom>
          <a:solidFill>
            <a:srgbClr val="D0D8E8"/>
          </a:solidFill>
          <a:ln/>
        </p:spPr>
      </p:sp>
      <p:sp>
        <p:nvSpPr>
          <p:cNvPr id="19" name="Text 17"/>
          <p:cNvSpPr/>
          <p:nvPr/>
        </p:nvSpPr>
        <p:spPr>
          <a:xfrm>
            <a:off x="1965960" y="2752344"/>
            <a:ext cx="67665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closed-book assessment. No notes, course materials, or electronic devices may be used.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319272"/>
            <a:ext cx="850392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319272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Retake Policy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74520" y="3410712"/>
            <a:ext cx="18288" cy="310896"/>
          </a:xfrm>
          <a:prstGeom prst="rect">
            <a:avLst/>
          </a:prstGeom>
          <a:solidFill>
            <a:srgbClr val="D0D8E8"/>
          </a:solidFill>
          <a:ln/>
        </p:spPr>
      </p:sp>
      <p:sp>
        <p:nvSpPr>
          <p:cNvPr id="23" name="Text 21"/>
          <p:cNvSpPr/>
          <p:nvPr/>
        </p:nvSpPr>
        <p:spPr>
          <a:xfrm>
            <a:off x="1965960" y="3319272"/>
            <a:ext cx="67665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do not achieve a passing score must retake the full assessment. Additional review of course material is recommended.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886200"/>
            <a:ext cx="850392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3886200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874520" y="3977640"/>
            <a:ext cx="18288" cy="310896"/>
          </a:xfrm>
          <a:prstGeom prst="rect">
            <a:avLst/>
          </a:prstGeom>
          <a:solidFill>
            <a:srgbClr val="D0D8E8"/>
          </a:solidFill>
          <a:ln/>
        </p:spPr>
      </p:sp>
      <p:sp>
        <p:nvSpPr>
          <p:cNvPr id="27" name="Text 25"/>
          <p:cNvSpPr/>
          <p:nvPr/>
        </p:nvSpPr>
        <p:spPr>
          <a:xfrm>
            <a:off x="1965960" y="3886200"/>
            <a:ext cx="67665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pass will receive a MACCESS INC. Certificate of Completion. This certificate must be retained until your guard card registration expires or is canceled per Title 16 CCR §643(b).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453128"/>
            <a:ext cx="850392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1480" y="4453128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874520" y="4544568"/>
            <a:ext cx="18288" cy="310896"/>
          </a:xfrm>
          <a:prstGeom prst="rect">
            <a:avLst/>
          </a:prstGeom>
          <a:solidFill>
            <a:srgbClr val="D0D8E8"/>
          </a:solidFill>
          <a:ln/>
        </p:spPr>
      </p:sp>
      <p:sp>
        <p:nvSpPr>
          <p:cNvPr id="31" name="Text 29"/>
          <p:cNvSpPr/>
          <p:nvPr/>
        </p:nvSpPr>
        <p:spPr>
          <a:xfrm>
            <a:off x="1965960" y="4453128"/>
            <a:ext cx="67665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beginning this assessment, you affirm that your responses are your own and that you have not received unauthorized assistance.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|  BPC §7583.7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California law requires security guards to complete Power to Arrest training before receiving a guard card?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Penal Code §837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and Professions Code §7583.7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16 California Code of Regulations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Penal Code §847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|  BPC §7583.7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score must a student achieve on the BSIS Power to Arrest exam to receive a Certificate of Completion?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|  DCA PTA Manual July 2023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manual is required to be used for Power to Arrest and Appropriate Use of Force training?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Security Officer Handbook 2022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 Power to Arrest and Appropriate Use of Force Training Manual, July 2023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Regulatory Guide Title 16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Penal Code Annotated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|  BPC §7583.7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security guard in California, your arrest authority comes from the same law that applies to: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sworn police officer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citizen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licensed investigator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government contractor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|  BPC §7583.7 | SB 652 (2026)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SB 652 (effective January 1, 2026), the full 8-hour PTA + AUF training must be delivered by: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two BSIS-approved providers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applicant's employer only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BSIS-approved course provider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provider plus a separate in-person facility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|  SB 652 | BPC §7583.6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before a guard card application must the 8-hour PTA/AUF training be completed?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|  PC §837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Penal Code §837 lists how many conditions under which a private person may make a citizen's arrest?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|  PC §837(1)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PC §837(1), a security guard may make a citizen's arrest when a public offense is: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by a witness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or attempted in the guard's presence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on CCTV footage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based on prior criminal history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|  PC §837(2)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PC §837(2), a guard may arrest someone for a felony that was NOT committed in their presence if: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supervisor authorizes the arrest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 has a hunch the person is guilty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 knows the person committed the felony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owner requests the arrest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|  PC §837(3)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§837(3) requires that for a reasonable-cause felony arrest, a felony must: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suspected but not confirmed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actually been committed in fact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been reported to police first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 violence or weapons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|  PC §837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receives a report that someone stole from the store yesterday. The guard did not witness the theft. Can the guard make a citizen's arrest for this misdemeanor?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any theft justifies arrest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with supervisor approval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misdemeanor arrest requires personal observation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only police can arrest for theft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|  PC §837(3)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PC §837 arrest condition carries the greatest risk of personal liability if used incorrectly?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§837(1) — offense in presence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§837(2) — felony by that person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§837(3) — reasonable cause for felony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conditions carry equal risk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|  PC §837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witnesses a person vandalizing a car in the parking lot. Which PC §837 condition applies?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§837(1) — public offense in presence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§837(2) — felony committed by the person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§837(3) — reasonable cause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vandalism cannot justify arrest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|  PC §837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"Reasonable cause" under PC §837 means: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gut feeling the person looks suspicious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facts supporting a belief the person committed a felony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witness statement alone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criminal history of the person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|  PC §538d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who represents themselves as a police officer may face criminal charges under: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§602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§538d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§480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|  PC §837 | 4th Amendment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guard's authority to search a detained person is: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as a police officer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on private property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a safety pat-down for weapons during a lawful detention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Permitted whenever the guard suspects concealed items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|  PC §236 | PC §847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Courts generally view a detention lasting more than ___ minutes without police notification as potentially crossing into false imprisonment.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minutes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minutes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45–60 minutes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|  PC §837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guard's arrest authority extends: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in the city they are assigned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the property they are hired to protect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 the entire county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Statewide under their BSIS license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|  PC §236 | PC §207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Detaining someone without a lawful basis under PC §837 constitutes: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 preventive detention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imprisonment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security action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Investigative detention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|  BPC §7583.7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actions is PROHIBITED for a California security guard?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a person their name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Contacting law enforcement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Conducting a general search of a person's bag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Observing suspicious activity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|  PC §242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handcuffs someone without a lawful basis for arrest. This action could constitute: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 restraint under BPC §7583.7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imprisonment and assault under California law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preventive security action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civil matter only with no criminal exposure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|  PC §837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detains a person based solely on the fact that they match a racial description given by a manager. This detention is: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 under employer authority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 if the manager signed a form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Unlawful — no reasonable suspicion based on race alone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 for 30 minutes pending investigation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|  PC §830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peace officer authority is derived from: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 Code §837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 Code §830 et seq.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and Professions Code §7583.7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16 CCR §643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|  PC §837 | PC §830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powers does a peace officer have that a security guard does NOT?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to observe and report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to make a citizen's arrest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to conduct lawful searches with probable cause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to ask a person their name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|  PC §847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making a citizen's arrest, a security guard must deliver the arrested person to a peace officer: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24 hours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the guard's shift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unnecessary delay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completing an incident report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|  PC §538d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police officer as a security guard is: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Permitted in emergencies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violation of BSIS policy only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criminal offense under PC §538d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if wearing a similar uniform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|  PC §847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police officer accepts custody from a security guard who made a citizen's arrest, who is legally the arresting party?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police officer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guard (the private person)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equally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owner who authorized the guard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|  PC §236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imprisonment under California Penal Code §236 is defined as: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Arresting someone for a misdemeanor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unlawful violation of the personal liberty of another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Detaining someone for more than one hour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physical contact with a detained person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|  PC §207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security guard unlawfully detains someone AND moves them to another location, the charge could escalate to: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Disorderly conduct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Assault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Kidnapping under PC §207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Trespassing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|  BPC §480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who makes an unlawful arrest could face BSIS consequences including: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warning only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card suspension or revocation under BPC §480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additional training only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regulatory consequences — only civil liability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16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|  Vicarious Liability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as the PPO may be held liable for a guard's wrongful arrest under the doctrine of: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product liability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Vicarious liability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Contributory negligence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immunity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|  PC §242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uses excessive force during a detention. Which criminal charge might apply?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Trespassing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Vandalism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under PC §242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Disturbing the peace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17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|  BPC §7583.2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must be notified when a security guard is involved in certain incidents including use of force. This requirement is found in: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16 CCR §600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§242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 |  PC §602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California Penal Code §602, trespass is generally classified as a: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Felony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Misdemeanor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Infraction only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violation only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18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 |  PC §602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refuses to leave private property after being lawfully ordered to do so. Under PC §837(1), the guard may now make an arrest because: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owner requested 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refusal to leave constitutes a public offense committed in the guard's presence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always have authority to arrest trespassers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license authorizes this action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 |  PC §490.5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Shopkeeper's Privilege under PC §490.5 allows a merchant or their agent to detain a suspect for shoplifting if: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suspects them based on appearance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probable cause based on direct observation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customer reports the theft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matches a description from a prior incident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19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 |  PC §602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removing someone from a public accommodation (such as a mall), a security guard must: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same authority as on private property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specific, legitimate reason unrelated to protected characteristics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written authorization from the property owner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police before making any request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 |  PC §602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trespass enforcement on open land, which of the following is generally required before detaining a person?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order from a judge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 BSIS incident report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posting or fencing and a verbal warning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authorization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20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 |  Title 16 CCR §643(b)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Title 16 CCR §643(b), a Certificate of Completion must be issued for each course completed by: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directly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applicant's attorney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entity or company providing the training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owner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 |  BSIS PTA Manual §8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incident report should ideally be completed: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the guard's shift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 hour of the incident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business day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requested by a supervisor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21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 |  BSIS Ethics Standards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who falsifies an incident report may face: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verbal warning only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and BSIS license revocation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civil fine only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consequences if the incident was minor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 |  BSIS PTA Manual §8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security guard announces a citizen's arrest, they should: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 silent to avoid legal exposure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state the basis for the arrest in plain language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police to make any statement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announce after police arrive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22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 |  BSIS PTA Manual §8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should a security guard do when identifying witnesses to an incident?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witnesses to leave the area to preserve the scene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their name, contact information, and what they observed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police to collect witness information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statements are not needed for incident reports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 |  BSIS Ethics Standards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guard's arrest or enforcement decisions must be: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guard's professional intuition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employer policies regardless of law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from bias based on race, gender, appearance, or other protected characteristics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 advance by the property owner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23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 |  BSIS PTA Manual §9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security guard discovers a medical emergency, their first action should be: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their supervisor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medical treatment immediately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scene for their own safety, then call 911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the area and wait for police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 |  DHS Run-Hide-Fight | BSIS PTA Manual §9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active shooter situation, the recommended priority order of actions is: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Hide, Fight, Run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Run, Hide, Fight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Fight, Hide, Run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911, Hide, Fight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24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 |  BSIS PTA Manual §10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Blood-borne pathogen precautions require a security guard to: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all physical contact with subjects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gloves before any physical contact that may involve blood or bodily fluids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hazmat team for all incidents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exposure only after the fact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 |  BSIS PTA Manual §10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principle of officer safety involves knowing your exits and maintaining awareness of your surroundings at all times?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interdiction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awareness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compliance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advantage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25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 |  BSIS PTA Manual §10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law enforcement arrives at a scene where a security guard is present, the guard should: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managing the situation until relieved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Verbally announce their authority under BSIS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hands visible and follow all officer commands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their guard card immediately and speak first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 |  PC §847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makes a lawful citizen's arrest. How long may the guard hold the person before law enforcement must be contacted?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hours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end of the shift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unnecessary delay — no extended holding permitted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24 hours if police are unavailable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26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 |  PC §837 | PC §836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BEST distinguishes a security guard's arrest authority from a police officer's?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can only arrest on weekdays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cannot use handcuffs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have no authority to investigate crimes or arrest based on probable cause developed through investigation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must have a supervisor present for all arrests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962656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 |  PC §837(1) | PC §602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3182112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observes a person shoplifting in real time. The person drops the item and tries to walk away. What is the BEST course of action?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081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tackle the person to prevent escape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840480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3840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person into the parking lot and make an arrest there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081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Detain the person on the property using reasonable force and call police immediately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616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36168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61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94376" y="4361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no action — only managers can stop shoplifters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 —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27 of 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9494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694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 |  BPC §7583.7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7754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INC.'s PPO license number is: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#112233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72768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94376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#122729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081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#133445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2093976"/>
            <a:ext cx="347472" cy="457200"/>
          </a:xfrm>
          <a:prstGeom prst="roundRect">
            <a:avLst>
              <a:gd name="adj" fmla="val 15789"/>
            </a:avLst>
          </a:prstGeom>
          <a:solidFill>
            <a:srgbClr val="E0E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939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093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#100001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INSTRUCTOR COPY ONLY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distribute to students. For instructor and administrator use only.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70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6968" y="11704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075688" y="1170432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4A1A8A"/>
          </a:solidFill>
          <a:ln/>
        </p:spPr>
      </p:sp>
      <p:sp>
        <p:nvSpPr>
          <p:cNvPr id="9" name="Text 7"/>
          <p:cNvSpPr/>
          <p:nvPr/>
        </p:nvSpPr>
        <p:spPr>
          <a:xfrm>
            <a:off x="2075688" y="1170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42616" y="11704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831336" y="1170432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12" name="Text 10"/>
          <p:cNvSpPr/>
          <p:nvPr/>
        </p:nvSpPr>
        <p:spPr>
          <a:xfrm>
            <a:off x="3831336" y="1170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98264" y="11704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586984" y="1170432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15" name="Text 13"/>
          <p:cNvSpPr/>
          <p:nvPr/>
        </p:nvSpPr>
        <p:spPr>
          <a:xfrm>
            <a:off x="5586984" y="1170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53912" y="11704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42632" y="1170432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7B3F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42632" y="1170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09560" y="11704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20040" y="182880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7B3F0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18288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2075688" y="182880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24" name="Text 22"/>
          <p:cNvSpPr/>
          <p:nvPr/>
        </p:nvSpPr>
        <p:spPr>
          <a:xfrm>
            <a:off x="2075688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42616" y="18288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3831336" y="182880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27" name="Text 25"/>
          <p:cNvSpPr/>
          <p:nvPr/>
        </p:nvSpPr>
        <p:spPr>
          <a:xfrm>
            <a:off x="3831336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98264" y="18288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586984" y="182880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7B3F00"/>
          </a:solidFill>
          <a:ln/>
        </p:spPr>
      </p:sp>
      <p:sp>
        <p:nvSpPr>
          <p:cNvPr id="30" name="Text 28"/>
          <p:cNvSpPr/>
          <p:nvPr/>
        </p:nvSpPr>
        <p:spPr>
          <a:xfrm>
            <a:off x="5586984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53912" y="18288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7342632" y="182880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33" name="Text 31"/>
          <p:cNvSpPr/>
          <p:nvPr/>
        </p:nvSpPr>
        <p:spPr>
          <a:xfrm>
            <a:off x="7342632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909560" y="18288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320040" y="2487168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7B3F00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86968" y="24871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2075688" y="2487168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7B3F00"/>
          </a:solidFill>
          <a:ln/>
        </p:spPr>
      </p:sp>
      <p:sp>
        <p:nvSpPr>
          <p:cNvPr id="39" name="Text 37"/>
          <p:cNvSpPr/>
          <p:nvPr/>
        </p:nvSpPr>
        <p:spPr>
          <a:xfrm>
            <a:off x="2075688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642616" y="24871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3831336" y="2487168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A5C3A"/>
          </a:solidFill>
          <a:ln/>
        </p:spPr>
      </p:sp>
      <p:sp>
        <p:nvSpPr>
          <p:cNvPr id="42" name="Text 40"/>
          <p:cNvSpPr/>
          <p:nvPr/>
        </p:nvSpPr>
        <p:spPr>
          <a:xfrm>
            <a:off x="3831336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398264" y="24871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5586984" y="2487168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45" name="Text 43"/>
          <p:cNvSpPr/>
          <p:nvPr/>
        </p:nvSpPr>
        <p:spPr>
          <a:xfrm>
            <a:off x="5586984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53912" y="24871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7342632" y="2487168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48" name="Text 46"/>
          <p:cNvSpPr/>
          <p:nvPr/>
        </p:nvSpPr>
        <p:spPr>
          <a:xfrm>
            <a:off x="7342632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909560" y="24871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320040" y="3145536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7B3F00"/>
          </a:solidFill>
          <a:ln/>
        </p:spPr>
      </p:sp>
      <p:sp>
        <p:nvSpPr>
          <p:cNvPr id="51" name="Text 49"/>
          <p:cNvSpPr/>
          <p:nvPr/>
        </p:nvSpPr>
        <p:spPr>
          <a:xfrm>
            <a:off x="320040" y="3145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86968" y="314553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2075688" y="3145536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54" name="Text 52"/>
          <p:cNvSpPr/>
          <p:nvPr/>
        </p:nvSpPr>
        <p:spPr>
          <a:xfrm>
            <a:off x="2075688" y="3145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642616" y="314553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56" name="Shape 54"/>
          <p:cNvSpPr/>
          <p:nvPr/>
        </p:nvSpPr>
        <p:spPr>
          <a:xfrm>
            <a:off x="3831336" y="3145536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57" name="Text 55"/>
          <p:cNvSpPr/>
          <p:nvPr/>
        </p:nvSpPr>
        <p:spPr>
          <a:xfrm>
            <a:off x="3831336" y="3145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398264" y="314553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59" name="Shape 57"/>
          <p:cNvSpPr/>
          <p:nvPr/>
        </p:nvSpPr>
        <p:spPr>
          <a:xfrm>
            <a:off x="5586984" y="3145536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60" name="Text 58"/>
          <p:cNvSpPr/>
          <p:nvPr/>
        </p:nvSpPr>
        <p:spPr>
          <a:xfrm>
            <a:off x="5586984" y="3145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153912" y="314553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7342632" y="3145536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7B3F00"/>
          </a:solidFill>
          <a:ln/>
        </p:spPr>
      </p:sp>
      <p:sp>
        <p:nvSpPr>
          <p:cNvPr id="63" name="Text 61"/>
          <p:cNvSpPr/>
          <p:nvPr/>
        </p:nvSpPr>
        <p:spPr>
          <a:xfrm>
            <a:off x="7342632" y="3145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909560" y="314553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320040" y="3803904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66" name="Text 64"/>
          <p:cNvSpPr/>
          <p:nvPr/>
        </p:nvSpPr>
        <p:spPr>
          <a:xfrm>
            <a:off x="320040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86968" y="380390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68" name="Shape 66"/>
          <p:cNvSpPr/>
          <p:nvPr/>
        </p:nvSpPr>
        <p:spPr>
          <a:xfrm>
            <a:off x="2075688" y="3803904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7B3F00"/>
          </a:solidFill>
          <a:ln/>
        </p:spPr>
      </p:sp>
      <p:sp>
        <p:nvSpPr>
          <p:cNvPr id="69" name="Text 67"/>
          <p:cNvSpPr/>
          <p:nvPr/>
        </p:nvSpPr>
        <p:spPr>
          <a:xfrm>
            <a:off x="2075688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2642616" y="380390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71" name="Shape 69"/>
          <p:cNvSpPr/>
          <p:nvPr/>
        </p:nvSpPr>
        <p:spPr>
          <a:xfrm>
            <a:off x="3831336" y="3803904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72" name="Text 70"/>
          <p:cNvSpPr/>
          <p:nvPr/>
        </p:nvSpPr>
        <p:spPr>
          <a:xfrm>
            <a:off x="3831336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398264" y="380390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74" name="Shape 72"/>
          <p:cNvSpPr/>
          <p:nvPr/>
        </p:nvSpPr>
        <p:spPr>
          <a:xfrm>
            <a:off x="5586984" y="3803904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7B3F00"/>
          </a:solidFill>
          <a:ln/>
        </p:spPr>
      </p:sp>
      <p:sp>
        <p:nvSpPr>
          <p:cNvPr id="75" name="Text 73"/>
          <p:cNvSpPr/>
          <p:nvPr/>
        </p:nvSpPr>
        <p:spPr>
          <a:xfrm>
            <a:off x="5586984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153912" y="380390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77" name="Shape 75"/>
          <p:cNvSpPr/>
          <p:nvPr/>
        </p:nvSpPr>
        <p:spPr>
          <a:xfrm>
            <a:off x="7342632" y="3803904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7B3F00"/>
          </a:solidFill>
          <a:ln/>
        </p:spPr>
      </p:sp>
      <p:sp>
        <p:nvSpPr>
          <p:cNvPr id="78" name="Text 76"/>
          <p:cNvSpPr/>
          <p:nvPr/>
        </p:nvSpPr>
        <p:spPr>
          <a:xfrm>
            <a:off x="7342632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Q25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7909560" y="380390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80" name="Shape 78"/>
          <p:cNvSpPr/>
          <p:nvPr/>
        </p:nvSpPr>
        <p:spPr>
          <a:xfrm>
            <a:off x="320040" y="4462272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7B3F00"/>
          </a:solidFill>
          <a:ln/>
        </p:spPr>
      </p:sp>
      <p:sp>
        <p:nvSpPr>
          <p:cNvPr id="81" name="Text 79"/>
          <p:cNvSpPr/>
          <p:nvPr/>
        </p:nvSpPr>
        <p:spPr>
          <a:xfrm>
            <a:off x="320040" y="4462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Q26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886968" y="446227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83" name="Shape 81"/>
          <p:cNvSpPr/>
          <p:nvPr/>
        </p:nvSpPr>
        <p:spPr>
          <a:xfrm>
            <a:off x="2075688" y="4462272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84" name="Text 82"/>
          <p:cNvSpPr/>
          <p:nvPr/>
        </p:nvSpPr>
        <p:spPr>
          <a:xfrm>
            <a:off x="2075688" y="4462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Q27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2642616" y="446227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86" name="Shape 84"/>
          <p:cNvSpPr/>
          <p:nvPr/>
        </p:nvSpPr>
        <p:spPr>
          <a:xfrm>
            <a:off x="3831336" y="4462272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87" name="Text 85"/>
          <p:cNvSpPr/>
          <p:nvPr/>
        </p:nvSpPr>
        <p:spPr>
          <a:xfrm>
            <a:off x="3831336" y="4462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Q28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398264" y="446227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89" name="Shape 87"/>
          <p:cNvSpPr/>
          <p:nvPr/>
        </p:nvSpPr>
        <p:spPr>
          <a:xfrm>
            <a:off x="5586984" y="4462272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7B3F00"/>
          </a:solidFill>
          <a:ln/>
        </p:spPr>
      </p:sp>
      <p:sp>
        <p:nvSpPr>
          <p:cNvPr id="90" name="Text 88"/>
          <p:cNvSpPr/>
          <p:nvPr/>
        </p:nvSpPr>
        <p:spPr>
          <a:xfrm>
            <a:off x="5586984" y="4462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Q29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6153912" y="446227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92" name="Shape 90"/>
          <p:cNvSpPr/>
          <p:nvPr/>
        </p:nvSpPr>
        <p:spPr>
          <a:xfrm>
            <a:off x="7342632" y="4462272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93" name="Text 91"/>
          <p:cNvSpPr/>
          <p:nvPr/>
        </p:nvSpPr>
        <p:spPr>
          <a:xfrm>
            <a:off x="7342632" y="4462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Q30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7909560" y="446227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95" name="Shape 93"/>
          <p:cNvSpPr/>
          <p:nvPr/>
        </p:nvSpPr>
        <p:spPr>
          <a:xfrm>
            <a:off x="320040" y="512064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96" name="Text 94"/>
          <p:cNvSpPr/>
          <p:nvPr/>
        </p:nvSpPr>
        <p:spPr>
          <a:xfrm>
            <a:off x="320040" y="5120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Q31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886968" y="51206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98" name="Shape 96"/>
          <p:cNvSpPr/>
          <p:nvPr/>
        </p:nvSpPr>
        <p:spPr>
          <a:xfrm>
            <a:off x="2075688" y="512064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7B3F00"/>
          </a:solidFill>
          <a:ln/>
        </p:spPr>
      </p:sp>
      <p:sp>
        <p:nvSpPr>
          <p:cNvPr id="99" name="Text 97"/>
          <p:cNvSpPr/>
          <p:nvPr/>
        </p:nvSpPr>
        <p:spPr>
          <a:xfrm>
            <a:off x="2075688" y="5120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Q32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2642616" y="51206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01" name="Shape 99"/>
          <p:cNvSpPr/>
          <p:nvPr/>
        </p:nvSpPr>
        <p:spPr>
          <a:xfrm>
            <a:off x="3831336" y="512064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102" name="Text 100"/>
          <p:cNvSpPr/>
          <p:nvPr/>
        </p:nvSpPr>
        <p:spPr>
          <a:xfrm>
            <a:off x="3831336" y="5120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Q33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4398264" y="51206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04" name="Shape 102"/>
          <p:cNvSpPr/>
          <p:nvPr/>
        </p:nvSpPr>
        <p:spPr>
          <a:xfrm>
            <a:off x="5586984" y="512064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105" name="Text 103"/>
          <p:cNvSpPr/>
          <p:nvPr/>
        </p:nvSpPr>
        <p:spPr>
          <a:xfrm>
            <a:off x="5586984" y="5120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Q34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6153912" y="51206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07" name="Shape 105"/>
          <p:cNvSpPr/>
          <p:nvPr/>
        </p:nvSpPr>
        <p:spPr>
          <a:xfrm>
            <a:off x="7342632" y="512064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108" name="Text 106"/>
          <p:cNvSpPr/>
          <p:nvPr/>
        </p:nvSpPr>
        <p:spPr>
          <a:xfrm>
            <a:off x="7342632" y="5120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Q35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7909560" y="51206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10" name="Shape 108"/>
          <p:cNvSpPr/>
          <p:nvPr/>
        </p:nvSpPr>
        <p:spPr>
          <a:xfrm>
            <a:off x="320040" y="5779008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111" name="Text 109"/>
          <p:cNvSpPr/>
          <p:nvPr/>
        </p:nvSpPr>
        <p:spPr>
          <a:xfrm>
            <a:off x="320040" y="5779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Q36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886968" y="577900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13" name="Shape 111"/>
          <p:cNvSpPr/>
          <p:nvPr/>
        </p:nvSpPr>
        <p:spPr>
          <a:xfrm>
            <a:off x="2075688" y="5779008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114" name="Text 112"/>
          <p:cNvSpPr/>
          <p:nvPr/>
        </p:nvSpPr>
        <p:spPr>
          <a:xfrm>
            <a:off x="2075688" y="5779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Q37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2642616" y="577900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16" name="Shape 114"/>
          <p:cNvSpPr/>
          <p:nvPr/>
        </p:nvSpPr>
        <p:spPr>
          <a:xfrm>
            <a:off x="3831336" y="5779008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7B3F00"/>
          </a:solidFill>
          <a:ln/>
        </p:spPr>
      </p:sp>
      <p:sp>
        <p:nvSpPr>
          <p:cNvPr id="117" name="Text 115"/>
          <p:cNvSpPr/>
          <p:nvPr/>
        </p:nvSpPr>
        <p:spPr>
          <a:xfrm>
            <a:off x="3831336" y="5779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Q38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4398264" y="577900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19" name="Shape 117"/>
          <p:cNvSpPr/>
          <p:nvPr/>
        </p:nvSpPr>
        <p:spPr>
          <a:xfrm>
            <a:off x="5586984" y="5779008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7B3F00"/>
          </a:solidFill>
          <a:ln/>
        </p:spPr>
      </p:sp>
      <p:sp>
        <p:nvSpPr>
          <p:cNvPr id="120" name="Text 118"/>
          <p:cNvSpPr/>
          <p:nvPr/>
        </p:nvSpPr>
        <p:spPr>
          <a:xfrm>
            <a:off x="5586984" y="5779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Q39</a:t>
            </a:r>
            <a:endParaRPr lang="en-US" sz="1100" dirty="0"/>
          </a:p>
        </p:txBody>
      </p:sp>
      <p:sp>
        <p:nvSpPr>
          <p:cNvPr id="121" name="Text 119"/>
          <p:cNvSpPr/>
          <p:nvPr/>
        </p:nvSpPr>
        <p:spPr>
          <a:xfrm>
            <a:off x="6153912" y="577900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22" name="Shape 120"/>
          <p:cNvSpPr/>
          <p:nvPr/>
        </p:nvSpPr>
        <p:spPr>
          <a:xfrm>
            <a:off x="7342632" y="5779008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123" name="Text 121"/>
          <p:cNvSpPr/>
          <p:nvPr/>
        </p:nvSpPr>
        <p:spPr>
          <a:xfrm>
            <a:off x="7342632" y="5779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Q40</a:t>
            </a:r>
            <a:endParaRPr lang="en-US" sz="1100" dirty="0"/>
          </a:p>
        </p:txBody>
      </p:sp>
      <p:sp>
        <p:nvSpPr>
          <p:cNvPr id="124" name="Text 122"/>
          <p:cNvSpPr/>
          <p:nvPr/>
        </p:nvSpPr>
        <p:spPr>
          <a:xfrm>
            <a:off x="7909560" y="577900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25" name="Shape 123"/>
          <p:cNvSpPr/>
          <p:nvPr/>
        </p:nvSpPr>
        <p:spPr>
          <a:xfrm>
            <a:off x="320040" y="6437376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126" name="Text 124"/>
          <p:cNvSpPr/>
          <p:nvPr/>
        </p:nvSpPr>
        <p:spPr>
          <a:xfrm>
            <a:off x="320040" y="6437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Q41</a:t>
            </a:r>
            <a:endParaRPr lang="en-US" sz="1100" dirty="0"/>
          </a:p>
        </p:txBody>
      </p:sp>
      <p:sp>
        <p:nvSpPr>
          <p:cNvPr id="127" name="Text 125"/>
          <p:cNvSpPr/>
          <p:nvPr/>
        </p:nvSpPr>
        <p:spPr>
          <a:xfrm>
            <a:off x="886968" y="64373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28" name="Shape 126"/>
          <p:cNvSpPr/>
          <p:nvPr/>
        </p:nvSpPr>
        <p:spPr>
          <a:xfrm>
            <a:off x="2075688" y="6437376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129" name="Text 127"/>
          <p:cNvSpPr/>
          <p:nvPr/>
        </p:nvSpPr>
        <p:spPr>
          <a:xfrm>
            <a:off x="2075688" y="6437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Q42</a:t>
            </a:r>
            <a:endParaRPr lang="en-US" sz="1100" dirty="0"/>
          </a:p>
        </p:txBody>
      </p:sp>
      <p:sp>
        <p:nvSpPr>
          <p:cNvPr id="130" name="Text 128"/>
          <p:cNvSpPr/>
          <p:nvPr/>
        </p:nvSpPr>
        <p:spPr>
          <a:xfrm>
            <a:off x="2642616" y="64373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31" name="Shape 129"/>
          <p:cNvSpPr/>
          <p:nvPr/>
        </p:nvSpPr>
        <p:spPr>
          <a:xfrm>
            <a:off x="3831336" y="6437376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132" name="Text 130"/>
          <p:cNvSpPr/>
          <p:nvPr/>
        </p:nvSpPr>
        <p:spPr>
          <a:xfrm>
            <a:off x="3831336" y="6437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Q43</a:t>
            </a:r>
            <a:endParaRPr lang="en-US" sz="1100" dirty="0"/>
          </a:p>
        </p:txBody>
      </p:sp>
      <p:sp>
        <p:nvSpPr>
          <p:cNvPr id="133" name="Text 131"/>
          <p:cNvSpPr/>
          <p:nvPr/>
        </p:nvSpPr>
        <p:spPr>
          <a:xfrm>
            <a:off x="4398264" y="64373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34" name="Shape 132"/>
          <p:cNvSpPr/>
          <p:nvPr/>
        </p:nvSpPr>
        <p:spPr>
          <a:xfrm>
            <a:off x="5586984" y="6437376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7B3F00"/>
          </a:solidFill>
          <a:ln/>
        </p:spPr>
      </p:sp>
      <p:sp>
        <p:nvSpPr>
          <p:cNvPr id="135" name="Text 133"/>
          <p:cNvSpPr/>
          <p:nvPr/>
        </p:nvSpPr>
        <p:spPr>
          <a:xfrm>
            <a:off x="5586984" y="6437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Q44</a:t>
            </a:r>
            <a:endParaRPr lang="en-US" sz="1100" dirty="0"/>
          </a:p>
        </p:txBody>
      </p:sp>
      <p:sp>
        <p:nvSpPr>
          <p:cNvPr id="136" name="Text 134"/>
          <p:cNvSpPr/>
          <p:nvPr/>
        </p:nvSpPr>
        <p:spPr>
          <a:xfrm>
            <a:off x="6153912" y="64373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37" name="Shape 135"/>
          <p:cNvSpPr/>
          <p:nvPr/>
        </p:nvSpPr>
        <p:spPr>
          <a:xfrm>
            <a:off x="7342632" y="6437376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7B3F00"/>
          </a:solidFill>
          <a:ln/>
        </p:spPr>
      </p:sp>
      <p:sp>
        <p:nvSpPr>
          <p:cNvPr id="138" name="Text 136"/>
          <p:cNvSpPr/>
          <p:nvPr/>
        </p:nvSpPr>
        <p:spPr>
          <a:xfrm>
            <a:off x="7342632" y="6437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Q45</a:t>
            </a:r>
            <a:endParaRPr lang="en-US" sz="1100" dirty="0"/>
          </a:p>
        </p:txBody>
      </p:sp>
      <p:sp>
        <p:nvSpPr>
          <p:cNvPr id="139" name="Text 137"/>
          <p:cNvSpPr/>
          <p:nvPr/>
        </p:nvSpPr>
        <p:spPr>
          <a:xfrm>
            <a:off x="7909560" y="64373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40" name="Shape 138"/>
          <p:cNvSpPr/>
          <p:nvPr/>
        </p:nvSpPr>
        <p:spPr>
          <a:xfrm>
            <a:off x="320040" y="7095744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141" name="Text 139"/>
          <p:cNvSpPr/>
          <p:nvPr/>
        </p:nvSpPr>
        <p:spPr>
          <a:xfrm>
            <a:off x="320040" y="7095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Q46</a:t>
            </a:r>
            <a:endParaRPr lang="en-US" sz="1100" dirty="0"/>
          </a:p>
        </p:txBody>
      </p:sp>
      <p:sp>
        <p:nvSpPr>
          <p:cNvPr id="142" name="Text 140"/>
          <p:cNvSpPr/>
          <p:nvPr/>
        </p:nvSpPr>
        <p:spPr>
          <a:xfrm>
            <a:off x="886968" y="709574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43" name="Shape 141"/>
          <p:cNvSpPr/>
          <p:nvPr/>
        </p:nvSpPr>
        <p:spPr>
          <a:xfrm>
            <a:off x="2075688" y="7095744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144" name="Text 142"/>
          <p:cNvSpPr/>
          <p:nvPr/>
        </p:nvSpPr>
        <p:spPr>
          <a:xfrm>
            <a:off x="2075688" y="7095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Q47</a:t>
            </a:r>
            <a:endParaRPr lang="en-US" sz="1100" dirty="0"/>
          </a:p>
        </p:txBody>
      </p:sp>
      <p:sp>
        <p:nvSpPr>
          <p:cNvPr id="145" name="Text 143"/>
          <p:cNvSpPr/>
          <p:nvPr/>
        </p:nvSpPr>
        <p:spPr>
          <a:xfrm>
            <a:off x="2642616" y="709574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46" name="Shape 144"/>
          <p:cNvSpPr/>
          <p:nvPr/>
        </p:nvSpPr>
        <p:spPr>
          <a:xfrm>
            <a:off x="3831336" y="7095744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147" name="Text 145"/>
          <p:cNvSpPr/>
          <p:nvPr/>
        </p:nvSpPr>
        <p:spPr>
          <a:xfrm>
            <a:off x="3831336" y="7095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Q48</a:t>
            </a:r>
            <a:endParaRPr lang="en-US" sz="1100" dirty="0"/>
          </a:p>
        </p:txBody>
      </p:sp>
      <p:sp>
        <p:nvSpPr>
          <p:cNvPr id="148" name="Text 146"/>
          <p:cNvSpPr/>
          <p:nvPr/>
        </p:nvSpPr>
        <p:spPr>
          <a:xfrm>
            <a:off x="4398264" y="709574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49" name="Shape 147"/>
          <p:cNvSpPr/>
          <p:nvPr/>
        </p:nvSpPr>
        <p:spPr>
          <a:xfrm>
            <a:off x="5586984" y="7095744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7B3F00"/>
          </a:solidFill>
          <a:ln/>
        </p:spPr>
      </p:sp>
      <p:sp>
        <p:nvSpPr>
          <p:cNvPr id="150" name="Text 148"/>
          <p:cNvSpPr/>
          <p:nvPr/>
        </p:nvSpPr>
        <p:spPr>
          <a:xfrm>
            <a:off x="5586984" y="7095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Q49</a:t>
            </a:r>
            <a:endParaRPr lang="en-US" sz="1100" dirty="0"/>
          </a:p>
        </p:txBody>
      </p:sp>
      <p:sp>
        <p:nvSpPr>
          <p:cNvPr id="151" name="Text 149"/>
          <p:cNvSpPr/>
          <p:nvPr/>
        </p:nvSpPr>
        <p:spPr>
          <a:xfrm>
            <a:off x="6153912" y="709574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52" name="Shape 150"/>
          <p:cNvSpPr/>
          <p:nvPr/>
        </p:nvSpPr>
        <p:spPr>
          <a:xfrm>
            <a:off x="7342632" y="7095744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7B3F00"/>
          </a:solidFill>
          <a:ln/>
        </p:spPr>
      </p:sp>
      <p:sp>
        <p:nvSpPr>
          <p:cNvPr id="153" name="Text 151"/>
          <p:cNvSpPr/>
          <p:nvPr/>
        </p:nvSpPr>
        <p:spPr>
          <a:xfrm>
            <a:off x="7342632" y="7095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Q50</a:t>
            </a:r>
            <a:endParaRPr lang="en-US" sz="1100" dirty="0"/>
          </a:p>
        </p:txBody>
      </p:sp>
      <p:sp>
        <p:nvSpPr>
          <p:cNvPr id="154" name="Text 152"/>
          <p:cNvSpPr/>
          <p:nvPr/>
        </p:nvSpPr>
        <p:spPr>
          <a:xfrm>
            <a:off x="7909560" y="709574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55" name="Shape 153"/>
          <p:cNvSpPr/>
          <p:nvPr/>
        </p:nvSpPr>
        <p:spPr>
          <a:xfrm>
            <a:off x="320040" y="7754112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7B3F00"/>
          </a:solidFill>
          <a:ln/>
        </p:spPr>
      </p:sp>
      <p:sp>
        <p:nvSpPr>
          <p:cNvPr id="156" name="Text 154"/>
          <p:cNvSpPr/>
          <p:nvPr/>
        </p:nvSpPr>
        <p:spPr>
          <a:xfrm>
            <a:off x="320040" y="7754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Q51</a:t>
            </a:r>
            <a:endParaRPr lang="en-US" sz="1100" dirty="0"/>
          </a:p>
        </p:txBody>
      </p:sp>
      <p:sp>
        <p:nvSpPr>
          <p:cNvPr id="157" name="Text 155"/>
          <p:cNvSpPr/>
          <p:nvPr/>
        </p:nvSpPr>
        <p:spPr>
          <a:xfrm>
            <a:off x="886968" y="775411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58" name="Shape 156"/>
          <p:cNvSpPr/>
          <p:nvPr/>
        </p:nvSpPr>
        <p:spPr>
          <a:xfrm>
            <a:off x="2075688" y="7754112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7B3F00"/>
          </a:solidFill>
          <a:ln/>
        </p:spPr>
      </p:sp>
      <p:sp>
        <p:nvSpPr>
          <p:cNvPr id="159" name="Text 157"/>
          <p:cNvSpPr/>
          <p:nvPr/>
        </p:nvSpPr>
        <p:spPr>
          <a:xfrm>
            <a:off x="2075688" y="7754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Q52</a:t>
            </a:r>
            <a:endParaRPr lang="en-US" sz="1100" dirty="0"/>
          </a:p>
        </p:txBody>
      </p:sp>
      <p:sp>
        <p:nvSpPr>
          <p:cNvPr id="160" name="Text 158"/>
          <p:cNvSpPr/>
          <p:nvPr/>
        </p:nvSpPr>
        <p:spPr>
          <a:xfrm>
            <a:off x="2642616" y="775411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61" name="Shape 159"/>
          <p:cNvSpPr/>
          <p:nvPr/>
        </p:nvSpPr>
        <p:spPr>
          <a:xfrm>
            <a:off x="3831336" y="7754112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B2B5E"/>
          </a:solidFill>
          <a:ln/>
        </p:spPr>
      </p:sp>
      <p:sp>
        <p:nvSpPr>
          <p:cNvPr id="162" name="Text 160"/>
          <p:cNvSpPr/>
          <p:nvPr/>
        </p:nvSpPr>
        <p:spPr>
          <a:xfrm>
            <a:off x="3831336" y="7754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Q53</a:t>
            </a:r>
            <a:endParaRPr lang="en-US" sz="1100" dirty="0"/>
          </a:p>
        </p:txBody>
      </p:sp>
      <p:sp>
        <p:nvSpPr>
          <p:cNvPr id="163" name="Text 161"/>
          <p:cNvSpPr/>
          <p:nvPr/>
        </p:nvSpPr>
        <p:spPr>
          <a:xfrm>
            <a:off x="4398264" y="775411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64" name="Text 162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Powers to Arrest — BSIS Certification Course  |  Total: 53 Questions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1480"/>
            <a:ext cx="9144000" cy="1645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567428"/>
            <a:ext cx="9144000" cy="1645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certifies that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5727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_________________________________________________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901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 Full Name)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successfully completed the MACCESS INC. course: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has achieved a passing score of 100% on the course assessment,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satisfying the BSIS training requirement under Business and Professions Code §7583.7.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______________________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Signature: ______________________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708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License #122729  |  BSIS-Authorized Training Provider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Powers to Arrest — BSIS Certification Course — Course Assessment</dc:title>
  <dc:subject>PptxGenJS Presentation</dc:subject>
  <dc:creator>MACCESS INC.</dc:creator>
  <cp:lastModifiedBy>MACCESS INC.</cp:lastModifiedBy>
  <cp:revision>1</cp:revision>
  <dcterms:created xsi:type="dcterms:W3CDTF">2026-06-27T19:09:29Z</dcterms:created>
  <dcterms:modified xsi:type="dcterms:W3CDTF">2026-06-27T19:09:29Z</dcterms:modified>
</cp:coreProperties>
</file>