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INSTRUCTOR USE ONLY — DO NOT DISTRIBUTE TO STUDENTS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251960"/>
            <a:ext cx="91440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Its Significance — BSIS Skills Course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487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Copy — Retain Securely — Do Not Leave Unattended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 |  Pass: 100%  |  BPC §7583.6(b)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315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28,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ALL ANSWERS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92240" y="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  |  Pass: 100%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99339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1" name="Text 9"/>
          <p:cNvSpPr/>
          <p:nvPr/>
        </p:nvSpPr>
        <p:spPr>
          <a:xfrm>
            <a:off x="199339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2374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73075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075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5" name="Text 13"/>
          <p:cNvSpPr/>
          <p:nvPr/>
        </p:nvSpPr>
        <p:spPr>
          <a:xfrm>
            <a:off x="373075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6110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6811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6811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6811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9846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20547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0547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23" name="Text 21"/>
          <p:cNvSpPr/>
          <p:nvPr/>
        </p:nvSpPr>
        <p:spPr>
          <a:xfrm>
            <a:off x="720547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3582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5603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99339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99339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31" name="Text 29"/>
          <p:cNvSpPr/>
          <p:nvPr/>
        </p:nvSpPr>
        <p:spPr>
          <a:xfrm>
            <a:off x="199339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2374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373075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3075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35" name="Text 33"/>
          <p:cNvSpPr/>
          <p:nvPr/>
        </p:nvSpPr>
        <p:spPr>
          <a:xfrm>
            <a:off x="373075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6110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546811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39" name="Text 37"/>
          <p:cNvSpPr/>
          <p:nvPr/>
        </p:nvSpPr>
        <p:spPr>
          <a:xfrm>
            <a:off x="546811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9846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720547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0547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43" name="Text 41"/>
          <p:cNvSpPr/>
          <p:nvPr/>
        </p:nvSpPr>
        <p:spPr>
          <a:xfrm>
            <a:off x="720547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3582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25603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5603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47" name="Text 45"/>
          <p:cNvSpPr/>
          <p:nvPr/>
        </p:nvSpPr>
        <p:spPr>
          <a:xfrm>
            <a:off x="25603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8638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199339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99339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51" name="Text 49"/>
          <p:cNvSpPr/>
          <p:nvPr/>
        </p:nvSpPr>
        <p:spPr>
          <a:xfrm>
            <a:off x="199339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2374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373075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73075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55" name="Text 53"/>
          <p:cNvSpPr/>
          <p:nvPr/>
        </p:nvSpPr>
        <p:spPr>
          <a:xfrm>
            <a:off x="373075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6110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546811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46811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59" name="Text 57"/>
          <p:cNvSpPr/>
          <p:nvPr/>
        </p:nvSpPr>
        <p:spPr>
          <a:xfrm>
            <a:off x="546811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9846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61" name="Shape 59"/>
          <p:cNvSpPr/>
          <p:nvPr/>
        </p:nvSpPr>
        <p:spPr>
          <a:xfrm>
            <a:off x="720547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20547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63" name="Text 61"/>
          <p:cNvSpPr/>
          <p:nvPr/>
        </p:nvSpPr>
        <p:spPr>
          <a:xfrm>
            <a:off x="720547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73582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25603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5603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67" name="Text 65"/>
          <p:cNvSpPr/>
          <p:nvPr/>
        </p:nvSpPr>
        <p:spPr>
          <a:xfrm>
            <a:off x="25603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8638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69" name="Shape 67"/>
          <p:cNvSpPr/>
          <p:nvPr/>
        </p:nvSpPr>
        <p:spPr>
          <a:xfrm>
            <a:off x="199339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99339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71" name="Text 69"/>
          <p:cNvSpPr/>
          <p:nvPr/>
        </p:nvSpPr>
        <p:spPr>
          <a:xfrm>
            <a:off x="199339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52374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73" name="Shape 71"/>
          <p:cNvSpPr/>
          <p:nvPr/>
        </p:nvSpPr>
        <p:spPr>
          <a:xfrm>
            <a:off x="373075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373075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75" name="Text 73"/>
          <p:cNvSpPr/>
          <p:nvPr/>
        </p:nvSpPr>
        <p:spPr>
          <a:xfrm>
            <a:off x="373075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26110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77" name="Shape 75"/>
          <p:cNvSpPr/>
          <p:nvPr/>
        </p:nvSpPr>
        <p:spPr>
          <a:xfrm>
            <a:off x="546811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546811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79" name="Text 77"/>
          <p:cNvSpPr/>
          <p:nvPr/>
        </p:nvSpPr>
        <p:spPr>
          <a:xfrm>
            <a:off x="546811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99846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81" name="Shape 79"/>
          <p:cNvSpPr/>
          <p:nvPr/>
        </p:nvSpPr>
        <p:spPr>
          <a:xfrm>
            <a:off x="720547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20547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8B1A1A"/>
          </a:solidFill>
          <a:ln/>
        </p:spPr>
      </p:sp>
      <p:sp>
        <p:nvSpPr>
          <p:cNvPr id="83" name="Text 81"/>
          <p:cNvSpPr/>
          <p:nvPr/>
        </p:nvSpPr>
        <p:spPr>
          <a:xfrm>
            <a:off x="720547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73582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85" name="Text 83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INSTRUCTOR COPY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Its Significance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Communication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security communication protocols define: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How security guards communicate with external media representatives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Who to contact, when to contact them, and which methods to use within the security operation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How to complete a BSIS guard card renewal application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The required format for court testimony by security personnel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Communication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communication by a security guard should be: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As comprehensive as possible to capture all relevant details in real time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Casual and conversational in tone to reduce perceived tension during contacts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Clear, concise, and conducted using established codes and protocols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In plain English only — BSIS prohibits the use of any codes or abbreviations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Communication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transmitting a message on a two-way radio, a guard should: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Transmit immediately — delays in communication create operational risk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Listen to confirm the channel is clear, press push-to-talk, wait one second, then speak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Announce their location and full name at the beginning of every transmission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Contact the dispatch center to request authorization before each transmission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Its Significance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Communication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Upon observing a serious incident at their post, a guard should notify their supervisor: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After completing and submitting the full written incident report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At the end of the guard's shift during the standard shift handoff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As soon as it is safely possible — immediately for any urgent or dangerous situation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Only if the client property owner or manager specifically requests a notification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Communication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technology such as CCTV systems, alarm panels, and access control units are classified as: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Optional tools that guards may use at their individual discretion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Internal communication and operational tools that guards must understand and use per post duties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Law enforcement equipment that requires a separate BSIS or government certification to operate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Exclusively the property owner's equipment that guards should not interact with or report 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— Emergency Responders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 | 911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placing a 911 call to report an active security incident, the guard must provide which information first?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Their BSIS license number and the PPO company name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Their current location — building address, floor, and specific area within the facility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Only their name and company name — dispatchers are trained to gather additional details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 complete written incident report before placing the call to ensure accuracy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Its Significance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— Emergency Responders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law enforcement arrives at an active incident managed by a security guard, the guard should: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Continue managing the situation independently until officers formally request a handoff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Present their written incident report to officers before providing any verbal briefing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Give officers a brief, accurate verbal briefing: situation, parties, any hazards, and actions taken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Withdraw entirely from the scene and have no further communication with officers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— Emergency Responders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discovers a person who is unconscious at their post. The appropriate action regarding 911 is: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After completing the incident report, if the situation is not obviously an emergency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Only if explicitly directed to do so by a supervisor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Call 911 immediately — life safety calls are always the highest priority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Only after all available on-site first aid measures have been exhausted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— Medical Personnel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emergency medical services (paramedics or EMTs) arrive at a scene, a security guard's role is to: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Continue providing first aid concurrently alongside the medical professionals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Clear bystanders, provide access to the scene, brief medical personnel on the situation, and stand by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Assume full crowd and scene control without communicating directly with medical personnel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Document the paramedics' clinical actions in full detail for the incident report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Its Significance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— Medical Personnel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confidentiality obligations require a security guard to: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Share the patient's identifying and medical information openly with any bystander who might assist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Limit disclosure of patient information strictly to what is necessary for first responders to do their job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Photograph the patient for documentation purposes in the incident report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Record the patient's verbatim statements and observations in full in the incident report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— Police / Enforcement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 | PC §847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transferring custody of a citizen's arrest subject to law enforcement, the guard must communicate: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Only the subject's name — law enforcement will conduct their own independent investigation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The reason for the arrest, the guard's specific observations, and any evidence that was secured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Nothing until an attorney for either party is present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Only information that is already reflected in the written incident report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— Police / Enforcement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gathered during a security investigation must NEVER be communicated to: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Paramedics who are treating an injured party at the scene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The person being investigated or their known associates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The PPO supervisor who is responsible for the post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 second law enforcement officer who arrives to assist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Its Significance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— Police / Enforcement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effective approach to ensuring accurate communication with law enforcement during a handoff is to: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Provide a detailed personal interpretation and analysis of the events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Rely entirely on memory to deliver a comprehensive verbal account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Present observable facts only, using precise times and locations, with reference to written notes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Share your personal conclusions about the suspect's motivation and likely future behavior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— City &amp; Government Services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discovers a broken fire hydrant actively leaking on the property. The appropriate notification is to: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property owner's insurance carrier to initiate a damage claim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Local law enforcement — they are responsible for all public infrastructure issues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The city's water department or utility emergency services line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BSIS — all significant infrastructure incidents at a post must be reported to the Bureau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— City &amp; Government Services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city code enforcement officer arrives to conduct an inspection of the property, the guard should: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Deny access until the property owner or manager provides written authorization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Allow access to the facility and immediately notify the property manager or supervisor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Accompany the officer on the full inspection without notifying anyone in the management chain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Request a certified copy of the inspection order before taking any action whatsoever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Its Significance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— City &amp; Government Services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visitor lodges a formal complaint about a noise ordinance violation occurring on the premises. The guard should: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Issue a formal written warning to the party allegedly violating the ordinance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Immediately contact the city noise enforcement line without speaking to the parties involved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Attempt to resolve the matter internally first, document the outcome, and escalate to appropriate city authorities only if unresolved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Decline to intervene, as noise ordinance enforcement is outside the scope of security guard duties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Non-Verbal Communication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Non-verbal communication in a security context primarily includes: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Radio transmissions and written incident reports — the official record of all guard communication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Body language, posture, eye contact, facial expression, and physical proximity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Hand signals used exclusively in high-noise environments where radio communication is unavailable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Written shift logs and CCTV footage review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Non-Verbal Communication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guard's body language while on post should project: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Physical dominance and visible readiness for confrontation to deter potential threats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Professional alertness, calm confidence, and an approachable demeanor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Deliberate disengagement to reduce the likelihood of unwanted confrontations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Visible deference and submission to reduce the risk of escalating difficult situations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Its Significance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approaches the front desk and requests to speak with a manager about a complaint. The guard is unfamiliar with the appropriate manager for that type of issue. The BEST response is: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Direct the person to come back at a later time when the appropriate manager is available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Treat the complaint as a potential security concern and contact law enforcement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Acknowledge the concern professionally, obtain the visitor's contact information, and relay it to the appropriate supervisor promptly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Refer the person to the company's public website for contact information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License | BPC §7583.6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INC.'s California Private Patrol Operator license number — which is required to appear on all BSIS Certificates of Completion — is: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#112233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#100001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#133445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#122729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GUIDE &amp; INSTRUCTOR NOTES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Score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914400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— all 20 questions correct required per BPC §7583.6(b)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627632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Assessment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27632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retake required. Student must review all course modules before retaking.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40864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340864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340864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Certificate of Completion ONLY upon 100% score. Sign, date, and retain a copy.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054096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054096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Retention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3054096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each student's assessment record for duration of employment. Available to BSIS on request per Title 16 CCR §643(b).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767328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3767328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answer key is for MACCESS INC. instructor use only. Never share with students before, during, or after assessment.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48056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448056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4480560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 integration is pending equipment acquisition. When active, completed LS records will be stored alongside training records.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&amp; Its Significance — BSIS Skills Course — INSTRUCTOR ANSWER KEY</dc:title>
  <dc:subject>PptxGenJS Presentation</dc:subject>
  <dc:creator>MACCESS INC. — CONFIDENTIAL</dc:creator>
  <cp:lastModifiedBy>MACCESS INC. — CONFIDENTIAL</cp:lastModifiedBy>
  <cp:revision>1</cp:revision>
  <dcterms:created xsi:type="dcterms:W3CDTF">2026-06-28T16:08:39Z</dcterms:created>
  <dcterms:modified xsi:type="dcterms:W3CDTF">2026-06-28T16:08:39Z</dcterms:modified>
</cp:coreProperties>
</file>